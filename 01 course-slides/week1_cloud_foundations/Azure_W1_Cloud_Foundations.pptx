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85" r:id="rId7"/>
    <p:sldId id="261" r:id="rId8"/>
    <p:sldId id="286" r:id="rId9"/>
    <p:sldId id="289" r:id="rId10"/>
    <p:sldId id="262" r:id="rId11"/>
    <p:sldId id="263" r:id="rId12"/>
    <p:sldId id="264" r:id="rId13"/>
    <p:sldId id="265" r:id="rId14"/>
    <p:sldId id="266" r:id="rId15"/>
    <p:sldId id="287" r:id="rId16"/>
    <p:sldId id="267" r:id="rId17"/>
    <p:sldId id="268" r:id="rId18"/>
    <p:sldId id="269" r:id="rId19"/>
    <p:sldId id="270" r:id="rId20"/>
    <p:sldId id="288"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F5821B-7BFE-F245-B496-A17FE4170871}" v="1" dt="2026-07-23T20:44:13.0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24"/>
    <p:restoredTop sz="69657"/>
  </p:normalViewPr>
  <p:slideViewPr>
    <p:cSldViewPr snapToGrid="0">
      <p:cViewPr varScale="1">
        <p:scale>
          <a:sx n="141" d="100"/>
          <a:sy n="141" d="100"/>
        </p:scale>
        <p:origin x="200"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szlo Stomp" userId="f74add90a67c9911" providerId="LiveId" clId="{6FD7836F-B2BC-5923-AF71-30F52F9A9EC7}"/>
    <pc:docChg chg="custSel addSld modSld">
      <pc:chgData name="Laszlo Stomp" userId="f74add90a67c9911" providerId="LiveId" clId="{6FD7836F-B2BC-5923-AF71-30F52F9A9EC7}" dt="2026-07-23T21:57:27.326" v="16" actId="1076"/>
      <pc:docMkLst>
        <pc:docMk/>
      </pc:docMkLst>
      <pc:sldChg chg="addSp delSp modSp mod setBg modNotes">
        <pc:chgData name="Laszlo Stomp" userId="f74add90a67c9911" providerId="LiveId" clId="{6FD7836F-B2BC-5923-AF71-30F52F9A9EC7}" dt="2026-07-23T21:43:07.947" v="6" actId="26606"/>
        <pc:sldMkLst>
          <pc:docMk/>
          <pc:sldMk cId="0" sldId="256"/>
        </pc:sldMkLst>
        <pc:spChg chg="del">
          <ac:chgData name="Laszlo Stomp" userId="f74add90a67c9911" providerId="LiveId" clId="{6FD7836F-B2BC-5923-AF71-30F52F9A9EC7}" dt="2026-07-23T21:43:07.947" v="6" actId="26606"/>
          <ac:spMkLst>
            <pc:docMk/>
            <pc:sldMk cId="0" sldId="256"/>
            <ac:spMk id="4" creationId="{00000000-0000-0000-0000-000000000000}"/>
          </ac:spMkLst>
        </pc:spChg>
        <pc:spChg chg="del">
          <ac:chgData name="Laszlo Stomp" userId="f74add90a67c9911" providerId="LiveId" clId="{6FD7836F-B2BC-5923-AF71-30F52F9A9EC7}" dt="2026-07-23T21:43:07.947" v="6" actId="26606"/>
          <ac:spMkLst>
            <pc:docMk/>
            <pc:sldMk cId="0" sldId="256"/>
            <ac:spMk id="7" creationId="{00000000-0000-0000-0000-000000000000}"/>
          </ac:spMkLst>
        </pc:spChg>
        <pc:spChg chg="add del mod">
          <ac:chgData name="Laszlo Stomp" userId="f74add90a67c9911" providerId="LiveId" clId="{6FD7836F-B2BC-5923-AF71-30F52F9A9EC7}" dt="2026-07-23T20:44:16.203" v="2"/>
          <ac:spMkLst>
            <pc:docMk/>
            <pc:sldMk cId="0" sldId="256"/>
            <ac:spMk id="8" creationId="{78A96BAD-AB1D-20C3-0C3B-622C0DAE374B}"/>
          </ac:spMkLst>
        </pc:spChg>
        <pc:spChg chg="add">
          <ac:chgData name="Laszlo Stomp" userId="f74add90a67c9911" providerId="LiveId" clId="{6FD7836F-B2BC-5923-AF71-30F52F9A9EC7}" dt="2026-07-23T21:43:07.947" v="6" actId="26606"/>
          <ac:spMkLst>
            <pc:docMk/>
            <pc:sldMk cId="0" sldId="256"/>
            <ac:spMk id="15" creationId="{00000000-0000-0000-0000-000000000000}"/>
          </ac:spMkLst>
        </pc:spChg>
        <pc:spChg chg="add">
          <ac:chgData name="Laszlo Stomp" userId="f74add90a67c9911" providerId="LiveId" clId="{6FD7836F-B2BC-5923-AF71-30F52F9A9EC7}" dt="2026-07-23T21:43:07.947" v="6" actId="26606"/>
          <ac:spMkLst>
            <pc:docMk/>
            <pc:sldMk cId="0" sldId="256"/>
            <ac:spMk id="18" creationId="{00000000-0000-0000-0000-000000000000}"/>
          </ac:spMkLst>
        </pc:spChg>
        <pc:spChg chg="add">
          <ac:chgData name="Laszlo Stomp" userId="f74add90a67c9911" providerId="LiveId" clId="{6FD7836F-B2BC-5923-AF71-30F52F9A9EC7}" dt="2026-07-23T21:43:07.947" v="6" actId="26606"/>
          <ac:spMkLst>
            <pc:docMk/>
            <pc:sldMk cId="0" sldId="256"/>
            <ac:spMk id="21" creationId="{00000000-0000-0000-0000-000000000000}"/>
          </ac:spMkLst>
        </pc:spChg>
        <pc:spChg chg="add">
          <ac:chgData name="Laszlo Stomp" userId="f74add90a67c9911" providerId="LiveId" clId="{6FD7836F-B2BC-5923-AF71-30F52F9A9EC7}" dt="2026-07-23T21:43:07.947" v="6" actId="26606"/>
          <ac:spMkLst>
            <pc:docMk/>
            <pc:sldMk cId="0" sldId="256"/>
            <ac:spMk id="24" creationId="{00000000-0000-0000-0000-000000000000}"/>
          </ac:spMkLst>
        </pc:spChg>
        <pc:spChg chg="add">
          <ac:chgData name="Laszlo Stomp" userId="f74add90a67c9911" providerId="LiveId" clId="{6FD7836F-B2BC-5923-AF71-30F52F9A9EC7}" dt="2026-07-23T21:43:07.947" v="6" actId="26606"/>
          <ac:spMkLst>
            <pc:docMk/>
            <pc:sldMk cId="0" sldId="256"/>
            <ac:spMk id="25" creationId="{00000000-0000-0000-0000-000000000000}"/>
          </ac:spMkLst>
        </pc:spChg>
        <pc:spChg chg="add">
          <ac:chgData name="Laszlo Stomp" userId="f74add90a67c9911" providerId="LiveId" clId="{6FD7836F-B2BC-5923-AF71-30F52F9A9EC7}" dt="2026-07-23T21:43:07.947" v="6" actId="26606"/>
          <ac:spMkLst>
            <pc:docMk/>
            <pc:sldMk cId="0" sldId="256"/>
            <ac:spMk id="28" creationId="{00000000-0000-0000-0000-000000000000}"/>
          </ac:spMkLst>
        </pc:spChg>
        <pc:spChg chg="add">
          <ac:chgData name="Laszlo Stomp" userId="f74add90a67c9911" providerId="LiveId" clId="{6FD7836F-B2BC-5923-AF71-30F52F9A9EC7}" dt="2026-07-23T21:43:07.947" v="6" actId="26606"/>
          <ac:spMkLst>
            <pc:docMk/>
            <pc:sldMk cId="0" sldId="256"/>
            <ac:spMk id="31" creationId="{00000000-0000-0000-0000-000000000000}"/>
          </ac:spMkLst>
        </pc:spChg>
        <pc:spChg chg="add">
          <ac:chgData name="Laszlo Stomp" userId="f74add90a67c9911" providerId="LiveId" clId="{6FD7836F-B2BC-5923-AF71-30F52F9A9EC7}" dt="2026-07-23T21:43:07.947" v="6" actId="26606"/>
          <ac:spMkLst>
            <pc:docMk/>
            <pc:sldMk cId="0" sldId="256"/>
            <ac:spMk id="34" creationId="{00000000-0000-0000-0000-000000000000}"/>
          </ac:spMkLst>
        </pc:spChg>
      </pc:sldChg>
      <pc:sldChg chg="modNotes">
        <pc:chgData name="Laszlo Stomp" userId="f74add90a67c9911" providerId="LiveId" clId="{6FD7836F-B2BC-5923-AF71-30F52F9A9EC7}" dt="2026-07-23T21:30:11.929" v="5" actId="26606"/>
        <pc:sldMkLst>
          <pc:docMk/>
          <pc:sldMk cId="0" sldId="257"/>
        </pc:sldMkLst>
      </pc:sldChg>
      <pc:sldChg chg="addSp delSp modSp mod modNotes">
        <pc:chgData name="Laszlo Stomp" userId="f74add90a67c9911" providerId="LiveId" clId="{6FD7836F-B2BC-5923-AF71-30F52F9A9EC7}" dt="2026-07-23T21:57:27.326" v="16" actId="1076"/>
        <pc:sldMkLst>
          <pc:docMk/>
          <pc:sldMk cId="0" sldId="259"/>
        </pc:sldMkLst>
        <pc:spChg chg="mod">
          <ac:chgData name="Laszlo Stomp" userId="f74add90a67c9911" providerId="LiveId" clId="{6FD7836F-B2BC-5923-AF71-30F52F9A9EC7}" dt="2026-07-23T21:57:18.777" v="13" actId="14100"/>
          <ac:spMkLst>
            <pc:docMk/>
            <pc:sldMk cId="0" sldId="259"/>
            <ac:spMk id="6" creationId="{00000000-0000-0000-0000-000000000000}"/>
          </ac:spMkLst>
        </pc:spChg>
        <pc:spChg chg="add del">
          <ac:chgData name="Laszlo Stomp" userId="f74add90a67c9911" providerId="LiveId" clId="{6FD7836F-B2BC-5923-AF71-30F52F9A9EC7}" dt="2026-07-23T21:57:02.041" v="8" actId="478"/>
          <ac:spMkLst>
            <pc:docMk/>
            <pc:sldMk cId="0" sldId="259"/>
            <ac:spMk id="11" creationId="{00000000-0000-0000-0000-000000000000}"/>
          </ac:spMkLst>
        </pc:spChg>
        <pc:picChg chg="mod">
          <ac:chgData name="Laszlo Stomp" userId="f74add90a67c9911" providerId="LiveId" clId="{6FD7836F-B2BC-5923-AF71-30F52F9A9EC7}" dt="2026-07-23T21:57:27.326" v="16" actId="1076"/>
          <ac:picMkLst>
            <pc:docMk/>
            <pc:sldMk cId="0" sldId="259"/>
            <ac:picMk id="7" creationId="{00000000-0000-0000-0000-000000000000}"/>
          </ac:picMkLst>
        </pc:picChg>
      </pc:sldChg>
      <pc:sldChg chg="modNotes">
        <pc:chgData name="Laszlo Stomp" userId="f74add90a67c9911" providerId="LiveId" clId="{6FD7836F-B2BC-5923-AF71-30F52F9A9EC7}" dt="2026-07-23T21:30:11.929" v="5" actId="26606"/>
        <pc:sldMkLst>
          <pc:docMk/>
          <pc:sldMk cId="0" sldId="261"/>
        </pc:sldMkLst>
      </pc:sldChg>
      <pc:sldChg chg="modNotes">
        <pc:chgData name="Laszlo Stomp" userId="f74add90a67c9911" providerId="LiveId" clId="{6FD7836F-B2BC-5923-AF71-30F52F9A9EC7}" dt="2026-07-23T21:30:11.929" v="5" actId="26606"/>
        <pc:sldMkLst>
          <pc:docMk/>
          <pc:sldMk cId="0" sldId="263"/>
        </pc:sldMkLst>
      </pc:sldChg>
      <pc:sldChg chg="modNotes">
        <pc:chgData name="Laszlo Stomp" userId="f74add90a67c9911" providerId="LiveId" clId="{6FD7836F-B2BC-5923-AF71-30F52F9A9EC7}" dt="2026-07-23T21:30:11.929" v="5" actId="26606"/>
        <pc:sldMkLst>
          <pc:docMk/>
          <pc:sldMk cId="0" sldId="264"/>
        </pc:sldMkLst>
      </pc:sldChg>
      <pc:sldChg chg="modNotes">
        <pc:chgData name="Laszlo Stomp" userId="f74add90a67c9911" providerId="LiveId" clId="{6FD7836F-B2BC-5923-AF71-30F52F9A9EC7}" dt="2026-07-23T21:30:11.929" v="5" actId="26606"/>
        <pc:sldMkLst>
          <pc:docMk/>
          <pc:sldMk cId="0" sldId="266"/>
        </pc:sldMkLst>
      </pc:sldChg>
      <pc:sldChg chg="modNotes">
        <pc:chgData name="Laszlo Stomp" userId="f74add90a67c9911" providerId="LiveId" clId="{6FD7836F-B2BC-5923-AF71-30F52F9A9EC7}" dt="2026-07-23T21:30:11.929" v="5" actId="26606"/>
        <pc:sldMkLst>
          <pc:docMk/>
          <pc:sldMk cId="0" sldId="267"/>
        </pc:sldMkLst>
      </pc:sldChg>
      <pc:sldChg chg="modSp mod modNotes">
        <pc:chgData name="Laszlo Stomp" userId="f74add90a67c9911" providerId="LiveId" clId="{6FD7836F-B2BC-5923-AF71-30F52F9A9EC7}" dt="2026-07-23T21:30:11.929" v="5" actId="26606"/>
        <pc:sldMkLst>
          <pc:docMk/>
          <pc:sldMk cId="0" sldId="268"/>
        </pc:sldMkLst>
        <pc:spChg chg="mod">
          <ac:chgData name="Laszlo Stomp" userId="f74add90a67c9911" providerId="LiveId" clId="{6FD7836F-B2BC-5923-AF71-30F52F9A9EC7}" dt="2026-07-23T21:15:45.941" v="3" actId="26606"/>
          <ac:spMkLst>
            <pc:docMk/>
            <pc:sldMk cId="0" sldId="268"/>
            <ac:spMk id="8" creationId="{00000000-0000-0000-0000-000000000000}"/>
          </ac:spMkLst>
        </pc:spChg>
        <pc:spChg chg="mod">
          <ac:chgData name="Laszlo Stomp" userId="f74add90a67c9911" providerId="LiveId" clId="{6FD7836F-B2BC-5923-AF71-30F52F9A9EC7}" dt="2026-07-23T21:15:45.941" v="3" actId="26606"/>
          <ac:spMkLst>
            <pc:docMk/>
            <pc:sldMk cId="0" sldId="268"/>
            <ac:spMk id="9" creationId="{00000000-0000-0000-0000-000000000000}"/>
          </ac:spMkLst>
        </pc:spChg>
      </pc:sldChg>
      <pc:sldChg chg="modNotes">
        <pc:chgData name="Laszlo Stomp" userId="f74add90a67c9911" providerId="LiveId" clId="{6FD7836F-B2BC-5923-AF71-30F52F9A9EC7}" dt="2026-07-23T21:30:11.929" v="5" actId="26606"/>
        <pc:sldMkLst>
          <pc:docMk/>
          <pc:sldMk cId="0" sldId="269"/>
        </pc:sldMkLst>
      </pc:sldChg>
      <pc:sldChg chg="modNotes">
        <pc:chgData name="Laszlo Stomp" userId="f74add90a67c9911" providerId="LiveId" clId="{6FD7836F-B2BC-5923-AF71-30F52F9A9EC7}" dt="2026-07-23T21:30:11.929" v="5" actId="26606"/>
        <pc:sldMkLst>
          <pc:docMk/>
          <pc:sldMk cId="0" sldId="270"/>
        </pc:sldMkLst>
      </pc:sldChg>
      <pc:sldChg chg="modNotes">
        <pc:chgData name="Laszlo Stomp" userId="f74add90a67c9911" providerId="LiveId" clId="{6FD7836F-B2BC-5923-AF71-30F52F9A9EC7}" dt="2026-07-23T21:30:11.929" v="5" actId="26606"/>
        <pc:sldMkLst>
          <pc:docMk/>
          <pc:sldMk cId="0" sldId="272"/>
        </pc:sldMkLst>
      </pc:sldChg>
      <pc:sldChg chg="modNotes">
        <pc:chgData name="Laszlo Stomp" userId="f74add90a67c9911" providerId="LiveId" clId="{6FD7836F-B2BC-5923-AF71-30F52F9A9EC7}" dt="2026-07-23T21:30:11.929" v="5" actId="26606"/>
        <pc:sldMkLst>
          <pc:docMk/>
          <pc:sldMk cId="0" sldId="273"/>
        </pc:sldMkLst>
      </pc:sldChg>
      <pc:sldChg chg="modNotes">
        <pc:chgData name="Laszlo Stomp" userId="f74add90a67c9911" providerId="LiveId" clId="{6FD7836F-B2BC-5923-AF71-30F52F9A9EC7}" dt="2026-07-23T21:30:11.929" v="5" actId="26606"/>
        <pc:sldMkLst>
          <pc:docMk/>
          <pc:sldMk cId="0" sldId="275"/>
        </pc:sldMkLst>
      </pc:sldChg>
      <pc:sldChg chg="addSp modSp mod modNotes">
        <pc:chgData name="Laszlo Stomp" userId="f74add90a67c9911" providerId="LiveId" clId="{6FD7836F-B2BC-5923-AF71-30F52F9A9EC7}" dt="2026-07-23T21:30:11.929" v="5" actId="26606"/>
        <pc:sldMkLst>
          <pc:docMk/>
          <pc:sldMk cId="0" sldId="276"/>
        </pc:sldMkLst>
        <pc:spChg chg="mod">
          <ac:chgData name="Laszlo Stomp" userId="f74add90a67c9911" providerId="LiveId" clId="{6FD7836F-B2BC-5923-AF71-30F52F9A9EC7}" dt="2026-07-23T21:15:45.941" v="3" actId="26606"/>
          <ac:spMkLst>
            <pc:docMk/>
            <pc:sldMk cId="0" sldId="276"/>
            <ac:spMk id="4" creationId="{00000000-0000-0000-0000-000000000000}"/>
          </ac:spMkLst>
        </pc:spChg>
        <pc:spChg chg="mod">
          <ac:chgData name="Laszlo Stomp" userId="f74add90a67c9911" providerId="LiveId" clId="{6FD7836F-B2BC-5923-AF71-30F52F9A9EC7}" dt="2026-07-23T21:15:45.941" v="3" actId="26606"/>
          <ac:spMkLst>
            <pc:docMk/>
            <pc:sldMk cId="0" sldId="276"/>
            <ac:spMk id="7" creationId="{00000000-0000-0000-0000-000000000000}"/>
          </ac:spMkLst>
        </pc:spChg>
        <pc:spChg chg="mod">
          <ac:chgData name="Laszlo Stomp" userId="f74add90a67c9911" providerId="LiveId" clId="{6FD7836F-B2BC-5923-AF71-30F52F9A9EC7}" dt="2026-07-23T21:15:45.941" v="3" actId="26606"/>
          <ac:spMkLst>
            <pc:docMk/>
            <pc:sldMk cId="0" sldId="276"/>
            <ac:spMk id="9" creationId="{00000000-0000-0000-0000-000000000000}"/>
          </ac:spMkLst>
        </pc:spChg>
        <pc:spChg chg="mod">
          <ac:chgData name="Laszlo Stomp" userId="f74add90a67c9911" providerId="LiveId" clId="{6FD7836F-B2BC-5923-AF71-30F52F9A9EC7}" dt="2026-07-23T21:15:45.941" v="3" actId="26606"/>
          <ac:spMkLst>
            <pc:docMk/>
            <pc:sldMk cId="0" sldId="276"/>
            <ac:spMk id="10" creationId="{00000000-0000-0000-0000-000000000000}"/>
          </ac:spMkLst>
        </pc:spChg>
        <pc:spChg chg="mod">
          <ac:chgData name="Laszlo Stomp" userId="f74add90a67c9911" providerId="LiveId" clId="{6FD7836F-B2BC-5923-AF71-30F52F9A9EC7}" dt="2026-07-23T21:15:45.941" v="3" actId="26606"/>
          <ac:spMkLst>
            <pc:docMk/>
            <pc:sldMk cId="0" sldId="276"/>
            <ac:spMk id="12" creationId="{00000000-0000-0000-0000-000000000000}"/>
          </ac:spMkLst>
        </pc:spChg>
        <pc:spChg chg="mod">
          <ac:chgData name="Laszlo Stomp" userId="f74add90a67c9911" providerId="LiveId" clId="{6FD7836F-B2BC-5923-AF71-30F52F9A9EC7}" dt="2026-07-23T21:15:45.941" v="3" actId="26606"/>
          <ac:spMkLst>
            <pc:docMk/>
            <pc:sldMk cId="0" sldId="276"/>
            <ac:spMk id="14" creationId="{00000000-0000-0000-0000-000000000000}"/>
          </ac:spMkLst>
        </pc:spChg>
        <pc:spChg chg="mod">
          <ac:chgData name="Laszlo Stomp" userId="f74add90a67c9911" providerId="LiveId" clId="{6FD7836F-B2BC-5923-AF71-30F52F9A9EC7}" dt="2026-07-23T21:15:45.941" v="3" actId="26606"/>
          <ac:spMkLst>
            <pc:docMk/>
            <pc:sldMk cId="0" sldId="276"/>
            <ac:spMk id="15" creationId="{00000000-0000-0000-0000-000000000000}"/>
          </ac:spMkLst>
        </pc:spChg>
        <pc:spChg chg="mod">
          <ac:chgData name="Laszlo Stomp" userId="f74add90a67c9911" providerId="LiveId" clId="{6FD7836F-B2BC-5923-AF71-30F52F9A9EC7}" dt="2026-07-23T21:15:45.941" v="3" actId="26606"/>
          <ac:spMkLst>
            <pc:docMk/>
            <pc:sldMk cId="0" sldId="276"/>
            <ac:spMk id="17" creationId="{00000000-0000-0000-0000-000000000000}"/>
          </ac:spMkLst>
        </pc:spChg>
        <pc:spChg chg="add">
          <ac:chgData name="Laszlo Stomp" userId="f74add90a67c9911" providerId="LiveId" clId="{6FD7836F-B2BC-5923-AF71-30F52F9A9EC7}" dt="2026-07-23T21:15:45.941" v="3" actId="26606"/>
          <ac:spMkLst>
            <pc:docMk/>
            <pc:sldMk cId="0" sldId="276"/>
            <ac:spMk id="20" creationId="{00000000-0000-0000-0000-000000000000}"/>
          </ac:spMkLst>
        </pc:spChg>
        <pc:spChg chg="add">
          <ac:chgData name="Laszlo Stomp" userId="f74add90a67c9911" providerId="LiveId" clId="{6FD7836F-B2BC-5923-AF71-30F52F9A9EC7}" dt="2026-07-23T21:15:45.941" v="3" actId="26606"/>
          <ac:spMkLst>
            <pc:docMk/>
            <pc:sldMk cId="0" sldId="276"/>
            <ac:spMk id="21" creationId="{00000000-0000-0000-0000-000000000000}"/>
          </ac:spMkLst>
        </pc:spChg>
      </pc:sldChg>
      <pc:sldChg chg="modNotes">
        <pc:chgData name="Laszlo Stomp" userId="f74add90a67c9911" providerId="LiveId" clId="{6FD7836F-B2BC-5923-AF71-30F52F9A9EC7}" dt="2026-07-23T21:30:11.929" v="5" actId="26606"/>
        <pc:sldMkLst>
          <pc:docMk/>
          <pc:sldMk cId="0" sldId="278"/>
        </pc:sldMkLst>
      </pc:sldChg>
      <pc:sldChg chg="modNotes">
        <pc:chgData name="Laszlo Stomp" userId="f74add90a67c9911" providerId="LiveId" clId="{6FD7836F-B2BC-5923-AF71-30F52F9A9EC7}" dt="2026-07-23T21:30:11.929" v="5" actId="26606"/>
        <pc:sldMkLst>
          <pc:docMk/>
          <pc:sldMk cId="0" sldId="284"/>
        </pc:sldMkLst>
      </pc:sldChg>
      <pc:sldChg chg="addSp modSp mod modNotes">
        <pc:chgData name="Laszlo Stomp" userId="f74add90a67c9911" providerId="LiveId" clId="{6FD7836F-B2BC-5923-AF71-30F52F9A9EC7}" dt="2026-07-23T21:30:11.929" v="5" actId="26606"/>
        <pc:sldMkLst>
          <pc:docMk/>
          <pc:sldMk cId="0" sldId="285"/>
        </pc:sldMkLst>
        <pc:spChg chg="add">
          <ac:chgData name="Laszlo Stomp" userId="f74add90a67c9911" providerId="LiveId" clId="{6FD7836F-B2BC-5923-AF71-30F52F9A9EC7}" dt="2026-07-23T21:15:45.941" v="3" actId="26606"/>
          <ac:spMkLst>
            <pc:docMk/>
            <pc:sldMk cId="0" sldId="285"/>
            <ac:spMk id="34" creationId="{00000000-0000-0000-0000-000000000000}"/>
          </ac:spMkLst>
        </pc:spChg>
        <pc:spChg chg="add mod">
          <ac:chgData name="Laszlo Stomp" userId="f74add90a67c9911" providerId="LiveId" clId="{6FD7836F-B2BC-5923-AF71-30F52F9A9EC7}" dt="2026-07-23T21:19:17.611" v="4" actId="33524"/>
          <ac:spMkLst>
            <pc:docMk/>
            <pc:sldMk cId="0" sldId="285"/>
            <ac:spMk id="35" creationId="{00000000-0000-0000-0000-000000000000}"/>
          </ac:spMkLst>
        </pc:spChg>
      </pc:sldChg>
      <pc:sldChg chg="modNotes">
        <pc:chgData name="Laszlo Stomp" userId="f74add90a67c9911" providerId="LiveId" clId="{6FD7836F-B2BC-5923-AF71-30F52F9A9EC7}" dt="2026-07-23T21:30:11.929" v="5" actId="26606"/>
        <pc:sldMkLst>
          <pc:docMk/>
          <pc:sldMk cId="0" sldId="286"/>
        </pc:sldMkLst>
      </pc:sldChg>
      <pc:sldChg chg="addSp mod modNotes">
        <pc:chgData name="Laszlo Stomp" userId="f74add90a67c9911" providerId="LiveId" clId="{6FD7836F-B2BC-5923-AF71-30F52F9A9EC7}" dt="2026-07-23T21:30:11.929" v="5" actId="26606"/>
        <pc:sldMkLst>
          <pc:docMk/>
          <pc:sldMk cId="0" sldId="287"/>
        </pc:sldMkLst>
        <pc:spChg chg="add">
          <ac:chgData name="Laszlo Stomp" userId="f74add90a67c9911" providerId="LiveId" clId="{6FD7836F-B2BC-5923-AF71-30F52F9A9EC7}" dt="2026-07-23T21:15:45.941" v="3" actId="26606"/>
          <ac:spMkLst>
            <pc:docMk/>
            <pc:sldMk cId="0" sldId="287"/>
            <ac:spMk id="19" creationId="{00000000-0000-0000-0000-000000000000}"/>
          </ac:spMkLst>
        </pc:spChg>
        <pc:spChg chg="add">
          <ac:chgData name="Laszlo Stomp" userId="f74add90a67c9911" providerId="LiveId" clId="{6FD7836F-B2BC-5923-AF71-30F52F9A9EC7}" dt="2026-07-23T21:15:45.941" v="3" actId="26606"/>
          <ac:spMkLst>
            <pc:docMk/>
            <pc:sldMk cId="0" sldId="287"/>
            <ac:spMk id="20" creationId="{00000000-0000-0000-0000-000000000000}"/>
          </ac:spMkLst>
        </pc:spChg>
      </pc:sldChg>
      <pc:sldChg chg="modNotes">
        <pc:chgData name="Laszlo Stomp" userId="f74add90a67c9911" providerId="LiveId" clId="{6FD7836F-B2BC-5923-AF71-30F52F9A9EC7}" dt="2026-07-23T21:30:11.929" v="5" actId="26606"/>
        <pc:sldMkLst>
          <pc:docMk/>
          <pc:sldMk cId="0" sldId="288"/>
        </pc:sldMkLst>
      </pc:sldChg>
      <pc:sldChg chg="add modNotes">
        <pc:chgData name="Laszlo Stomp" userId="f74add90a67c9911" providerId="LiveId" clId="{6FD7836F-B2BC-5923-AF71-30F52F9A9EC7}" dt="2026-07-23T21:30:11.929" v="5" actId="26606"/>
        <pc:sldMkLst>
          <pc:docMk/>
          <pc:sldMk cId="0"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Week 1 of Azure for Career Changers. Set the tone: no IT-infrastructure background is needed, and we'll lean on everyday analogies throughout. Today is a guided tour across eight foundational topics, from what the cloud actually is all the way to clicking around the Azure Portal. Reassure them the goal is confidence with the vocabulary and the mental models, not memorizing every detail. If anyone wants the exam context, this maps to Microsoft's AZ-900 Azure Fundamentals certification.</a:t>
            </a:r>
          </a:p>
          <a:p>
            <a:endParaRPr lang="en-US" dirty="0"/>
          </a:p>
          <a:p>
            <a:r>
              <a:rPr lang="en-US" b="1" dirty="0"/>
              <a:t>Useful links</a:t>
            </a:r>
          </a:p>
          <a:p>
            <a:r>
              <a:rPr lang="en-US" dirty="0"/>
              <a:t>Azure Fundamentals (AZ-900) certification: https://</a:t>
            </a:r>
            <a:r>
              <a:rPr lang="en-US" dirty="0" err="1"/>
              <a:t>learn.microsoft.com</a:t>
            </a:r>
            <a:r>
              <a:rPr lang="en-US" dirty="0"/>
              <a:t>/credentials/certifications/azure-fundamentals/</a:t>
            </a:r>
          </a:p>
          <a:p>
            <a:r>
              <a:rPr lang="en-US" dirty="0"/>
              <a:t>AZ-900 study guide: https://</a:t>
            </a:r>
            <a:r>
              <a:rPr lang="en-US" dirty="0" err="1"/>
              <a:t>learn.microsoft.com</a:t>
            </a:r>
            <a:r>
              <a:rPr lang="en-US" dirty="0"/>
              <a:t>/credentials/certifications/resources/study-guides/az-900</a:t>
            </a:r>
          </a:p>
          <a:p>
            <a:r>
              <a:rPr lang="en-US" dirty="0"/>
              <a:t>Create a free Azure account: https://</a:t>
            </a:r>
            <a:r>
              <a:rPr lang="en-US" dirty="0" err="1"/>
              <a:t>azure.microsoft.com</a:t>
            </a:r>
            <a:r>
              <a:rPr lang="en-US" dirty="0"/>
              <a:t>/free/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our roadmap for the week. Walk the class through the eight topics and point out that they build on each other: we start with what cloud computing is, move through deployment models and Azure's structure, then get into where things run and what they cost, and finish hands-on in the Portal. Tell them not to worry if a term is unfamiliar now — each one gets its own slide.</a:t>
            </a:r>
            <a:r>
              <a:rPr lang="en-US"/>
              <a:t> The free AZ-900 learning path on Microsoft Learn mirrors this sequence if they want to self-study between sessions.</a:t>
            </a:r>
          </a:p>
          <a:p>
            <a:endParaRPr lang="en-US"/>
          </a:p>
          <a:p>
            <a:r>
              <a:rPr lang="en-US" b="1"/>
              <a:t>Useful links</a:t>
            </a:r>
          </a:p>
          <a:p>
            <a:r>
              <a:rPr lang="en-US"/>
              <a:t>Azure Fundamentals learning path (Microsoft Learn): https://learn.microsoft.com/training/paths/microsoft-azure-fundamentals-describe-cloud-concepts/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part builds the core mental model. We'll define what the cloud actually is, why organizations are moving to it, and the two ways we slice it up — service models (IaaS, PaaS, SaaS) and, in the next part, deployment models. Keep it conceptual here; the concrete Azure services come later.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Anchor the definition: the cloud is renting computing — servers, storage, databases, networking, software — over the internet, and paying only for what you use. Hit the four traits on the left: on-demand, pay-as-you-go, reachable from anywhere, and maintained by the provider. Lean on the electricity analogy: you don't build a power plant to run a lamp; you flip a switch and pay for what you draw.</a:t>
            </a:r>
          </a:p>
          <a:p>
            <a:endParaRPr lang="en-US"/>
          </a:p>
          <a:p>
            <a:r>
              <a:rPr lang="en-US" b="1"/>
              <a:t>Useful links</a:t>
            </a:r>
          </a:p>
          <a:p>
            <a:r>
              <a:rPr lang="en-US"/>
              <a:t>What is cloud computing? (Azure): https://azure.microsoft.com/resources/cloud-computing-dictionary/what-is-cloud-computing/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organizations move to the cloud: scale on demand, pay only for what you use, global reach, and no hardware to own or maintain. Tie each back to a pain point of the old world — waiting weeks for servers, big capital purchases, being stuck in one location, and staffing a data center. These four benefits are the 'why' behind everything else this week.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Beyond the business drivers, the cloud gives you capabilities that are hard to build yourself. High availability means SLAs and redundancy keep apps up. Scalability and elasticity let you match capacity to demand and scale back automatically. Reliability comes from geo-distributed datacenters. Security and governance are built in with policies and compliance certifications. Manageability means you run everything through the portal, code, and automation. And predictability — the point we added — means you can forecast both cost and performance as you scale. Frame these as the capabilities that on-premises setups struggle to match.</a:t>
            </a:r>
          </a:p>
          <a:p>
            <a:endParaRPr lang="en-US"/>
          </a:p>
          <a:p>
            <a:r>
              <a:rPr lang="en-US" b="1"/>
              <a:t>Useful links</a:t>
            </a:r>
          </a:p>
          <a:p>
            <a:r>
              <a:rPr lang="en-US"/>
              <a:t>Types of cloud computing (Azure): https://azure.microsoft.com/resources/cloud-computing-dictionary/types-of-cloud-computing/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service models sit on a spectrum of control versus convenience. IaaS: you rent raw infrastructure and manage the OS and apps — most control, most work. PaaS: a ready platform to build on, provider runs the servers. SaaS: finished software you just log into. The pizza analogy makes it stick — take-and-bake, delivery, or dining out — you're always eating pizza, you just do less of the work as you move right.</a:t>
            </a:r>
            <a:r>
              <a:rPr lang="en-US"/>
              <a:t> The next slide turns this into a concrete stack diagram.</a:t>
            </a:r>
          </a:p>
          <a:p>
            <a:endParaRPr lang="en-US"/>
          </a:p>
          <a:p>
            <a:r>
              <a:rPr lang="en-US" b="1"/>
              <a:t>Useful links</a:t>
            </a:r>
          </a:p>
          <a:p>
            <a:r>
              <a:rPr lang="en-US"/>
              <a:t>Types of cloud computing – IaaS/PaaS/SaaS (Azure): https://azure.microsoft.com/resources/cloud-computing-dictionary/types-of-cloud-computing/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one of the most important security ideas in the cloud. Microsoft always secures the cloud itself — the physical datacenters, host hardware, and physical network. You always secure what you put in the cloud — your data, identities and accounts, access, and devices. Stress that responsibility for data and identity never shifts to the provider. The middle layer moves with the service model: with IaaS you manage the OS and apps; with PaaS the provider takes those over; with SaaS they handle almost everything. Most cloud incidents come from the customer side — misconfiguration and weak access control — so this matters.</a:t>
            </a:r>
          </a:p>
          <a:p>
            <a:endParaRPr lang="en-US"/>
          </a:p>
          <a:p>
            <a:r>
              <a:rPr lang="en-US" b="1"/>
              <a:t>Useful links</a:t>
            </a:r>
          </a:p>
          <a:p>
            <a:r>
              <a:rPr lang="en-US"/>
              <a:t>Shared responsibility in the cloud (Microsoft Learn): https://learn.microsoft.com/azure/security/fundamentals/shared-responsibility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makes the service-model split concrete. The same nine-layer stack — from Applications down to Networking — appears under each model; what changes is where the line falls between what you manage (blue) and what the vendor manages (grey). With IaaS you manage the top four layers (applications, runtimes, security &amp; integration, databases) while the vendor runs servers, virtualization, and hardware. With PaaS you manage only your applications. With SaaS the vendor manages the entire stack and you just use the software. The one-line takeaway: the more the provider runs, the less you configure — you trade hands-on control for convenience as you move IaaS → PaaS → SaaS. Tie it straight back to the shared-responsibility slide: your data and identities stay yours in every model.</a:t>
            </a:r>
          </a:p>
          <a:p>
            <a:endParaRPr lang="en-US" dirty="0"/>
          </a:p>
          <a:p>
            <a:r>
              <a:rPr lang="en-US" b="1" dirty="0"/>
              <a:t>Useful links</a:t>
            </a:r>
          </a:p>
          <a:p>
            <a:r>
              <a:rPr lang="en-US" dirty="0"/>
              <a:t>Shared responsibility in the cloud (Microsoft Learn): https://</a:t>
            </a:r>
            <a:r>
              <a:rPr lang="en-US" dirty="0" err="1"/>
              <a:t>learn.microsoft.com</a:t>
            </a:r>
            <a:r>
              <a:rPr lang="en-US" dirty="0"/>
              <a:t>/azure/security/fundamentals/shared-responsibility</a:t>
            </a:r>
          </a:p>
          <a:p>
            <a:r>
              <a:rPr lang="en-US" dirty="0"/>
              <a:t>Types of cloud computing – IaaS/PaaS/SaaS (Azure): https://</a:t>
            </a:r>
            <a:r>
              <a:rPr lang="en-US" dirty="0" err="1"/>
              <a:t>azure.microsoft.com</a:t>
            </a:r>
            <a:r>
              <a:rPr lang="en-US" dirty="0"/>
              <a:t>/resources/cloud-computing-dictionary/types-of-cloud-computing/</a:t>
            </a:r>
          </a:p>
        </p:txBody>
      </p:sp>
      <p:sp>
        <p:nvSpPr>
          <p:cNvPr id="4" name="Slide Number Placeholder 3"/>
          <p:cNvSpPr>
            <a:spLocks noGrp="1"/>
          </p:cNvSpPr>
          <p:nvPr>
            <p:ph type="sldNum" sz="quarter" idx="10"/>
          </p:nvPr>
        </p:nvSpPr>
        <p:spPr/>
        <p:txBody>
          <a:bodyPr/>
          <a:lstStyle/>
          <a:p>
            <a:fld id="{A1B2C3D4-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shift from service models to deployment models — where the cloud actually lives. We'll compare public, private, and hybrid, talk through the trade-offs of each, and then work through scenarios to decide which one fits. Emphasize that most real organizations end up hybrid rather than all-or-nothing.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three deployment models. Public: shared infrastructure run by a provider like Azure — fast, scalable, low upfront cost. Private: dedicated to one organization, on-prem or hosted — maximum control and compliance. Hybrid: a connected mix of both. Stress that public doesn't mean your data is exposed — it's shared hardware but isolated tenancy. Foreshadow that hybrid is where most enterprises actually land.</a:t>
            </a:r>
          </a:p>
          <a:p>
            <a:endParaRPr lang="en-US"/>
          </a:p>
          <a:p>
            <a:r>
              <a:rPr lang="en-US" b="1"/>
              <a:t>Useful links</a:t>
            </a:r>
          </a:p>
          <a:p>
            <a:r>
              <a:rPr lang="en-US"/>
              <a:t>Public, private, and hybrid clouds (Azure): https://azure.microsoft.com/resources/cloud-computing-dictionary/what-are-private-public-hybrid-clouds/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concrete with three scenarios — pause and let the class guess before revealing each verdict. The startup on a tight budget wants public for speed and low cost. The bank with strict data-location rules leans private for control and compliance. The retailer with steady in-house systems plus seasonal spikes is a classic hybrid case. The lesson: the right model depends on constraints, not fashion.</a:t>
            </a:r>
          </a:p>
          <a:p>
            <a:endParaRPr lang="en-US"/>
          </a:p>
          <a:p>
            <a:r>
              <a:rPr lang="en-US" b="1"/>
              <a:t>Useful links</a:t>
            </a:r>
          </a:p>
          <a:p>
            <a:r>
              <a:rPr lang="en-US"/>
              <a:t>Public, private, and hybrid clouds (Azure): https://azure.microsoft.com/resources/cloud-computing-dictionary/what-are-private-public-hybrid-clouds/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gets specific to Azure. We'll see how Azure organizes everything into a neat hierarchy, zoom in on resource groups as the everyday container you'll use constantly, and then cover Azure's global footprint — regions and availability zones. This is the structural vocabulary they'll rely on for the rest of the course.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organizes everything into a tidy nesting. Read it from the outside in: a subscription is the billing and access boundary; inside it, resource groups act as folders for related resources; and inside those live the actual resources — VMs, databases, storage. Point out the concentric boxes to reinforce that each layer contains the next. This hierarchy is how you'll find, secure, and bill for everything in Azure</a:t>
            </a:r>
            <a:r>
              <a:rPr lang="en-US"/>
              <a:t> — and every action flows through Azure Resource Manager, the control plane behind the portal, CLI, and templates.</a:t>
            </a:r>
          </a:p>
          <a:p>
            <a:endParaRPr lang="en-US"/>
          </a:p>
          <a:p>
            <a:r>
              <a:rPr lang="en-US" b="1"/>
              <a:t>Useful links</a:t>
            </a:r>
          </a:p>
          <a:p>
            <a:r>
              <a:rPr lang="en-US"/>
              <a:t>What is Azure Resource Manager? (Microsoft Learn): https://learn.microsoft</a:t>
            </a:r>
            <a:r>
              <a:rPr lang="en-US" dirty="0"/>
              <a:t>.</a:t>
            </a:r>
            <a:r>
              <a:rPr lang="en-US"/>
              <a:t>com/azure/azure-resource-manager/management/overview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Zoom out one level above what we just covered. When an organization has many subscriptions, management groups sit on top and let you govern them all together. The full hierarchy is management groups, then subscriptions, then resource groups, then resources. The key idea is inheritance — a policy or access rule set at a management group flows down to every subscription and resource beneath it. You can nest management groups up to six levels deep to mirror how your teams and business units are organized. Small projects may never need them, but they're essential at enterprise scale. Remember that every request — at any level — is carried out by Azure Resource Manager.</a:t>
            </a:r>
          </a:p>
          <a:p>
            <a:endParaRPr lang="en-US"/>
          </a:p>
          <a:p>
            <a:r>
              <a:rPr lang="en-US" b="1"/>
              <a:t>Useful links</a:t>
            </a:r>
          </a:p>
          <a:p>
            <a:r>
              <a:rPr lang="en-US"/>
              <a:t>What are Azure management groups? (Microsoft Learn): https://learn.microsoft.com/azure/governance/management-groups/overview</a:t>
            </a:r>
          </a:p>
          <a:p>
            <a:r>
              <a:rPr lang="en-US"/>
              <a:t>What is Azure Resource Manager? (Microsoft Learn): https://learn.microsoft.com/azure/azure-resource-manager/management/overview</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in on resource groups since they'll use these daily. A resource group is a container for related resources — think project folder. Key rules: every resource lives in exactly one group; you group by app, environment, or lifecycle; and you can set access and tags at the group level. The big one to emphasize: deleting a resource group deletes everything inside it — powerful for cleanup, but handle with care. The moving-box analogy lands well.</a:t>
            </a:r>
          </a:p>
          <a:p>
            <a:endParaRPr lang="en-US"/>
          </a:p>
          <a:p>
            <a:r>
              <a:rPr lang="en-US" b="1"/>
              <a:t>Useful links</a:t>
            </a:r>
          </a:p>
          <a:p>
            <a:r>
              <a:rPr lang="en-US"/>
              <a:t>Manage resource groups in the portal (Microsoft Learn): https://learn.microsoft.com/azure/azure-resource-manager/management/manage-resource-groups-portal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 sense of scale: dozens of regions worldwide, </a:t>
            </a:r>
            <a:r>
              <a:rPr lang="en-US"/>
              <a:t>at least three </a:t>
            </a:r>
            <a:r>
              <a:rPr lang="en-US" dirty="0"/>
              <a:t>availability zones</a:t>
            </a:r>
            <a:r>
              <a:rPr lang="en-US"/>
              <a:t> in each enabled region</a:t>
            </a:r>
            <a:r>
              <a:rPr lang="en-US" dirty="0"/>
              <a:t>, and very low latency between zones in a region. Be honest that the exact numbers keep changing as Azure expands, so treat them as approximate</a:t>
            </a:r>
            <a:r>
              <a:rPr lang="en-US"/>
              <a:t> — the live interactive map below always has the current figures</a:t>
            </a:r>
            <a:r>
              <a:rPr lang="en-US" dirty="0"/>
              <a:t>. The takeaway isn't the precise </a:t>
            </a:r>
            <a:r>
              <a:rPr lang="en-US"/>
              <a:t>number </a:t>
            </a:r>
            <a:r>
              <a:rPr lang="en-US" dirty="0"/>
              <a:t>— it's that Azure has one of the largest global footprints, which is what makes low latency, compliance, and resilience possible.</a:t>
            </a:r>
            <a:endParaRPr lang="en-US"/>
          </a:p>
          <a:p>
            <a:endParaRPr lang="en-US"/>
          </a:p>
          <a:p>
            <a:r>
              <a:rPr lang="en-US" b="1"/>
              <a:t>Useful links</a:t>
            </a:r>
          </a:p>
          <a:p>
            <a:r>
              <a:rPr lang="en-US"/>
              <a:t>Azure global infrastructure – interactive map: https://datacenters.microsoft.com/globe/explore/</a:t>
            </a:r>
          </a:p>
          <a:p>
            <a:r>
              <a:rPr lang="en-US"/>
              <a:t>Azure geographies &amp; regions overview: https://azure.microsoft.com/explore/global-infrastructure/geographies/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two terms they'll meet on day one. A region is a geographic area — like West Europe — where Azure runs datacenters and where you choose to place resources. An availability zone is one of several physically separate datacenters inside a region, each with independent power, cooling, and network. Use the mini diagram: one region contains multiple zones, so if one zone fails, the others keep running. Region = where; zone = which building.</a:t>
            </a:r>
          </a:p>
          <a:p>
            <a:endParaRPr lang="en-US"/>
          </a:p>
          <a:p>
            <a:r>
              <a:rPr lang="en-US" b="1"/>
              <a:t>Useful links</a:t>
            </a:r>
          </a:p>
          <a:p>
            <a:r>
              <a:rPr lang="en-US"/>
              <a:t>What are Azure regions? (Microsoft Learn): https://learn.microsoft.com/azure/reliability/regions-overview</a:t>
            </a:r>
          </a:p>
          <a:p>
            <a:r>
              <a:rPr lang="en-US"/>
              <a:t>What are Azure availability zones? (Microsoft Learn): https://learn.microsoft.com/azure/reliability/availability-zones-overview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the region and zone choice actually matter? Three reasons: low latency (put resources near users so apps feel fast), compliance (keep data in a specific country to meet data-residency laws), and resilience (spread across zones or regions so one outage doesn't take you offline). Tell them this is a real decision they'll make every time they create a resource — it's not just trivia.</a:t>
            </a:r>
          </a:p>
          <a:p>
            <a:endParaRPr lang="en-US"/>
          </a:p>
          <a:p>
            <a:r>
              <a:rPr lang="en-US" b="1"/>
              <a:t>Useful links</a:t>
            </a:r>
          </a:p>
          <a:p>
            <a:r>
              <a:rPr lang="en-US"/>
              <a:t>Choose the right Azure region: https://azure.microsoft.com/explore/global-infrastructure/geographies/</a:t>
            </a:r>
          </a:p>
          <a:p>
            <a:r>
              <a:rPr lang="en-US"/>
              <a:t>Availability zones – building resilience (Microsoft Learn): https://learn.microsoft.com/azure/reliability/availability-zones-overview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more region concepts they will hear about. Region pairs: Azure links many regions to a partner region in the same geography, so data can be replicated for disaster recovery and platform updates roll out one region at a time. Be honest that not every region is paired — many newer regions rely on availability zones for redundancy instead. Sovereign or specialized regions are isolated clouds for strict data-residency and compliance: Azure Government for the U.S. public sector, and Azure China operated locally by 21Vianet. The theme tying it together is data sovereignty — keeping data inside a required legal or geographic boundary.</a:t>
            </a:r>
          </a:p>
          <a:p>
            <a:endParaRPr lang="en-US"/>
          </a:p>
          <a:p>
            <a:r>
              <a:rPr lang="en-US" b="1"/>
              <a:t>Useful links</a:t>
            </a:r>
          </a:p>
          <a:p>
            <a:r>
              <a:rPr lang="en-US"/>
              <a:t>Azure region pairs and nonpaired regions (Microsoft Learn): https://learn.microsoft.com/azure/reliability/regions-paired</a:t>
            </a:r>
          </a:p>
          <a:p>
            <a:r>
              <a:rPr lang="en-US"/>
              <a:t>Azure for US Government: https://azure.microsoft.com/explore/global-infrastructure/government/</a:t>
            </a:r>
          </a:p>
          <a:p>
            <a:r>
              <a:rPr lang="en-US"/>
              <a:t>Azure operated by 21Vianet in China (Microsoft Learn): https://learn.microsoft.com/azure/china/overview-operations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cover two practical questions: where does my code run, and what does it cost? We'll compare the main compute options with a housing analogy, give a quick rule of thumb for choosing, then shift to money — the CapEx-to-OpEx mindset, pricing models, and the tools Azure gives you to keep spend under control.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run code, framed with a housing analogy. Virtual Machines = buy a house: full control, but you patch and maintain it. App Service = rent an apartment: just deploy your web app, Azure runs the servers. Functions = pay per visit: tiny code that runs only when triggered, billed per execution. Containers = modular home: package once, run anywhere, scale piece by piece. The analogy captures the trade-off between control and how much Azure manages for you.</a:t>
            </a:r>
          </a:p>
          <a:p>
            <a:endParaRPr lang="en-US"/>
          </a:p>
          <a:p>
            <a:r>
              <a:rPr lang="en-US" b="1"/>
              <a:t>Useful links</a:t>
            </a:r>
          </a:p>
          <a:p>
            <a:r>
              <a:rPr lang="en-US"/>
              <a:t>Choose an Azure compute service (Microsoft Learn): https://learn.microsoft.com/azure/architecture/guide/technology-choices/compute-decision-tree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cheat-sheet. Read each question and let them predict the answer. Need full control of the OS? Virtual Machines. Just hosting a website or API? App Service. Short, event-driven tasks? Functions. Portable microservices that scale? Containers or AKS. Reassure them these aren't rigid rules — real projects mix and match — but this rule of thumb covers most everyday choices they'll face.</a:t>
            </a:r>
          </a:p>
          <a:p>
            <a:endParaRPr lang="en-US"/>
          </a:p>
          <a:p>
            <a:r>
              <a:rPr lang="en-US" b="1"/>
              <a:t>Useful links</a:t>
            </a:r>
          </a:p>
          <a:p>
            <a:r>
              <a:rPr lang="en-US"/>
              <a:t>Choose an Azure compute service (Microsoft Learn): https://learn.microsoft.com/azure/architecture/guide/technology-choices/compute-decision-tree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money mindset shift. CapEx — capital expenditure — is the traditional way: a big upfront purchase of hardware you own, planned years ahead, where idle gear is wasted money. OpEx — operational expenditure — is the cloud way: pay for what you use, billed monthly, scaling with demand. Don't get lost in accounting terms; the bottom line is what matters — the cloud turns a one-time investment into a flexible, usage-based bill.</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ways to pay for compute, trading commitment for discount. Pay-as-you-go: no commitment, most flexible, great for spiky or short-term work. Reserved Instances: commit to one or three years and save a lot on steady, always-on workloads. Savings Plans: commit to an hourly spend for flexible discounts without locking to one size. The pattern to teach: the more you commit, the more you save — so match the plan to how predictable the workload is. Savings figures are approximate</a:t>
            </a:r>
            <a:r>
              <a:rPr lang="en-US"/>
              <a:t>; the pricing pages below show current rates.</a:t>
            </a:r>
          </a:p>
          <a:p>
            <a:endParaRPr lang="en-US"/>
          </a:p>
          <a:p>
            <a:r>
              <a:rPr lang="en-US" b="1"/>
              <a:t>Useful links</a:t>
            </a:r>
          </a:p>
          <a:p>
            <a:r>
              <a:rPr lang="en-US"/>
              <a:t>Azure Reservations pricing: https://azure.microsoft.com/pricing/offers/reservations/</a:t>
            </a:r>
          </a:p>
          <a:p>
            <a:r>
              <a:rPr lang="en-US"/>
              <a:t>Azure Savings Plans for compute: https://azure.microsoft</a:t>
            </a:r>
            <a:r>
              <a:rPr lang="en-US" dirty="0"/>
              <a:t>.</a:t>
            </a:r>
            <a:r>
              <a:rPr lang="en-US"/>
              <a:t>com/pricing/offers/savings-plans/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gives you tools to stay in control of spend. The Pricing Calculator estimates cost before you build. Cost Management tracks actual spend, shows trends, and forecasts the month. Budgets and Alerts let you set a limit and get notified before you overspend. Close with the tagging tip — tag resources by project or team so you can see exactly where the money goes. Encourage them to set a budget alert on day one of any real project.</a:t>
            </a:r>
            <a:r>
              <a:rPr lang="en-US"/>
              <a:t> Heads-up on the TCO Calculator card: Microsoft has retired the standalone TCO Calculator tool, so for a cloud-vs-on-premises comparison use the Pricing Calculator together with an Azure Migrate business case rather than sending students to a dead link.</a:t>
            </a:r>
          </a:p>
          <a:p>
            <a:endParaRPr lang="en-US"/>
          </a:p>
          <a:p>
            <a:r>
              <a:rPr lang="en-US" b="1"/>
              <a:t>Useful links</a:t>
            </a:r>
          </a:p>
          <a:p>
            <a:r>
              <a:rPr lang="en-US"/>
              <a:t>Azure Pricing Calculator: https://azure.microsoft.com/pricing/calculator/</a:t>
            </a:r>
          </a:p>
          <a:p>
            <a:r>
              <a:rPr lang="en-US"/>
              <a:t>Microsoft Cost Management: https://azure.microsoft.com/products/cost-management/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part is the fun one — the Portal, where all these concepts become real buttons and screens. We'll tour the key areas: search, Home, All Services, resource groups, and Cost Management. If you can, switch to a live browser here and click around; the tour slide is a backup map if the demo isn't available.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map of the Portal — ideally switch to a live browser and click through it. Hit the six landmarks: global search to jump to any service, Home and Dashboard for recent and pinned items, All Services to browse the full catalog, Resource Groups to see one project's pieces together, Cost Management for spend, and Cloud Shell to run commands right in the browser. Tell them the Portal feels big at first but you really only use a handful of these areas daily.</a:t>
            </a:r>
          </a:p>
          <a:p>
            <a:endParaRPr lang="en-US"/>
          </a:p>
          <a:p>
            <a:r>
              <a:rPr lang="en-US" b="1"/>
              <a:t>Useful links</a:t>
            </a:r>
          </a:p>
          <a:p>
            <a:r>
              <a:rPr lang="en-US"/>
              <a:t>Azure Portal (sign in): https://portal.azure.com</a:t>
            </a:r>
          </a:p>
          <a:p>
            <a:r>
              <a:rPr lang="en-US"/>
              <a:t>About the Azure Portal: https://azure.microsoft.com/get-started/azure-portal/</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check understanding. Tell the class these six questions recap the whole week — they can call out answers or jot them down, and we'll review together on the answer-key slide. Keep it light and encouraging.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tests the core definition — the answer is B, renting computing and paying for what you use. Q2 is C, hybrid, which connects private and public cloud so they work together. Let the class answer before you confirm.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is B — a resource group is a folder that keeps related resources together. Q4 is C — zones are physically separate datacenters so an outage in one doesn't take you down. Reinforce the folder and resilience mental models.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is D — Azure Functions are event-driven and billed per execution. Q6 is B — reserving capacity for 1 or 3 years lowers cost for predictable, always-on workloads. Tie back to the compute and cost sections.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answer and restate the underlying concept in one line. Celebrate the progress — if they can answer most of these, they've got the Week 1 foundations down and are ready for hands-on work next week.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with the four big ideas: the cloud is rent-and-pay-per-use computing; public, private, and hybrid each fit different needs; Azure nests everything from subscriptions to resource groups to resources across global regions and zones; and you match compute to the job, then control costs with the right pricing model and tools. Tease next week — hands-on creating their first resources in the Portal. Encourage them to sign up for a free Azure account so they can follow along live</a:t>
            </a:r>
            <a:r>
              <a:rPr lang="en-US"/>
              <a:t>, and to skim the AZ-900 study guide if they're aiming at the certification.</a:t>
            </a:r>
          </a:p>
          <a:p>
            <a:endParaRPr lang="en-US"/>
          </a:p>
          <a:p>
            <a:r>
              <a:rPr lang="en-US" b="1"/>
              <a:t>Useful links</a:t>
            </a:r>
          </a:p>
          <a:p>
            <a:r>
              <a:rPr lang="en-US"/>
              <a:t>Create a free Azure account: https://azure.microsoft.com/free/</a:t>
            </a:r>
          </a:p>
          <a:p>
            <a:r>
              <a:rPr lang="en-US"/>
              <a:t>AZ-900 study guide: https://learn.microsoft.com/credentials/certifications/resources/study-guides/az-900</a:t>
            </a:r>
          </a:p>
          <a:p>
            <a:r>
              <a:rPr lang="en-US"/>
              <a:t>Azure Fundamentals certification: https://learn.microsoft</a:t>
            </a:r>
            <a:r>
              <a:rPr lang="en-US" dirty="0"/>
              <a:t>.</a:t>
            </a:r>
            <a:r>
              <a:rPr lang="en-US"/>
              <a:t>com/credentials/certifications/azure-fundamentals/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E9F3F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530352"/>
            <a:ext cx="7589520" cy="658368"/>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E5386"/>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737360" y="1965960"/>
            <a:ext cx="6766560" cy="9144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E9F3FB"/>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932688"/>
            <a:ext cx="7955280" cy="1371600"/>
          </a:xfrm>
          <a:prstGeom prst="rect">
            <a:avLst/>
          </a:prstGeom>
          <a:noFill/>
          <a:ln/>
        </p:spPr>
        <p:txBody>
          <a:bodyPr wrap="square" rtlCol="0"/>
          <a:lstStyle>
            <a:lvl1pPr marL="0" indent="0">
              <a:buNone/>
              <a:defRPr lang="en-US" dirty="0"/>
            </a:lvl1pPr>
          </a:lstStyle>
          <a:p>
            <a:pPr marL="0" indent="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7461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jpg"/><Relationship Id="rId7"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10" Type="http://schemas.openxmlformats.org/officeDocument/2006/relationships/image" Target="../media/image8.jpg"/><Relationship Id="rId4" Type="http://schemas.openxmlformats.org/officeDocument/2006/relationships/image" Target="../media/image2.jpg"/><Relationship Id="rId9"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5.jpg"/><Relationship Id="rId4" Type="http://schemas.openxmlformats.org/officeDocument/2006/relationships/image" Target="../media/image7.jpg"/></Relationships>
</file>

<file path=ppt/slides/_rels/slide6.xml.rels><?xml version="1.0" encoding="UTF-8" standalone="yes"?>
<Relationships xmlns="http://schemas.openxmlformats.org/package/2006/relationships"><Relationship Id="rId8" Type="http://schemas.openxmlformats.org/officeDocument/2006/relationships/image" Target="../media/image8.jpg"/><Relationship Id="rId3" Type="http://schemas.openxmlformats.org/officeDocument/2006/relationships/image" Target="../media/image12.jpg"/><Relationship Id="rId7" Type="http://schemas.openxmlformats.org/officeDocument/2006/relationships/image" Target="../media/image13.jp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jpg"/><Relationship Id="rId5" Type="http://schemas.openxmlformats.org/officeDocument/2006/relationships/image" Target="../media/image2.jp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jpg"/><Relationship Id="rId4" Type="http://schemas.openxmlformats.org/officeDocument/2006/relationships/image" Target="../media/image14.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13.jpg"/></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13.jp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2.jpg"/><Relationship Id="rId4" Type="http://schemas.openxmlformats.org/officeDocument/2006/relationships/image" Target="../media/image13.jpg"/></Relationships>
</file>

<file path=ppt/slides/_rels/slide2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3.jpg"/><Relationship Id="rId4" Type="http://schemas.openxmlformats.org/officeDocument/2006/relationships/image" Target="../media/image12.jpg"/></Relationships>
</file>

<file path=ppt/slides/_rels/slide2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4.jpg"/></Relationships>
</file>

<file path=ppt/slides/_rels/slide2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4.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20.jpg"/></Relationships>
</file>

<file path=ppt/slides/_rels/slide2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8.jpg"/><Relationship Id="rId7" Type="http://schemas.openxmlformats.org/officeDocument/2006/relationships/image" Target="../media/image20.jp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15.jpg"/><Relationship Id="rId4" Type="http://schemas.openxmlformats.org/officeDocument/2006/relationships/image" Target="../media/image3.jpg"/></Relationships>
</file>

<file path=ppt/slides/_rels/slide2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a:gsLst>
            <a:gs pos="0">
              <a:srgbClr val="16406A"/>
            </a:gs>
            <a:gs pos="55000">
              <a:srgbClr val="1E5386"/>
            </a:gs>
            <a:gs pos="100000">
              <a:srgbClr val="2E7CC4"/>
            </a:gs>
          </a:gsLst>
          <a:lin ang="2400000" scaled="1"/>
        </a:gradFill>
        <a:effectLst/>
      </p:bgPr>
    </p:bg>
    <p:spTree>
      <p:nvGrpSpPr>
        <p:cNvPr id="1" name=""/>
        <p:cNvGrpSpPr/>
        <p:nvPr/>
      </p:nvGrpSpPr>
      <p:grpSpPr>
        <a:xfrm>
          <a:off x="0" y="0"/>
          <a:ext cx="0" cy="0"/>
          <a:chOff x="0" y="0"/>
          <a:chExt cx="0" cy="0"/>
        </a:xfrm>
      </p:grpSpPr>
      <p:sp>
        <p:nvSpPr>
          <p:cNvPr id="10" name="ring10"/>
          <p:cNvSpPr/>
          <p:nvPr/>
        </p:nvSpPr>
        <p:spPr>
          <a:xfrm>
            <a:off x="4044000" y="43500"/>
            <a:ext cx="5100000" cy="5100000"/>
          </a:xfrm>
          <a:prstGeom prst="ellipse">
            <a:avLst/>
          </a:prstGeom>
          <a:noFill/>
          <a:ln w="19050">
            <a:solidFill>
              <a:srgbClr val="FFFFFF">
                <a:alpha val="10000"/>
              </a:srgbClr>
            </a:solidFill>
          </a:ln>
        </p:spPr>
        <p:txBody>
          <a:bodyPr/>
          <a:lstStyle/>
          <a:p>
            <a:endParaRPr lang="en-US"/>
          </a:p>
        </p:txBody>
      </p:sp>
      <p:sp>
        <p:nvSpPr>
          <p:cNvPr id="11" name="ring11"/>
          <p:cNvSpPr/>
          <p:nvPr/>
        </p:nvSpPr>
        <p:spPr>
          <a:xfrm>
            <a:off x="5244000" y="1243500"/>
            <a:ext cx="3900000" cy="3900000"/>
          </a:xfrm>
          <a:prstGeom prst="ellipse">
            <a:avLst/>
          </a:prstGeom>
          <a:noFill/>
          <a:ln w="19050">
            <a:solidFill>
              <a:srgbClr val="FFFFFF">
                <a:alpha val="14000"/>
              </a:srgbClr>
            </a:solidFill>
          </a:ln>
        </p:spPr>
        <p:txBody>
          <a:bodyPr/>
          <a:lstStyle/>
          <a:p>
            <a:endParaRPr lang="en-US"/>
          </a:p>
        </p:txBody>
      </p:sp>
      <p:sp>
        <p:nvSpPr>
          <p:cNvPr id="12" name="ring12"/>
          <p:cNvSpPr/>
          <p:nvPr/>
        </p:nvSpPr>
        <p:spPr>
          <a:xfrm>
            <a:off x="6444000" y="2443500"/>
            <a:ext cx="2700000" cy="2700000"/>
          </a:xfrm>
          <a:prstGeom prst="ellipse">
            <a:avLst/>
          </a:prstGeom>
          <a:noFill/>
          <a:ln w="19050">
            <a:solidFill>
              <a:srgbClr val="FFFFFF">
                <a:alpha val="20000"/>
              </a:srgbClr>
            </a:solidFill>
          </a:ln>
        </p:spPr>
        <p:txBody>
          <a:bodyPr/>
          <a:lstStyle/>
          <a:p>
            <a:endParaRPr lang="en-US"/>
          </a:p>
        </p:txBody>
      </p:sp>
      <p:sp>
        <p:nvSpPr>
          <p:cNvPr id="13" name="ring13"/>
          <p:cNvSpPr/>
          <p:nvPr/>
        </p:nvSpPr>
        <p:spPr>
          <a:xfrm>
            <a:off x="7470000" y="3583500"/>
            <a:ext cx="1560000" cy="1560000"/>
          </a:xfrm>
          <a:prstGeom prst="ellipse">
            <a:avLst/>
          </a:prstGeom>
          <a:noFill/>
          <a:ln w="19050">
            <a:solidFill>
              <a:srgbClr val="FFFFFF">
                <a:alpha val="30000"/>
              </a:srgbClr>
            </a:solidFill>
          </a:ln>
        </p:spPr>
        <p:txBody>
          <a:bodyPr/>
          <a:lstStyle/>
          <a:p>
            <a:endParaRPr lang="en-US"/>
          </a:p>
        </p:txBody>
      </p:sp>
      <p:sp>
        <p:nvSpPr>
          <p:cNvPr id="14" name="dot14"/>
          <p:cNvSpPr/>
          <p:nvPr/>
        </p:nvSpPr>
        <p:spPr>
          <a:xfrm>
            <a:off x="6834000" y="4684000"/>
            <a:ext cx="132000" cy="132000"/>
          </a:xfrm>
          <a:prstGeom prst="ellipse">
            <a:avLst/>
          </a:prstGeom>
          <a:solidFill>
            <a:srgbClr val="EF6F58"/>
          </a:solidFill>
          <a:ln>
            <a:noFill/>
          </a:ln>
        </p:spPr>
        <p:txBody>
          <a:bodyPr/>
          <a:lstStyle/>
          <a:p>
            <a:endParaRPr lang="en-US"/>
          </a:p>
        </p:txBody>
      </p:sp>
      <p:sp>
        <p:nvSpPr>
          <p:cNvPr id="15" name="dot15"/>
          <p:cNvSpPr/>
          <p:nvPr/>
        </p:nvSpPr>
        <p:spPr>
          <a:xfrm>
            <a:off x="8184000" y="2734000"/>
            <a:ext cx="132000" cy="132000"/>
          </a:xfrm>
          <a:prstGeom prst="ellipse">
            <a:avLst/>
          </a:prstGeom>
          <a:solidFill>
            <a:srgbClr val="2FA98A"/>
          </a:solidFill>
          <a:ln>
            <a:noFill/>
          </a:ln>
        </p:spPr>
        <p:txBody>
          <a:bodyPr/>
          <a:lstStyle/>
          <a:p>
            <a:endParaRPr lang="en-US"/>
          </a:p>
        </p:txBody>
      </p:sp>
      <p:sp>
        <p:nvSpPr>
          <p:cNvPr id="16" name="dot16"/>
          <p:cNvSpPr/>
          <p:nvPr/>
        </p:nvSpPr>
        <p:spPr>
          <a:xfrm>
            <a:off x="6234000" y="3904000"/>
            <a:ext cx="132000" cy="132000"/>
          </a:xfrm>
          <a:prstGeom prst="ellipse">
            <a:avLst/>
          </a:prstGeom>
          <a:solidFill>
            <a:srgbClr val="2E7CC4"/>
          </a:solidFill>
          <a:ln>
            <a:noFill/>
          </a:ln>
        </p:spPr>
        <p:txBody>
          <a:bodyPr/>
          <a:lstStyle/>
          <a:p>
            <a:endParaRPr lang="en-US"/>
          </a:p>
        </p:txBody>
      </p:sp>
      <p:sp>
        <p:nvSpPr>
          <p:cNvPr id="17" name="dot17"/>
          <p:cNvSpPr/>
          <p:nvPr/>
        </p:nvSpPr>
        <p:spPr>
          <a:xfrm>
            <a:off x="6974000" y="594000"/>
            <a:ext cx="52000" cy="52000"/>
          </a:xfrm>
          <a:prstGeom prst="ellipse">
            <a:avLst/>
          </a:prstGeom>
          <a:solidFill>
            <a:srgbClr val="FFFFFF">
              <a:alpha val="22000"/>
            </a:srgbClr>
          </a:solidFill>
          <a:ln>
            <a:noFill/>
          </a:ln>
        </p:spPr>
        <p:txBody>
          <a:bodyPr/>
          <a:lstStyle/>
          <a:p>
            <a:endParaRPr lang="en-US"/>
          </a:p>
        </p:txBody>
      </p:sp>
      <p:sp>
        <p:nvSpPr>
          <p:cNvPr id="18" name="dot18"/>
          <p:cNvSpPr/>
          <p:nvPr/>
        </p:nvSpPr>
        <p:spPr>
          <a:xfrm>
            <a:off x="6974000" y="744000"/>
            <a:ext cx="52000" cy="52000"/>
          </a:xfrm>
          <a:prstGeom prst="ellipse">
            <a:avLst/>
          </a:prstGeom>
          <a:solidFill>
            <a:srgbClr val="FFFFFF">
              <a:alpha val="22000"/>
            </a:srgbClr>
          </a:solidFill>
          <a:ln>
            <a:noFill/>
          </a:ln>
        </p:spPr>
        <p:txBody>
          <a:bodyPr/>
          <a:lstStyle/>
          <a:p>
            <a:endParaRPr lang="en-US"/>
          </a:p>
        </p:txBody>
      </p:sp>
      <p:sp>
        <p:nvSpPr>
          <p:cNvPr id="19" name="dot19"/>
          <p:cNvSpPr/>
          <p:nvPr/>
        </p:nvSpPr>
        <p:spPr>
          <a:xfrm>
            <a:off x="6974000" y="894000"/>
            <a:ext cx="52000" cy="52000"/>
          </a:xfrm>
          <a:prstGeom prst="ellipse">
            <a:avLst/>
          </a:prstGeom>
          <a:solidFill>
            <a:srgbClr val="FFFFFF">
              <a:alpha val="22000"/>
            </a:srgbClr>
          </a:solidFill>
          <a:ln>
            <a:noFill/>
          </a:ln>
        </p:spPr>
        <p:txBody>
          <a:bodyPr/>
          <a:lstStyle/>
          <a:p>
            <a:endParaRPr lang="en-US"/>
          </a:p>
        </p:txBody>
      </p:sp>
      <p:sp>
        <p:nvSpPr>
          <p:cNvPr id="20" name="dot20"/>
          <p:cNvSpPr/>
          <p:nvPr/>
        </p:nvSpPr>
        <p:spPr>
          <a:xfrm>
            <a:off x="7124000" y="594000"/>
            <a:ext cx="52000" cy="52000"/>
          </a:xfrm>
          <a:prstGeom prst="ellipse">
            <a:avLst/>
          </a:prstGeom>
          <a:solidFill>
            <a:srgbClr val="FFFFFF">
              <a:alpha val="22000"/>
            </a:srgbClr>
          </a:solidFill>
          <a:ln>
            <a:noFill/>
          </a:ln>
        </p:spPr>
        <p:txBody>
          <a:bodyPr/>
          <a:lstStyle/>
          <a:p>
            <a:endParaRPr lang="en-US"/>
          </a:p>
        </p:txBody>
      </p:sp>
      <p:sp>
        <p:nvSpPr>
          <p:cNvPr id="21" name="dot21"/>
          <p:cNvSpPr/>
          <p:nvPr/>
        </p:nvSpPr>
        <p:spPr>
          <a:xfrm>
            <a:off x="7124000" y="744000"/>
            <a:ext cx="52000" cy="52000"/>
          </a:xfrm>
          <a:prstGeom prst="ellipse">
            <a:avLst/>
          </a:prstGeom>
          <a:solidFill>
            <a:srgbClr val="FFFFFF">
              <a:alpha val="22000"/>
            </a:srgbClr>
          </a:solidFill>
          <a:ln>
            <a:noFill/>
          </a:ln>
        </p:spPr>
        <p:txBody>
          <a:bodyPr/>
          <a:lstStyle/>
          <a:p>
            <a:endParaRPr lang="en-US"/>
          </a:p>
        </p:txBody>
      </p:sp>
      <p:sp>
        <p:nvSpPr>
          <p:cNvPr id="22" name="dot22"/>
          <p:cNvSpPr/>
          <p:nvPr/>
        </p:nvSpPr>
        <p:spPr>
          <a:xfrm>
            <a:off x="7124000" y="894000"/>
            <a:ext cx="52000" cy="52000"/>
          </a:xfrm>
          <a:prstGeom prst="ellipse">
            <a:avLst/>
          </a:prstGeom>
          <a:solidFill>
            <a:srgbClr val="FFFFFF">
              <a:alpha val="22000"/>
            </a:srgbClr>
          </a:solidFill>
          <a:ln>
            <a:noFill/>
          </a:ln>
        </p:spPr>
        <p:txBody>
          <a:bodyPr/>
          <a:lstStyle/>
          <a:p>
            <a:endParaRPr lang="en-US"/>
          </a:p>
        </p:txBody>
      </p:sp>
      <p:sp>
        <p:nvSpPr>
          <p:cNvPr id="23" name="dot23"/>
          <p:cNvSpPr/>
          <p:nvPr/>
        </p:nvSpPr>
        <p:spPr>
          <a:xfrm>
            <a:off x="7274000" y="594000"/>
            <a:ext cx="52000" cy="52000"/>
          </a:xfrm>
          <a:prstGeom prst="ellipse">
            <a:avLst/>
          </a:prstGeom>
          <a:solidFill>
            <a:srgbClr val="FFFFFF">
              <a:alpha val="22000"/>
            </a:srgbClr>
          </a:solidFill>
          <a:ln>
            <a:noFill/>
          </a:ln>
        </p:spPr>
        <p:txBody>
          <a:bodyPr/>
          <a:lstStyle/>
          <a:p>
            <a:endParaRPr lang="en-US"/>
          </a:p>
        </p:txBody>
      </p:sp>
      <p:sp>
        <p:nvSpPr>
          <p:cNvPr id="24" name="dot24"/>
          <p:cNvSpPr/>
          <p:nvPr/>
        </p:nvSpPr>
        <p:spPr>
          <a:xfrm>
            <a:off x="7274000" y="744000"/>
            <a:ext cx="52000" cy="52000"/>
          </a:xfrm>
          <a:prstGeom prst="ellipse">
            <a:avLst/>
          </a:prstGeom>
          <a:solidFill>
            <a:srgbClr val="FFFFFF">
              <a:alpha val="22000"/>
            </a:srgbClr>
          </a:solidFill>
          <a:ln>
            <a:noFill/>
          </a:ln>
        </p:spPr>
        <p:txBody>
          <a:bodyPr/>
          <a:lstStyle/>
          <a:p>
            <a:endParaRPr lang="en-US"/>
          </a:p>
        </p:txBody>
      </p:sp>
      <p:sp>
        <p:nvSpPr>
          <p:cNvPr id="25" name="dot25"/>
          <p:cNvSpPr/>
          <p:nvPr/>
        </p:nvSpPr>
        <p:spPr>
          <a:xfrm>
            <a:off x="7274000" y="894000"/>
            <a:ext cx="52000" cy="52000"/>
          </a:xfrm>
          <a:prstGeom prst="ellipse">
            <a:avLst/>
          </a:prstGeom>
          <a:solidFill>
            <a:srgbClr val="FFFFFF">
              <a:alpha val="22000"/>
            </a:srgbClr>
          </a:solidFill>
          <a:ln>
            <a:noFill/>
          </a:ln>
        </p:spPr>
        <p:txBody>
          <a:bodyPr/>
          <a:lstStyle/>
          <a:p>
            <a:endParaRPr lang="en-US"/>
          </a:p>
        </p:txBody>
      </p:sp>
      <p:sp>
        <p:nvSpPr>
          <p:cNvPr id="26" name="dot26"/>
          <p:cNvSpPr/>
          <p:nvPr/>
        </p:nvSpPr>
        <p:spPr>
          <a:xfrm>
            <a:off x="7424000" y="594000"/>
            <a:ext cx="52000" cy="52000"/>
          </a:xfrm>
          <a:prstGeom prst="ellipse">
            <a:avLst/>
          </a:prstGeom>
          <a:solidFill>
            <a:srgbClr val="FFFFFF">
              <a:alpha val="22000"/>
            </a:srgbClr>
          </a:solidFill>
          <a:ln>
            <a:noFill/>
          </a:ln>
        </p:spPr>
        <p:txBody>
          <a:bodyPr/>
          <a:lstStyle/>
          <a:p>
            <a:endParaRPr lang="en-US"/>
          </a:p>
        </p:txBody>
      </p:sp>
      <p:sp>
        <p:nvSpPr>
          <p:cNvPr id="27" name="dot27"/>
          <p:cNvSpPr/>
          <p:nvPr/>
        </p:nvSpPr>
        <p:spPr>
          <a:xfrm>
            <a:off x="7424000" y="744000"/>
            <a:ext cx="52000" cy="52000"/>
          </a:xfrm>
          <a:prstGeom prst="ellipse">
            <a:avLst/>
          </a:prstGeom>
          <a:solidFill>
            <a:srgbClr val="FFFFFF">
              <a:alpha val="22000"/>
            </a:srgbClr>
          </a:solidFill>
          <a:ln>
            <a:noFill/>
          </a:ln>
        </p:spPr>
        <p:txBody>
          <a:bodyPr/>
          <a:lstStyle/>
          <a:p>
            <a:endParaRPr lang="en-US"/>
          </a:p>
        </p:txBody>
      </p:sp>
      <p:sp>
        <p:nvSpPr>
          <p:cNvPr id="28" name="dot28"/>
          <p:cNvSpPr/>
          <p:nvPr/>
        </p:nvSpPr>
        <p:spPr>
          <a:xfrm>
            <a:off x="7424000" y="894000"/>
            <a:ext cx="52000" cy="52000"/>
          </a:xfrm>
          <a:prstGeom prst="ellipse">
            <a:avLst/>
          </a:prstGeom>
          <a:solidFill>
            <a:srgbClr val="FFFFFF">
              <a:alpha val="22000"/>
            </a:srgbClr>
          </a:solidFill>
          <a:ln>
            <a:noFill/>
          </a:ln>
        </p:spPr>
        <p:txBody>
          <a:bodyPr/>
          <a:lstStyle/>
          <a:p>
            <a:endParaRPr lang="en-US"/>
          </a:p>
        </p:txBody>
      </p:sp>
      <p:sp>
        <p:nvSpPr>
          <p:cNvPr id="29" name="text 29"/>
          <p:cNvSpPr/>
          <p:nvPr/>
        </p:nvSpPr>
        <p:spPr>
          <a:xfrm>
            <a:off x="713232" y="690000"/>
            <a:ext cx="6500000" cy="300000"/>
          </a:xfrm>
          <a:prstGeom prst="rect">
            <a:avLst/>
          </a:prstGeom>
          <a:noFill/>
          <a:ln/>
        </p:spPr>
        <p:txBody>
          <a:bodyPr wrap="square" lIns="0" tIns="0" rIns="0" bIns="0" rtlCol="0" anchor="ctr"/>
          <a:lstStyle/>
          <a:p>
            <a:pPr marL="0" indent="0" algn="l">
              <a:buNone/>
            </a:pPr>
            <a:r>
              <a:rPr lang="en-US" sz="1300" b="1" kern="0" spc="200">
                <a:solidFill>
                  <a:srgbClr val="EF6F58"/>
                </a:solidFill>
                <a:latin typeface="Trebuchet MS" pitchFamily="34" charset="0"/>
                <a:ea typeface="Trebuchet MS" pitchFamily="34" charset="-122"/>
                <a:cs typeface="Trebuchet MS" pitchFamily="34" charset="-120"/>
              </a:rPr>
              <a:t>WEEK 1  ·  AZURE FOR CAREER CHANGERS</a:t>
            </a:r>
          </a:p>
        </p:txBody>
      </p:sp>
      <p:sp>
        <p:nvSpPr>
          <p:cNvPr id="30" name="text 30"/>
          <p:cNvSpPr/>
          <p:nvPr/>
        </p:nvSpPr>
        <p:spPr>
          <a:xfrm>
            <a:off x="713232" y="1080000"/>
            <a:ext cx="7600000" cy="1500000"/>
          </a:xfrm>
          <a:prstGeom prst="rect">
            <a:avLst/>
          </a:prstGeom>
          <a:noFill/>
          <a:ln/>
        </p:spPr>
        <p:txBody>
          <a:bodyPr wrap="square" lIns="0" tIns="0" rIns="0" bIns="0" rtlCol="0" anchor="ctr"/>
          <a:lstStyle/>
          <a:p>
            <a:pPr marL="0" indent="0" algn="l">
              <a:buNone/>
            </a:pPr>
            <a:r>
              <a:rPr lang="en-US" sz="4000" b="1" kern="0">
                <a:solidFill>
                  <a:srgbClr val="FFFFFF"/>
                </a:solidFill>
                <a:latin typeface="Trebuchet MS" pitchFamily="34" charset="0"/>
                <a:ea typeface="Trebuchet MS" pitchFamily="34" charset="-122"/>
                <a:cs typeface="Trebuchet MS" pitchFamily="34" charset="-120"/>
              </a:rPr>
              <a:t>Cloud &amp; Azure</a:t>
            </a:r>
          </a:p>
          <a:p>
            <a:pPr marL="0" indent="0" algn="l">
              <a:buNone/>
            </a:pPr>
            <a:r>
              <a:rPr lang="en-US" sz="4000" b="1" kern="0">
                <a:solidFill>
                  <a:srgbClr val="FFFFFF"/>
                </a:solidFill>
                <a:latin typeface="Trebuchet MS" pitchFamily="34" charset="0"/>
                <a:ea typeface="Trebuchet MS" pitchFamily="34" charset="-122"/>
                <a:cs typeface="Trebuchet MS" pitchFamily="34" charset="-120"/>
              </a:rPr>
              <a:t>Fundamentals</a:t>
            </a:r>
          </a:p>
        </p:txBody>
      </p:sp>
      <p:sp>
        <p:nvSpPr>
          <p:cNvPr id="31" name="rule"/>
          <p:cNvSpPr/>
          <p:nvPr/>
        </p:nvSpPr>
        <p:spPr>
          <a:xfrm>
            <a:off x="720000" y="2560000"/>
            <a:ext cx="1150000" cy="66000"/>
          </a:xfrm>
          <a:prstGeom prst="roundRect">
            <a:avLst>
              <a:gd name="adj" fmla="val 50000"/>
            </a:avLst>
          </a:prstGeom>
          <a:solidFill>
            <a:srgbClr val="EF6F58"/>
          </a:solidFill>
          <a:ln>
            <a:noFill/>
          </a:ln>
        </p:spPr>
        <p:txBody>
          <a:bodyPr/>
          <a:lstStyle/>
          <a:p>
            <a:endParaRPr lang="en-US"/>
          </a:p>
        </p:txBody>
      </p:sp>
      <p:sp>
        <p:nvSpPr>
          <p:cNvPr id="32" name="text 32"/>
          <p:cNvSpPr/>
          <p:nvPr/>
        </p:nvSpPr>
        <p:spPr>
          <a:xfrm>
            <a:off x="713232" y="2760000"/>
            <a:ext cx="5800000" cy="420000"/>
          </a:xfrm>
          <a:prstGeom prst="rect">
            <a:avLst/>
          </a:prstGeom>
          <a:noFill/>
          <a:ln/>
        </p:spPr>
        <p:txBody>
          <a:bodyPr wrap="square" lIns="0" tIns="0" rIns="0" bIns="0" rtlCol="0" anchor="ctr"/>
          <a:lstStyle/>
          <a:p>
            <a:pPr marL="0" indent="0" algn="l">
              <a:buNone/>
            </a:pPr>
            <a:r>
              <a:rPr lang="en-US" sz="1500" i="1" kern="0">
                <a:solidFill>
                  <a:srgbClr val="E6F1FB"/>
                </a:solidFill>
                <a:latin typeface="Calibri" pitchFamily="34" charset="0"/>
                <a:ea typeface="Calibri" pitchFamily="34" charset="-122"/>
                <a:cs typeface="Calibri" pitchFamily="34" charset="-120"/>
              </a:rPr>
              <a:t>Your first week in the cloud — no IT background required.</a:t>
            </a:r>
          </a:p>
        </p:txBody>
      </p:sp>
      <p:sp>
        <p:nvSpPr>
          <p:cNvPr id="33" name="pill"/>
          <p:cNvSpPr/>
          <p:nvPr/>
        </p:nvSpPr>
        <p:spPr>
          <a:xfrm>
            <a:off x="566928" y="4434840"/>
            <a:ext cx="3840480" cy="384048"/>
          </a:xfrm>
          <a:prstGeom prst="roundRect">
            <a:avLst>
              <a:gd name="adj" fmla="val 50000"/>
            </a:avLst>
          </a:prstGeom>
          <a:solidFill>
            <a:srgbClr val="EF6F58"/>
          </a:solidFill>
          <a:ln>
            <a:noFill/>
          </a:ln>
        </p:spPr>
        <p:txBody>
          <a:bodyPr/>
          <a:lstStyle/>
          <a:p>
            <a:endParaRPr lang="en-US"/>
          </a:p>
        </p:txBody>
      </p:sp>
      <p:sp>
        <p:nvSpPr>
          <p:cNvPr id="34" name="text 34"/>
          <p:cNvSpPr/>
          <p:nvPr/>
        </p:nvSpPr>
        <p:spPr>
          <a:xfrm>
            <a:off x="566928" y="4434840"/>
            <a:ext cx="3840480" cy="384048"/>
          </a:xfrm>
          <a:prstGeom prst="rect">
            <a:avLst/>
          </a:prstGeom>
          <a:noFill/>
          <a:ln/>
        </p:spPr>
        <p:txBody>
          <a:bodyPr wrap="square" lIns="0" tIns="0" rIns="0" bIns="0" rtlCol="0" anchor="ctr"/>
          <a:lstStyle/>
          <a:p>
            <a:pPr marL="0" indent="0" algn="ctr">
              <a:buNone/>
            </a:pPr>
            <a:r>
              <a:rPr lang="en-US" sz="1150" b="1" kern="0">
                <a:solidFill>
                  <a:srgbClr val="FFFFFF"/>
                </a:solidFill>
                <a:latin typeface="Calibri" pitchFamily="34" charset="0"/>
                <a:ea typeface="Calibri" pitchFamily="34" charset="-122"/>
                <a:cs typeface="Calibri" pitchFamily="34" charset="-120"/>
              </a:rPr>
              <a:t>8 topics  ·  from cloud basics to the Azure Portal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WEEK 1 AT A GLANCE</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Your roadmap for the week</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417320"/>
            <a:ext cx="1956816" cy="1417320"/>
          </a:xfrm>
          <a:prstGeom prst="roundRect">
            <a:avLst>
              <a:gd name="adj" fmla="val 709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713232" y="1563624"/>
            <a:ext cx="603504" cy="603504"/>
          </a:xfrm>
          <a:prstGeom prst="roundRect">
            <a:avLst>
              <a:gd name="adj" fmla="val 21212"/>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cloud icon"/>
          <p:cNvPicPr>
            <a:picLocks noChangeAspect="1"/>
          </p:cNvPicPr>
          <p:nvPr/>
        </p:nvPicPr>
        <p:blipFill>
          <a:blip r:embed="rId3"/>
          <a:stretch>
            <a:fillRect/>
          </a:stretch>
        </p:blipFill>
        <p:spPr>
          <a:xfrm>
            <a:off x="803758" y="1654150"/>
            <a:ext cx="422453" cy="422453"/>
          </a:xfrm>
          <a:prstGeom prst="rect">
            <a:avLst/>
          </a:prstGeom>
        </p:spPr>
      </p:pic>
      <p:sp>
        <p:nvSpPr>
          <p:cNvPr id="7" name="Text 4"/>
          <p:cNvSpPr/>
          <p:nvPr/>
        </p:nvSpPr>
        <p:spPr>
          <a:xfrm>
            <a:off x="1883664" y="1545336"/>
            <a:ext cx="512064" cy="320040"/>
          </a:xfrm>
          <a:prstGeom prst="rect">
            <a:avLst/>
          </a:prstGeom>
          <a:noFill/>
          <a:ln/>
        </p:spPr>
        <p:txBody>
          <a:bodyPr wrap="square" lIns="0" tIns="0" rIns="0" bIns="0" rtlCol="0" anchor="ctr"/>
          <a:lstStyle/>
          <a:p>
            <a:pPr marL="0" indent="0" algn="r">
              <a:buNone/>
            </a:pPr>
            <a:r>
              <a:rPr lang="en-US" sz="1700" b="1" dirty="0">
                <a:solidFill>
                  <a:srgbClr val="C9D8E6"/>
                </a:solidFill>
                <a:latin typeface="Trebuchet MS" pitchFamily="34" charset="0"/>
                <a:ea typeface="Trebuchet MS" pitchFamily="34" charset="-122"/>
                <a:cs typeface="Trebuchet MS" pitchFamily="34" charset="-120"/>
              </a:rPr>
              <a:t>01</a:t>
            </a:r>
            <a:endParaRPr lang="en-US" sz="1700" dirty="0"/>
          </a:p>
        </p:txBody>
      </p:sp>
      <p:sp>
        <p:nvSpPr>
          <p:cNvPr id="8" name="Text 5"/>
          <p:cNvSpPr/>
          <p:nvPr/>
        </p:nvSpPr>
        <p:spPr>
          <a:xfrm>
            <a:off x="713232" y="2258568"/>
            <a:ext cx="1664208" cy="502920"/>
          </a:xfrm>
          <a:prstGeom prst="rect">
            <a:avLst/>
          </a:prstGeom>
          <a:noFill/>
          <a:ln/>
        </p:spPr>
        <p:txBody>
          <a:bodyPr wrap="square" lIns="0" tIns="0" rIns="0" bIns="0" rtlCol="0" anchor="t"/>
          <a:lstStyle/>
          <a:p>
            <a:pPr marL="0" indent="0">
              <a:lnSpc>
                <a:spcPts val="1500"/>
              </a:lnSpc>
              <a:buNone/>
            </a:pPr>
            <a:r>
              <a:rPr lang="en-US" sz="1250" b="1" dirty="0">
                <a:solidFill>
                  <a:srgbClr val="2A3B4D"/>
                </a:solidFill>
                <a:latin typeface="Trebuchet MS" pitchFamily="34" charset="0"/>
                <a:ea typeface="Trebuchet MS" pitchFamily="34" charset="-122"/>
                <a:cs typeface="Trebuchet MS" pitchFamily="34" charset="-120"/>
              </a:rPr>
              <a:t>Cloud computing concepts</a:t>
            </a:r>
            <a:endParaRPr lang="en-US" sz="1250" dirty="0"/>
          </a:p>
        </p:txBody>
      </p:sp>
      <p:sp>
        <p:nvSpPr>
          <p:cNvPr id="9" name="card">
            <a:extLst>
              <a:ext uri="{C183D7F6-B498-43B3-948B-1728B52AA6E4}">
                <adec:decorative xmlns:adec="http://schemas.microsoft.com/office/drawing/2017/decorative" val="1"/>
              </a:ext>
            </a:extLst>
          </p:cNvPr>
          <p:cNvSpPr/>
          <p:nvPr/>
        </p:nvSpPr>
        <p:spPr>
          <a:xfrm>
            <a:off x="2743200" y="1417320"/>
            <a:ext cx="1956816" cy="1417320"/>
          </a:xfrm>
          <a:prstGeom prst="roundRect">
            <a:avLst>
              <a:gd name="adj" fmla="val 709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0" name="icon tile">
            <a:extLst>
              <a:ext uri="{C183D7F6-B498-43B3-948B-1728B52AA6E4}">
                <adec:decorative xmlns:adec="http://schemas.microsoft.com/office/drawing/2017/decorative" val="1"/>
              </a:ext>
            </a:extLst>
          </p:cNvPr>
          <p:cNvSpPr/>
          <p:nvPr/>
        </p:nvSpPr>
        <p:spPr>
          <a:xfrm>
            <a:off x="2889504" y="1563624"/>
            <a:ext cx="603504" cy="603504"/>
          </a:xfrm>
          <a:prstGeom prst="roundRect">
            <a:avLst>
              <a:gd name="adj" fmla="val 21212"/>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1" name="Image 1" descr="hybrid icon"/>
          <p:cNvPicPr>
            <a:picLocks noChangeAspect="1"/>
          </p:cNvPicPr>
          <p:nvPr/>
        </p:nvPicPr>
        <p:blipFill>
          <a:blip r:embed="rId4"/>
          <a:stretch>
            <a:fillRect/>
          </a:stretch>
        </p:blipFill>
        <p:spPr>
          <a:xfrm>
            <a:off x="2980030" y="1654150"/>
            <a:ext cx="422453" cy="422453"/>
          </a:xfrm>
          <a:prstGeom prst="rect">
            <a:avLst/>
          </a:prstGeom>
        </p:spPr>
      </p:pic>
      <p:sp>
        <p:nvSpPr>
          <p:cNvPr id="12" name="Text 8"/>
          <p:cNvSpPr/>
          <p:nvPr/>
        </p:nvSpPr>
        <p:spPr>
          <a:xfrm>
            <a:off x="4059936" y="1545336"/>
            <a:ext cx="512064" cy="320040"/>
          </a:xfrm>
          <a:prstGeom prst="rect">
            <a:avLst/>
          </a:prstGeom>
          <a:noFill/>
          <a:ln/>
        </p:spPr>
        <p:txBody>
          <a:bodyPr wrap="square" lIns="0" tIns="0" rIns="0" bIns="0" rtlCol="0" anchor="ctr"/>
          <a:lstStyle/>
          <a:p>
            <a:pPr marL="0" indent="0" algn="r">
              <a:buNone/>
            </a:pPr>
            <a:r>
              <a:rPr lang="en-US" sz="1700" b="1" dirty="0">
                <a:solidFill>
                  <a:srgbClr val="C9D8E6"/>
                </a:solidFill>
                <a:latin typeface="Trebuchet MS" pitchFamily="34" charset="0"/>
                <a:ea typeface="Trebuchet MS" pitchFamily="34" charset="-122"/>
                <a:cs typeface="Trebuchet MS" pitchFamily="34" charset="-120"/>
              </a:rPr>
              <a:t>02</a:t>
            </a:r>
            <a:endParaRPr lang="en-US" sz="1700" dirty="0"/>
          </a:p>
        </p:txBody>
      </p:sp>
      <p:sp>
        <p:nvSpPr>
          <p:cNvPr id="13" name="Text 9"/>
          <p:cNvSpPr/>
          <p:nvPr/>
        </p:nvSpPr>
        <p:spPr>
          <a:xfrm>
            <a:off x="2889504" y="2258568"/>
            <a:ext cx="1664208" cy="502920"/>
          </a:xfrm>
          <a:prstGeom prst="rect">
            <a:avLst/>
          </a:prstGeom>
          <a:noFill/>
          <a:ln/>
        </p:spPr>
        <p:txBody>
          <a:bodyPr wrap="square" lIns="0" tIns="0" rIns="0" bIns="0" rtlCol="0" anchor="t"/>
          <a:lstStyle/>
          <a:p>
            <a:pPr marL="0" indent="0">
              <a:lnSpc>
                <a:spcPts val="1500"/>
              </a:lnSpc>
              <a:buNone/>
            </a:pPr>
            <a:r>
              <a:rPr lang="en-US" sz="1250" b="1" dirty="0">
                <a:solidFill>
                  <a:srgbClr val="2A3B4D"/>
                </a:solidFill>
                <a:latin typeface="Trebuchet MS" pitchFamily="34" charset="0"/>
                <a:ea typeface="Trebuchet MS" pitchFamily="34" charset="-122"/>
                <a:cs typeface="Trebuchet MS" pitchFamily="34" charset="-120"/>
              </a:rPr>
              <a:t>Public, private &amp; hybrid</a:t>
            </a:r>
            <a:endParaRPr lang="en-US" sz="1250" dirty="0"/>
          </a:p>
        </p:txBody>
      </p:sp>
      <p:sp>
        <p:nvSpPr>
          <p:cNvPr id="14" name="card">
            <a:extLst>
              <a:ext uri="{C183D7F6-B498-43B3-948B-1728B52AA6E4}">
                <adec:decorative xmlns:adec="http://schemas.microsoft.com/office/drawing/2017/decorative" val="1"/>
              </a:ext>
            </a:extLst>
          </p:cNvPr>
          <p:cNvSpPr/>
          <p:nvPr/>
        </p:nvSpPr>
        <p:spPr>
          <a:xfrm>
            <a:off x="4919472" y="1417320"/>
            <a:ext cx="1956816" cy="1417320"/>
          </a:xfrm>
          <a:prstGeom prst="roundRect">
            <a:avLst>
              <a:gd name="adj" fmla="val 709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5" name="icon tile">
            <a:extLst>
              <a:ext uri="{C183D7F6-B498-43B3-948B-1728B52AA6E4}">
                <adec:decorative xmlns:adec="http://schemas.microsoft.com/office/drawing/2017/decorative" val="1"/>
              </a:ext>
            </a:extLst>
          </p:cNvPr>
          <p:cNvSpPr/>
          <p:nvPr/>
        </p:nvSpPr>
        <p:spPr>
          <a:xfrm>
            <a:off x="5065776" y="1563624"/>
            <a:ext cx="603504" cy="603504"/>
          </a:xfrm>
          <a:prstGeom prst="roundRect">
            <a:avLst>
              <a:gd name="adj" fmla="val 21212"/>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6" name="Image 2" descr="hierarchy icon"/>
          <p:cNvPicPr>
            <a:picLocks noChangeAspect="1"/>
          </p:cNvPicPr>
          <p:nvPr/>
        </p:nvPicPr>
        <p:blipFill>
          <a:blip r:embed="rId5"/>
          <a:stretch>
            <a:fillRect/>
          </a:stretch>
        </p:blipFill>
        <p:spPr>
          <a:xfrm>
            <a:off x="5156302" y="1654150"/>
            <a:ext cx="422453" cy="422453"/>
          </a:xfrm>
          <a:prstGeom prst="rect">
            <a:avLst/>
          </a:prstGeom>
        </p:spPr>
      </p:pic>
      <p:sp>
        <p:nvSpPr>
          <p:cNvPr id="17" name="Text 12"/>
          <p:cNvSpPr/>
          <p:nvPr/>
        </p:nvSpPr>
        <p:spPr>
          <a:xfrm>
            <a:off x="6236208" y="1545336"/>
            <a:ext cx="512064" cy="320040"/>
          </a:xfrm>
          <a:prstGeom prst="rect">
            <a:avLst/>
          </a:prstGeom>
          <a:noFill/>
          <a:ln/>
        </p:spPr>
        <p:txBody>
          <a:bodyPr wrap="square" lIns="0" tIns="0" rIns="0" bIns="0" rtlCol="0" anchor="ctr"/>
          <a:lstStyle/>
          <a:p>
            <a:pPr marL="0" indent="0" algn="r">
              <a:buNone/>
            </a:pPr>
            <a:r>
              <a:rPr lang="en-US" sz="1700" b="1" dirty="0">
                <a:solidFill>
                  <a:srgbClr val="C9D8E6"/>
                </a:solidFill>
                <a:latin typeface="Trebuchet MS" pitchFamily="34" charset="0"/>
                <a:ea typeface="Trebuchet MS" pitchFamily="34" charset="-122"/>
                <a:cs typeface="Trebuchet MS" pitchFamily="34" charset="-120"/>
              </a:rPr>
              <a:t>03</a:t>
            </a:r>
            <a:endParaRPr lang="en-US" sz="1700" dirty="0"/>
          </a:p>
        </p:txBody>
      </p:sp>
      <p:sp>
        <p:nvSpPr>
          <p:cNvPr id="18" name="Text 13"/>
          <p:cNvSpPr/>
          <p:nvPr/>
        </p:nvSpPr>
        <p:spPr>
          <a:xfrm>
            <a:off x="5065776" y="2258568"/>
            <a:ext cx="1664208" cy="502920"/>
          </a:xfrm>
          <a:prstGeom prst="rect">
            <a:avLst/>
          </a:prstGeom>
          <a:noFill/>
          <a:ln/>
        </p:spPr>
        <p:txBody>
          <a:bodyPr wrap="square" lIns="0" tIns="0" rIns="0" bIns="0" rtlCol="0" anchor="t"/>
          <a:lstStyle/>
          <a:p>
            <a:pPr marL="0" indent="0">
              <a:lnSpc>
                <a:spcPts val="1500"/>
              </a:lnSpc>
              <a:buNone/>
            </a:pPr>
            <a:r>
              <a:rPr lang="en-US" sz="1250" b="1" dirty="0">
                <a:solidFill>
                  <a:srgbClr val="2A3B4D"/>
                </a:solidFill>
                <a:latin typeface="Trebuchet MS" pitchFamily="34" charset="0"/>
                <a:ea typeface="Trebuchet MS" pitchFamily="34" charset="-122"/>
                <a:cs typeface="Trebuchet MS" pitchFamily="34" charset="-120"/>
              </a:rPr>
              <a:t>Azure architecture basics</a:t>
            </a:r>
            <a:endParaRPr lang="en-US" sz="1250" dirty="0"/>
          </a:p>
        </p:txBody>
      </p:sp>
      <p:sp>
        <p:nvSpPr>
          <p:cNvPr id="19" name="card">
            <a:extLst>
              <a:ext uri="{C183D7F6-B498-43B3-948B-1728B52AA6E4}">
                <adec:decorative xmlns:adec="http://schemas.microsoft.com/office/drawing/2017/decorative" val="1"/>
              </a:ext>
            </a:extLst>
          </p:cNvPr>
          <p:cNvSpPr/>
          <p:nvPr/>
        </p:nvSpPr>
        <p:spPr>
          <a:xfrm>
            <a:off x="7095744" y="1417320"/>
            <a:ext cx="1956816" cy="1417320"/>
          </a:xfrm>
          <a:prstGeom prst="roundRect">
            <a:avLst>
              <a:gd name="adj" fmla="val 709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0" name="icon tile">
            <a:extLst>
              <a:ext uri="{C183D7F6-B498-43B3-948B-1728B52AA6E4}">
                <adec:decorative xmlns:adec="http://schemas.microsoft.com/office/drawing/2017/decorative" val="1"/>
              </a:ext>
            </a:extLst>
          </p:cNvPr>
          <p:cNvSpPr/>
          <p:nvPr/>
        </p:nvSpPr>
        <p:spPr>
          <a:xfrm>
            <a:off x="7242048" y="1563624"/>
            <a:ext cx="603504" cy="603504"/>
          </a:xfrm>
          <a:prstGeom prst="roundRect">
            <a:avLst>
              <a:gd name="adj" fmla="val 21212"/>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1" name="Image 3" descr="folder icon"/>
          <p:cNvPicPr>
            <a:picLocks noChangeAspect="1"/>
          </p:cNvPicPr>
          <p:nvPr/>
        </p:nvPicPr>
        <p:blipFill>
          <a:blip r:embed="rId6"/>
          <a:stretch>
            <a:fillRect/>
          </a:stretch>
        </p:blipFill>
        <p:spPr>
          <a:xfrm>
            <a:off x="7332574" y="1654150"/>
            <a:ext cx="422453" cy="422453"/>
          </a:xfrm>
          <a:prstGeom prst="rect">
            <a:avLst/>
          </a:prstGeom>
        </p:spPr>
      </p:pic>
      <p:sp>
        <p:nvSpPr>
          <p:cNvPr id="22" name="Text 16"/>
          <p:cNvSpPr/>
          <p:nvPr/>
        </p:nvSpPr>
        <p:spPr>
          <a:xfrm>
            <a:off x="8412480" y="1545336"/>
            <a:ext cx="512064" cy="320040"/>
          </a:xfrm>
          <a:prstGeom prst="rect">
            <a:avLst/>
          </a:prstGeom>
          <a:noFill/>
          <a:ln/>
        </p:spPr>
        <p:txBody>
          <a:bodyPr wrap="square" lIns="0" tIns="0" rIns="0" bIns="0" rtlCol="0" anchor="ctr"/>
          <a:lstStyle/>
          <a:p>
            <a:pPr marL="0" indent="0" algn="r">
              <a:buNone/>
            </a:pPr>
            <a:r>
              <a:rPr lang="en-US" sz="1700" b="1" dirty="0">
                <a:solidFill>
                  <a:srgbClr val="C9D8E6"/>
                </a:solidFill>
                <a:latin typeface="Trebuchet MS" pitchFamily="34" charset="0"/>
                <a:ea typeface="Trebuchet MS" pitchFamily="34" charset="-122"/>
                <a:cs typeface="Trebuchet MS" pitchFamily="34" charset="-120"/>
              </a:rPr>
              <a:t>04</a:t>
            </a:r>
            <a:endParaRPr lang="en-US" sz="1700" dirty="0"/>
          </a:p>
        </p:txBody>
      </p:sp>
      <p:sp>
        <p:nvSpPr>
          <p:cNvPr id="23" name="Text 17"/>
          <p:cNvSpPr/>
          <p:nvPr/>
        </p:nvSpPr>
        <p:spPr>
          <a:xfrm>
            <a:off x="7242048" y="2258568"/>
            <a:ext cx="1664208" cy="502920"/>
          </a:xfrm>
          <a:prstGeom prst="rect">
            <a:avLst/>
          </a:prstGeom>
          <a:noFill/>
          <a:ln/>
        </p:spPr>
        <p:txBody>
          <a:bodyPr wrap="square" lIns="0" tIns="0" rIns="0" bIns="0" rtlCol="0" anchor="t"/>
          <a:lstStyle/>
          <a:p>
            <a:pPr marL="0" indent="0">
              <a:lnSpc>
                <a:spcPts val="1500"/>
              </a:lnSpc>
              <a:buNone/>
            </a:pPr>
            <a:r>
              <a:rPr lang="en-US" sz="1250" b="1" dirty="0">
                <a:solidFill>
                  <a:srgbClr val="2A3B4D"/>
                </a:solidFill>
                <a:latin typeface="Trebuchet MS" pitchFamily="34" charset="0"/>
                <a:ea typeface="Trebuchet MS" pitchFamily="34" charset="-122"/>
                <a:cs typeface="Trebuchet MS" pitchFamily="34" charset="-120"/>
              </a:rPr>
              <a:t>Resource Groups</a:t>
            </a:r>
            <a:endParaRPr lang="en-US" sz="1250" dirty="0"/>
          </a:p>
        </p:txBody>
      </p:sp>
      <p:sp>
        <p:nvSpPr>
          <p:cNvPr id="24" name="card">
            <a:extLst>
              <a:ext uri="{C183D7F6-B498-43B3-948B-1728B52AA6E4}">
                <adec:decorative xmlns:adec="http://schemas.microsoft.com/office/drawing/2017/decorative" val="1"/>
              </a:ext>
            </a:extLst>
          </p:cNvPr>
          <p:cNvSpPr/>
          <p:nvPr/>
        </p:nvSpPr>
        <p:spPr>
          <a:xfrm>
            <a:off x="566928" y="3035808"/>
            <a:ext cx="1956816" cy="1417320"/>
          </a:xfrm>
          <a:prstGeom prst="roundRect">
            <a:avLst>
              <a:gd name="adj" fmla="val 709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5" name="icon tile">
            <a:extLst>
              <a:ext uri="{C183D7F6-B498-43B3-948B-1728B52AA6E4}">
                <adec:decorative xmlns:adec="http://schemas.microsoft.com/office/drawing/2017/decorative" val="1"/>
              </a:ext>
            </a:extLst>
          </p:cNvPr>
          <p:cNvSpPr/>
          <p:nvPr/>
        </p:nvSpPr>
        <p:spPr>
          <a:xfrm>
            <a:off x="713232" y="3182112"/>
            <a:ext cx="603504" cy="603504"/>
          </a:xfrm>
          <a:prstGeom prst="roundRect">
            <a:avLst>
              <a:gd name="adj" fmla="val 21212"/>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6" name="Image 4" descr="globe icon"/>
          <p:cNvPicPr>
            <a:picLocks noChangeAspect="1"/>
          </p:cNvPicPr>
          <p:nvPr/>
        </p:nvPicPr>
        <p:blipFill>
          <a:blip r:embed="rId7"/>
          <a:stretch>
            <a:fillRect/>
          </a:stretch>
        </p:blipFill>
        <p:spPr>
          <a:xfrm>
            <a:off x="803758" y="3288966"/>
            <a:ext cx="422453" cy="389796"/>
          </a:xfrm>
          <a:prstGeom prst="rect">
            <a:avLst/>
          </a:prstGeom>
        </p:spPr>
      </p:pic>
      <p:sp>
        <p:nvSpPr>
          <p:cNvPr id="27" name="Text 20"/>
          <p:cNvSpPr/>
          <p:nvPr/>
        </p:nvSpPr>
        <p:spPr>
          <a:xfrm>
            <a:off x="1883664" y="3163824"/>
            <a:ext cx="512064" cy="320040"/>
          </a:xfrm>
          <a:prstGeom prst="rect">
            <a:avLst/>
          </a:prstGeom>
          <a:noFill/>
          <a:ln/>
        </p:spPr>
        <p:txBody>
          <a:bodyPr wrap="square" lIns="0" tIns="0" rIns="0" bIns="0" rtlCol="0" anchor="ctr"/>
          <a:lstStyle/>
          <a:p>
            <a:pPr marL="0" indent="0" algn="r">
              <a:buNone/>
            </a:pPr>
            <a:r>
              <a:rPr lang="en-US" sz="1700" b="1" dirty="0">
                <a:solidFill>
                  <a:srgbClr val="C9D8E6"/>
                </a:solidFill>
                <a:latin typeface="Trebuchet MS" pitchFamily="34" charset="0"/>
                <a:ea typeface="Trebuchet MS" pitchFamily="34" charset="-122"/>
                <a:cs typeface="Trebuchet MS" pitchFamily="34" charset="-120"/>
              </a:rPr>
              <a:t>05</a:t>
            </a:r>
            <a:endParaRPr lang="en-US" sz="1700" dirty="0"/>
          </a:p>
        </p:txBody>
      </p:sp>
      <p:sp>
        <p:nvSpPr>
          <p:cNvPr id="28" name="Text 21"/>
          <p:cNvSpPr/>
          <p:nvPr/>
        </p:nvSpPr>
        <p:spPr>
          <a:xfrm>
            <a:off x="713232" y="3877056"/>
            <a:ext cx="1664208" cy="502920"/>
          </a:xfrm>
          <a:prstGeom prst="rect">
            <a:avLst/>
          </a:prstGeom>
          <a:noFill/>
          <a:ln/>
        </p:spPr>
        <p:txBody>
          <a:bodyPr wrap="square" lIns="0" tIns="0" rIns="0" bIns="0" rtlCol="0" anchor="t"/>
          <a:lstStyle/>
          <a:p>
            <a:pPr marL="0" indent="0">
              <a:lnSpc>
                <a:spcPts val="1500"/>
              </a:lnSpc>
              <a:buNone/>
            </a:pPr>
            <a:r>
              <a:rPr lang="en-US" sz="1250" b="1" dirty="0">
                <a:solidFill>
                  <a:srgbClr val="2A3B4D"/>
                </a:solidFill>
                <a:latin typeface="Trebuchet MS" pitchFamily="34" charset="0"/>
                <a:ea typeface="Trebuchet MS" pitchFamily="34" charset="-122"/>
                <a:cs typeface="Trebuchet MS" pitchFamily="34" charset="-120"/>
              </a:rPr>
              <a:t>Regions &amp; Availability Zones</a:t>
            </a:r>
            <a:endParaRPr lang="en-US" sz="1250" dirty="0"/>
          </a:p>
        </p:txBody>
      </p:sp>
      <p:sp>
        <p:nvSpPr>
          <p:cNvPr id="29" name="card">
            <a:extLst>
              <a:ext uri="{C183D7F6-B498-43B3-948B-1728B52AA6E4}">
                <adec:decorative xmlns:adec="http://schemas.microsoft.com/office/drawing/2017/decorative" val="1"/>
              </a:ext>
            </a:extLst>
          </p:cNvPr>
          <p:cNvSpPr/>
          <p:nvPr/>
        </p:nvSpPr>
        <p:spPr>
          <a:xfrm>
            <a:off x="2743200" y="3035808"/>
            <a:ext cx="1956816" cy="1417320"/>
          </a:xfrm>
          <a:prstGeom prst="roundRect">
            <a:avLst>
              <a:gd name="adj" fmla="val 709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30" name="icon tile">
            <a:extLst>
              <a:ext uri="{C183D7F6-B498-43B3-948B-1728B52AA6E4}">
                <adec:decorative xmlns:adec="http://schemas.microsoft.com/office/drawing/2017/decorative" val="1"/>
              </a:ext>
            </a:extLst>
          </p:cNvPr>
          <p:cNvSpPr/>
          <p:nvPr/>
        </p:nvSpPr>
        <p:spPr>
          <a:xfrm>
            <a:off x="2889504" y="3182112"/>
            <a:ext cx="603504" cy="603504"/>
          </a:xfrm>
          <a:prstGeom prst="roundRect">
            <a:avLst>
              <a:gd name="adj" fmla="val 21212"/>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31" name="Image 5" descr="vm icon"/>
          <p:cNvPicPr>
            <a:picLocks noChangeAspect="1"/>
          </p:cNvPicPr>
          <p:nvPr/>
        </p:nvPicPr>
        <p:blipFill>
          <a:blip r:embed="rId8"/>
          <a:stretch>
            <a:fillRect/>
          </a:stretch>
        </p:blipFill>
        <p:spPr>
          <a:xfrm>
            <a:off x="2980030" y="3313200"/>
            <a:ext cx="422453" cy="341327"/>
          </a:xfrm>
          <a:prstGeom prst="rect">
            <a:avLst/>
          </a:prstGeom>
        </p:spPr>
      </p:pic>
      <p:sp>
        <p:nvSpPr>
          <p:cNvPr id="32" name="Text 24"/>
          <p:cNvSpPr/>
          <p:nvPr/>
        </p:nvSpPr>
        <p:spPr>
          <a:xfrm>
            <a:off x="4059936" y="3163824"/>
            <a:ext cx="512064" cy="320040"/>
          </a:xfrm>
          <a:prstGeom prst="rect">
            <a:avLst/>
          </a:prstGeom>
          <a:noFill/>
          <a:ln/>
        </p:spPr>
        <p:txBody>
          <a:bodyPr wrap="square" lIns="0" tIns="0" rIns="0" bIns="0" rtlCol="0" anchor="ctr"/>
          <a:lstStyle/>
          <a:p>
            <a:pPr marL="0" indent="0" algn="r">
              <a:buNone/>
            </a:pPr>
            <a:r>
              <a:rPr lang="en-US" sz="1700" b="1" dirty="0">
                <a:solidFill>
                  <a:srgbClr val="C9D8E6"/>
                </a:solidFill>
                <a:latin typeface="Trebuchet MS" pitchFamily="34" charset="0"/>
                <a:ea typeface="Trebuchet MS" pitchFamily="34" charset="-122"/>
                <a:cs typeface="Trebuchet MS" pitchFamily="34" charset="-120"/>
              </a:rPr>
              <a:t>06</a:t>
            </a:r>
            <a:endParaRPr lang="en-US" sz="1700" dirty="0"/>
          </a:p>
        </p:txBody>
      </p:sp>
      <p:sp>
        <p:nvSpPr>
          <p:cNvPr id="33" name="Text 25"/>
          <p:cNvSpPr/>
          <p:nvPr/>
        </p:nvSpPr>
        <p:spPr>
          <a:xfrm>
            <a:off x="2889504" y="3877056"/>
            <a:ext cx="1664208" cy="502920"/>
          </a:xfrm>
          <a:prstGeom prst="rect">
            <a:avLst/>
          </a:prstGeom>
          <a:noFill/>
          <a:ln/>
        </p:spPr>
        <p:txBody>
          <a:bodyPr wrap="square" lIns="0" tIns="0" rIns="0" bIns="0" rtlCol="0" anchor="t"/>
          <a:lstStyle/>
          <a:p>
            <a:pPr marL="0" indent="0">
              <a:lnSpc>
                <a:spcPts val="1500"/>
              </a:lnSpc>
              <a:buNone/>
            </a:pPr>
            <a:r>
              <a:rPr lang="en-US" sz="1250" b="1" dirty="0">
                <a:solidFill>
                  <a:srgbClr val="2A3B4D"/>
                </a:solidFill>
                <a:latin typeface="Trebuchet MS" pitchFamily="34" charset="0"/>
                <a:ea typeface="Trebuchet MS" pitchFamily="34" charset="-122"/>
                <a:cs typeface="Trebuchet MS" pitchFamily="34" charset="-120"/>
              </a:rPr>
              <a:t>Compute fundamentals</a:t>
            </a:r>
            <a:endParaRPr lang="en-US" sz="1250" dirty="0"/>
          </a:p>
        </p:txBody>
      </p:sp>
      <p:sp>
        <p:nvSpPr>
          <p:cNvPr id="34" name="card">
            <a:extLst>
              <a:ext uri="{C183D7F6-B498-43B3-948B-1728B52AA6E4}">
                <adec:decorative xmlns:adec="http://schemas.microsoft.com/office/drawing/2017/decorative" val="1"/>
              </a:ext>
            </a:extLst>
          </p:cNvPr>
          <p:cNvSpPr/>
          <p:nvPr/>
        </p:nvSpPr>
        <p:spPr>
          <a:xfrm>
            <a:off x="4919472" y="3035808"/>
            <a:ext cx="1956816" cy="1417320"/>
          </a:xfrm>
          <a:prstGeom prst="roundRect">
            <a:avLst>
              <a:gd name="adj" fmla="val 709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35" name="icon tile">
            <a:extLst>
              <a:ext uri="{C183D7F6-B498-43B3-948B-1728B52AA6E4}">
                <adec:decorative xmlns:adec="http://schemas.microsoft.com/office/drawing/2017/decorative" val="1"/>
              </a:ext>
            </a:extLst>
          </p:cNvPr>
          <p:cNvSpPr/>
          <p:nvPr/>
        </p:nvSpPr>
        <p:spPr>
          <a:xfrm>
            <a:off x="5065776" y="3182112"/>
            <a:ext cx="603504" cy="603504"/>
          </a:xfrm>
          <a:prstGeom prst="roundRect">
            <a:avLst>
              <a:gd name="adj" fmla="val 21212"/>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36" name="Image 6" descr="coins icon"/>
          <p:cNvPicPr>
            <a:picLocks noChangeAspect="1"/>
          </p:cNvPicPr>
          <p:nvPr/>
        </p:nvPicPr>
        <p:blipFill>
          <a:blip r:embed="rId9"/>
          <a:stretch>
            <a:fillRect/>
          </a:stretch>
        </p:blipFill>
        <p:spPr>
          <a:xfrm>
            <a:off x="5156302" y="3272638"/>
            <a:ext cx="422453" cy="422453"/>
          </a:xfrm>
          <a:prstGeom prst="rect">
            <a:avLst/>
          </a:prstGeom>
        </p:spPr>
      </p:pic>
      <p:sp>
        <p:nvSpPr>
          <p:cNvPr id="37" name="Text 28"/>
          <p:cNvSpPr/>
          <p:nvPr/>
        </p:nvSpPr>
        <p:spPr>
          <a:xfrm>
            <a:off x="6236208" y="3163824"/>
            <a:ext cx="512064" cy="320040"/>
          </a:xfrm>
          <a:prstGeom prst="rect">
            <a:avLst/>
          </a:prstGeom>
          <a:noFill/>
          <a:ln/>
        </p:spPr>
        <p:txBody>
          <a:bodyPr wrap="square" lIns="0" tIns="0" rIns="0" bIns="0" rtlCol="0" anchor="ctr"/>
          <a:lstStyle/>
          <a:p>
            <a:pPr marL="0" indent="0" algn="r">
              <a:buNone/>
            </a:pPr>
            <a:r>
              <a:rPr lang="en-US" sz="1700" b="1" dirty="0">
                <a:solidFill>
                  <a:srgbClr val="C9D8E6"/>
                </a:solidFill>
                <a:latin typeface="Trebuchet MS" pitchFamily="34" charset="0"/>
                <a:ea typeface="Trebuchet MS" pitchFamily="34" charset="-122"/>
                <a:cs typeface="Trebuchet MS" pitchFamily="34" charset="-120"/>
              </a:rPr>
              <a:t>07</a:t>
            </a:r>
            <a:endParaRPr lang="en-US" sz="1700" dirty="0"/>
          </a:p>
        </p:txBody>
      </p:sp>
      <p:sp>
        <p:nvSpPr>
          <p:cNvPr id="38" name="Text 29"/>
          <p:cNvSpPr/>
          <p:nvPr/>
        </p:nvSpPr>
        <p:spPr>
          <a:xfrm>
            <a:off x="5065776" y="3877056"/>
            <a:ext cx="1664208" cy="502920"/>
          </a:xfrm>
          <a:prstGeom prst="rect">
            <a:avLst/>
          </a:prstGeom>
          <a:noFill/>
          <a:ln/>
        </p:spPr>
        <p:txBody>
          <a:bodyPr wrap="square" lIns="0" tIns="0" rIns="0" bIns="0" rtlCol="0" anchor="t"/>
          <a:lstStyle/>
          <a:p>
            <a:pPr marL="0" indent="0">
              <a:lnSpc>
                <a:spcPts val="1500"/>
              </a:lnSpc>
              <a:buNone/>
            </a:pPr>
            <a:r>
              <a:rPr lang="en-US" sz="1250" b="1" dirty="0">
                <a:solidFill>
                  <a:srgbClr val="2A3B4D"/>
                </a:solidFill>
                <a:latin typeface="Trebuchet MS" pitchFamily="34" charset="0"/>
                <a:ea typeface="Trebuchet MS" pitchFamily="34" charset="-122"/>
                <a:cs typeface="Trebuchet MS" pitchFamily="34" charset="-120"/>
              </a:rPr>
              <a:t>Cloud cost concepts</a:t>
            </a:r>
            <a:endParaRPr lang="en-US" sz="1250" dirty="0"/>
          </a:p>
        </p:txBody>
      </p:sp>
      <p:sp>
        <p:nvSpPr>
          <p:cNvPr id="39" name="card">
            <a:extLst>
              <a:ext uri="{C183D7F6-B498-43B3-948B-1728B52AA6E4}">
                <adec:decorative xmlns:adec="http://schemas.microsoft.com/office/drawing/2017/decorative" val="1"/>
              </a:ext>
            </a:extLst>
          </p:cNvPr>
          <p:cNvSpPr/>
          <p:nvPr/>
        </p:nvSpPr>
        <p:spPr>
          <a:xfrm>
            <a:off x="7095744" y="3035808"/>
            <a:ext cx="1956816" cy="1417320"/>
          </a:xfrm>
          <a:prstGeom prst="roundRect">
            <a:avLst>
              <a:gd name="adj" fmla="val 709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40" name="icon tile">
            <a:extLst>
              <a:ext uri="{C183D7F6-B498-43B3-948B-1728B52AA6E4}">
                <adec:decorative xmlns:adec="http://schemas.microsoft.com/office/drawing/2017/decorative" val="1"/>
              </a:ext>
            </a:extLst>
          </p:cNvPr>
          <p:cNvSpPr/>
          <p:nvPr/>
        </p:nvSpPr>
        <p:spPr>
          <a:xfrm>
            <a:off x="7242048" y="3182112"/>
            <a:ext cx="603504" cy="603504"/>
          </a:xfrm>
          <a:prstGeom prst="roundRect">
            <a:avLst>
              <a:gd name="adj" fmla="val 21212"/>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41" name="Image 7" descr="portal icon"/>
          <p:cNvPicPr>
            <a:picLocks noChangeAspect="1"/>
          </p:cNvPicPr>
          <p:nvPr/>
        </p:nvPicPr>
        <p:blipFill>
          <a:blip r:embed="rId10"/>
          <a:stretch>
            <a:fillRect/>
          </a:stretch>
        </p:blipFill>
        <p:spPr>
          <a:xfrm>
            <a:off x="7332574" y="3316537"/>
            <a:ext cx="422453" cy="334654"/>
          </a:xfrm>
          <a:prstGeom prst="rect">
            <a:avLst/>
          </a:prstGeom>
        </p:spPr>
      </p:pic>
      <p:sp>
        <p:nvSpPr>
          <p:cNvPr id="42" name="Text 32"/>
          <p:cNvSpPr/>
          <p:nvPr/>
        </p:nvSpPr>
        <p:spPr>
          <a:xfrm>
            <a:off x="8412480" y="3163824"/>
            <a:ext cx="512064" cy="320040"/>
          </a:xfrm>
          <a:prstGeom prst="rect">
            <a:avLst/>
          </a:prstGeom>
          <a:noFill/>
          <a:ln/>
        </p:spPr>
        <p:txBody>
          <a:bodyPr wrap="square" lIns="0" tIns="0" rIns="0" bIns="0" rtlCol="0" anchor="ctr"/>
          <a:lstStyle/>
          <a:p>
            <a:pPr marL="0" indent="0" algn="r">
              <a:buNone/>
            </a:pPr>
            <a:r>
              <a:rPr lang="en-US" sz="1700" b="1" dirty="0">
                <a:solidFill>
                  <a:srgbClr val="C9D8E6"/>
                </a:solidFill>
                <a:latin typeface="Trebuchet MS" pitchFamily="34" charset="0"/>
                <a:ea typeface="Trebuchet MS" pitchFamily="34" charset="-122"/>
                <a:cs typeface="Trebuchet MS" pitchFamily="34" charset="-120"/>
              </a:rPr>
              <a:t>08</a:t>
            </a:r>
            <a:endParaRPr lang="en-US" sz="1700" dirty="0"/>
          </a:p>
        </p:txBody>
      </p:sp>
      <p:sp>
        <p:nvSpPr>
          <p:cNvPr id="43" name="Text 33"/>
          <p:cNvSpPr/>
          <p:nvPr/>
        </p:nvSpPr>
        <p:spPr>
          <a:xfrm>
            <a:off x="7242048" y="3877056"/>
            <a:ext cx="1664208" cy="502920"/>
          </a:xfrm>
          <a:prstGeom prst="rect">
            <a:avLst/>
          </a:prstGeom>
          <a:noFill/>
          <a:ln/>
        </p:spPr>
        <p:txBody>
          <a:bodyPr wrap="square" lIns="0" tIns="0" rIns="0" bIns="0" rtlCol="0" anchor="t"/>
          <a:lstStyle/>
          <a:p>
            <a:pPr marL="0" indent="0">
              <a:lnSpc>
                <a:spcPts val="1500"/>
              </a:lnSpc>
              <a:buNone/>
            </a:pPr>
            <a:r>
              <a:rPr lang="en-US" sz="1250" b="1" dirty="0">
                <a:solidFill>
                  <a:srgbClr val="2A3B4D"/>
                </a:solidFill>
                <a:latin typeface="Trebuchet MS" pitchFamily="34" charset="0"/>
                <a:ea typeface="Trebuchet MS" pitchFamily="34" charset="-122"/>
                <a:cs typeface="Trebuchet MS" pitchFamily="34" charset="-120"/>
              </a:rPr>
              <a:t>Azure Portal navigation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1371600"/>
            <a:ext cx="2194560" cy="2194560"/>
          </a:xfrm>
          <a:prstGeom prst="rect">
            <a:avLst/>
          </a:prstGeom>
          <a:noFill/>
          <a:ln/>
        </p:spPr>
        <p:txBody>
          <a:bodyPr wrap="square" lIns="0" tIns="0" rIns="0" bIns="0" rtlCol="0" anchor="ctr"/>
          <a:lstStyle/>
          <a:p>
            <a:pPr marL="0" indent="0" algn="l">
              <a:buNone/>
            </a:pPr>
            <a:r>
              <a:rPr lang="en-US" sz="15000" b="1" dirty="0">
                <a:solidFill>
                  <a:srgbClr val="54C6A8"/>
                </a:solidFill>
                <a:latin typeface="Trebuchet MS" pitchFamily="34" charset="0"/>
                <a:ea typeface="Trebuchet MS" pitchFamily="34" charset="-122"/>
                <a:cs typeface="Trebuchet MS" pitchFamily="34" charset="-120"/>
              </a:rPr>
              <a:t>01</a:t>
            </a:r>
            <a:endParaRPr lang="en-US" sz="15000" dirty="0"/>
          </a:p>
        </p:txBody>
      </p:sp>
      <p:sp>
        <p:nvSpPr>
          <p:cNvPr id="3" name="icon tile">
            <a:extLst>
              <a:ext uri="{C183D7F6-B498-43B3-948B-1728B52AA6E4}">
                <adec:decorative xmlns:adec="http://schemas.microsoft.com/office/drawing/2017/decorative" val="1"/>
              </a:ext>
            </a:extLst>
          </p:cNvPr>
          <p:cNvSpPr/>
          <p:nvPr/>
        </p:nvSpPr>
        <p:spPr>
          <a:xfrm>
            <a:off x="7360920" y="685800"/>
            <a:ext cx="1097280" cy="1097280"/>
          </a:xfrm>
          <a:prstGeom prst="roundRect">
            <a:avLst>
              <a:gd name="adj" fmla="val 116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4" name="Image 0" descr="cloud icon"/>
          <p:cNvPicPr>
            <a:picLocks noChangeAspect="1"/>
          </p:cNvPicPr>
          <p:nvPr/>
        </p:nvPicPr>
        <p:blipFill>
          <a:blip r:embed="rId3"/>
          <a:stretch>
            <a:fillRect/>
          </a:stretch>
        </p:blipFill>
        <p:spPr>
          <a:xfrm>
            <a:off x="7525512" y="850392"/>
            <a:ext cx="768096" cy="768096"/>
          </a:xfrm>
          <a:prstGeom prst="rect">
            <a:avLst/>
          </a:prstGeom>
        </p:spPr>
      </p:pic>
      <p:sp>
        <p:nvSpPr>
          <p:cNvPr id="5" name="Text 2"/>
          <p:cNvSpPr/>
          <p:nvPr/>
        </p:nvSpPr>
        <p:spPr>
          <a:xfrm>
            <a:off x="1755648" y="1572768"/>
            <a:ext cx="5486400" cy="274320"/>
          </a:xfrm>
          <a:prstGeom prst="rect">
            <a:avLst/>
          </a:prstGeom>
          <a:noFill/>
          <a:ln/>
        </p:spPr>
        <p:txBody>
          <a:bodyPr wrap="square" lIns="0" tIns="0" rIns="0" bIns="0" rtlCol="0" anchor="ctr"/>
          <a:lstStyle/>
          <a:p>
            <a:pPr marL="0" indent="0">
              <a:buNone/>
            </a:pPr>
            <a:r>
              <a:rPr lang="en-US" sz="1300" b="1" kern="0" spc="300" dirty="0">
                <a:solidFill>
                  <a:srgbClr val="54C6A8"/>
                </a:solidFill>
                <a:latin typeface="Trebuchet MS" pitchFamily="34" charset="0"/>
                <a:ea typeface="Trebuchet MS" pitchFamily="34" charset="-122"/>
                <a:cs typeface="Trebuchet MS" pitchFamily="34" charset="-120"/>
              </a:rPr>
              <a:t>PART 01</a:t>
            </a:r>
            <a:endParaRPr lang="en-US" sz="1300" dirty="0"/>
          </a:p>
        </p:txBody>
      </p:sp>
      <p:sp>
        <p:nvSpPr>
          <p:cNvPr id="6" name="Text 0"/>
          <p:cNvSpPr>
            <a:spLocks noGrp="1"/>
          </p:cNvSpPr>
          <p:nvPr>
            <p:ph type="title" idx="100" hasCustomPrompt="1"/>
          </p:nvPr>
        </p:nvSpPr>
        <p:spPr>
          <a:xfrm>
            <a:off x="1737360" y="1965960"/>
            <a:ext cx="6766560" cy="914400"/>
          </a:xfrm>
          <a:prstGeom prst="rect">
            <a:avLst/>
          </a:prstGeom>
          <a:noFill/>
          <a:ln/>
        </p:spPr>
        <p:txBody>
          <a:bodyPr wrap="square" lIns="0" tIns="0" rIns="0" bIns="0" rtlCol="0"/>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Cloud Foundations</a:t>
            </a:r>
            <a:endParaRPr lang="en-US" sz="3400" dirty="0"/>
          </a:p>
        </p:txBody>
      </p:sp>
      <p:sp>
        <p:nvSpPr>
          <p:cNvPr id="7" name="chip">
            <a:extLst>
              <a:ext uri="{C183D7F6-B498-43B3-948B-1728B52AA6E4}">
                <adec:decorative xmlns:adec="http://schemas.microsoft.com/office/drawing/2017/decorative" val="1"/>
              </a:ext>
            </a:extLst>
          </p:cNvPr>
          <p:cNvSpPr/>
          <p:nvPr/>
        </p:nvSpPr>
        <p:spPr>
          <a:xfrm>
            <a:off x="1755648" y="3063240"/>
            <a:ext cx="1475842"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8" name="Text 5"/>
          <p:cNvSpPr/>
          <p:nvPr/>
        </p:nvSpPr>
        <p:spPr>
          <a:xfrm>
            <a:off x="1755648" y="3063240"/>
            <a:ext cx="1475842"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What is cloud</a:t>
            </a:r>
            <a:endParaRPr lang="en-US" sz="1200" dirty="0"/>
          </a:p>
        </p:txBody>
      </p:sp>
      <p:sp>
        <p:nvSpPr>
          <p:cNvPr id="9" name="chip">
            <a:extLst>
              <a:ext uri="{C183D7F6-B498-43B3-948B-1728B52AA6E4}">
                <adec:decorative xmlns:adec="http://schemas.microsoft.com/office/drawing/2017/decorative" val="1"/>
              </a:ext>
            </a:extLst>
          </p:cNvPr>
          <p:cNvSpPr/>
          <p:nvPr/>
        </p:nvSpPr>
        <p:spPr>
          <a:xfrm>
            <a:off x="3432658" y="3063240"/>
            <a:ext cx="1565453"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10" name="Text 7"/>
          <p:cNvSpPr/>
          <p:nvPr/>
        </p:nvSpPr>
        <p:spPr>
          <a:xfrm>
            <a:off x="3432658" y="3063240"/>
            <a:ext cx="1565453"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Why it matters</a:t>
            </a:r>
            <a:endParaRPr lang="en-US" sz="1200" dirty="0"/>
          </a:p>
        </p:txBody>
      </p:sp>
      <p:sp>
        <p:nvSpPr>
          <p:cNvPr id="11" name="chip">
            <a:extLst>
              <a:ext uri="{C183D7F6-B498-43B3-948B-1728B52AA6E4}">
                <adec:decorative xmlns:adec="http://schemas.microsoft.com/office/drawing/2017/decorative" val="1"/>
              </a:ext>
            </a:extLst>
          </p:cNvPr>
          <p:cNvSpPr/>
          <p:nvPr/>
        </p:nvSpPr>
        <p:spPr>
          <a:xfrm>
            <a:off x="5199278" y="3063240"/>
            <a:ext cx="2730398"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12" name="Text 9"/>
          <p:cNvSpPr/>
          <p:nvPr/>
        </p:nvSpPr>
        <p:spPr>
          <a:xfrm>
            <a:off x="5199278" y="3063240"/>
            <a:ext cx="2730398"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Service &amp; deployment models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CLOUD COMPUTING CONCEPTS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What is cloud computing?</a:t>
            </a:r>
            <a:endParaRPr lang="en-US" sz="3000" dirty="0"/>
          </a:p>
        </p:txBody>
      </p:sp>
      <p:sp>
        <p:nvSpPr>
          <p:cNvPr id="4" name="Text 2"/>
          <p:cNvSpPr/>
          <p:nvPr/>
        </p:nvSpPr>
        <p:spPr>
          <a:xfrm>
            <a:off x="566928" y="1417320"/>
            <a:ext cx="4892040" cy="1097280"/>
          </a:xfrm>
          <a:prstGeom prst="rect">
            <a:avLst/>
          </a:prstGeom>
          <a:noFill/>
          <a:ln/>
        </p:spPr>
        <p:txBody>
          <a:bodyPr wrap="square" lIns="0" tIns="0" rIns="0" bIns="0" rtlCol="0" anchor="t"/>
          <a:lstStyle/>
          <a:p>
            <a:pPr marL="0" indent="0">
              <a:lnSpc>
                <a:spcPts val="2200"/>
              </a:lnSpc>
              <a:buNone/>
            </a:pPr>
            <a:r>
              <a:rPr lang="en-US" sz="1600" dirty="0">
                <a:solidFill>
                  <a:srgbClr val="2A3B4D"/>
                </a:solidFill>
                <a:latin typeface="Calibri" pitchFamily="34" charset="0"/>
                <a:ea typeface="Calibri" pitchFamily="34" charset="-122"/>
                <a:cs typeface="Calibri" pitchFamily="34" charset="-120"/>
              </a:rPr>
              <a:t>Cloud computing means renting computing power — servers, storage, databases, networking and software — over the internet, and paying only for what you use.</a:t>
            </a:r>
            <a:endParaRPr lang="en-US" sz="1600" dirty="0"/>
          </a:p>
        </p:txBody>
      </p:sp>
      <p:sp>
        <p:nvSpPr>
          <p:cNvPr id="5" name="Text 3"/>
          <p:cNvSpPr/>
          <p:nvPr/>
        </p:nvSpPr>
        <p:spPr>
          <a:xfrm>
            <a:off x="603504" y="2514600"/>
            <a:ext cx="4846320" cy="15544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2A3B4D"/>
                </a:solidFill>
                <a:latin typeface="Calibri" pitchFamily="34" charset="0"/>
                <a:ea typeface="Calibri" pitchFamily="34" charset="-122"/>
                <a:cs typeface="Calibri" pitchFamily="34" charset="-120"/>
              </a:rPr>
              <a:t>On-demand — spin resources up in minutes</a:t>
            </a:r>
            <a:endParaRPr lang="en-US" sz="1350" dirty="0"/>
          </a:p>
          <a:p>
            <a:pPr marL="177800" indent="-177800">
              <a:spcAft>
                <a:spcPts val="600"/>
              </a:spcAft>
              <a:buSzPct val="100000"/>
              <a:buChar char="•"/>
            </a:pPr>
            <a:r>
              <a:rPr lang="en-US" sz="1350" dirty="0">
                <a:solidFill>
                  <a:srgbClr val="2A3B4D"/>
                </a:solidFill>
                <a:latin typeface="Calibri" pitchFamily="34" charset="0"/>
                <a:ea typeface="Calibri" pitchFamily="34" charset="-122"/>
                <a:cs typeface="Calibri" pitchFamily="34" charset="-120"/>
              </a:rPr>
              <a:t>Pay-as-you-go — no big upfront purchase</a:t>
            </a:r>
            <a:endParaRPr lang="en-US" sz="1350" dirty="0"/>
          </a:p>
          <a:p>
            <a:pPr marL="177800" indent="-177800">
              <a:spcAft>
                <a:spcPts val="600"/>
              </a:spcAft>
              <a:buSzPct val="100000"/>
              <a:buChar char="•"/>
            </a:pPr>
            <a:r>
              <a:rPr lang="en-US" sz="1350" dirty="0">
                <a:solidFill>
                  <a:srgbClr val="2A3B4D"/>
                </a:solidFill>
                <a:latin typeface="Calibri" pitchFamily="34" charset="0"/>
                <a:ea typeface="Calibri" pitchFamily="34" charset="-122"/>
                <a:cs typeface="Calibri" pitchFamily="34" charset="-120"/>
              </a:rPr>
              <a:t>Reachable from anywhere over the internet</a:t>
            </a:r>
            <a:endParaRPr lang="en-US" sz="1350" dirty="0"/>
          </a:p>
          <a:p>
            <a:pPr marL="177800" indent="-177800">
              <a:spcAft>
                <a:spcPts val="600"/>
              </a:spcAft>
              <a:buSzPct val="100000"/>
              <a:buChar char="•"/>
            </a:pPr>
            <a:r>
              <a:rPr lang="en-US" sz="1350" dirty="0">
                <a:solidFill>
                  <a:srgbClr val="2A3B4D"/>
                </a:solidFill>
                <a:latin typeface="Calibri" pitchFamily="34" charset="0"/>
                <a:ea typeface="Calibri" pitchFamily="34" charset="-122"/>
                <a:cs typeface="Calibri" pitchFamily="34" charset="-120"/>
              </a:rPr>
              <a:t>Maintained by the cloud provider, not you</a:t>
            </a:r>
            <a:endParaRPr lang="en-US" sz="1350" dirty="0"/>
          </a:p>
        </p:txBody>
      </p:sp>
      <p:sp>
        <p:nvSpPr>
          <p:cNvPr id="6" name="meme card">
            <a:extLst>
              <a:ext uri="{C183D7F6-B498-43B3-948B-1728B52AA6E4}">
                <adec:decorative xmlns:adec="http://schemas.microsoft.com/office/drawing/2017/decorative" val="1"/>
              </a:ext>
            </a:extLst>
          </p:cNvPr>
          <p:cNvSpPr/>
          <p:nvPr/>
        </p:nvSpPr>
        <p:spPr>
          <a:xfrm>
            <a:off x="5715000" y="851026"/>
            <a:ext cx="2880360" cy="2148974"/>
          </a:xfrm>
          <a:prstGeom prst="roundRect">
            <a:avLst>
              <a:gd name="adj" fmla="val 7333"/>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7" name="Image 0" descr="Old Man Yells at Cloud meme"/>
          <p:cNvPicPr>
            <a:picLocks noChangeAspect="1"/>
          </p:cNvPicPr>
          <p:nvPr/>
        </p:nvPicPr>
        <p:blipFill>
          <a:blip r:embed="rId3"/>
          <a:stretch>
            <a:fillRect/>
          </a:stretch>
        </p:blipFill>
        <p:spPr>
          <a:xfrm>
            <a:off x="5887945" y="901639"/>
            <a:ext cx="2580189" cy="2047748"/>
          </a:xfrm>
          <a:prstGeom prst="rect">
            <a:avLst/>
          </a:prstGeom>
        </p:spPr>
      </p:pic>
      <p:sp>
        <p:nvSpPr>
          <p:cNvPr id="8" name="card">
            <a:extLst>
              <a:ext uri="{C183D7F6-B498-43B3-948B-1728B52AA6E4}">
                <adec:decorative xmlns:adec="http://schemas.microsoft.com/office/drawing/2017/decorative" val="1"/>
              </a:ext>
            </a:extLst>
          </p:cNvPr>
          <p:cNvSpPr/>
          <p:nvPr/>
        </p:nvSpPr>
        <p:spPr>
          <a:xfrm>
            <a:off x="5715000" y="3154680"/>
            <a:ext cx="2880360" cy="1371600"/>
          </a:xfrm>
          <a:prstGeom prst="roundRect">
            <a:avLst>
              <a:gd name="adj" fmla="val 7333"/>
            </a:avLst>
          </a:prstGeom>
          <a:solidFill>
            <a:srgbClr val="FBE7E1"/>
          </a:solidFill>
          <a:ln w="12700">
            <a:solidFill>
              <a:srgbClr val="F1C9BE"/>
            </a:solidFill>
            <a:prstDash val="solid"/>
          </a:ln>
          <a:effectLst>
            <a:outerShdw blurRad="114300" dist="38100" dir="5400000" algn="bl" rotWithShape="0">
              <a:srgbClr val="8FB2CF">
                <a:alpha val="28000"/>
              </a:srgbClr>
            </a:outerShdw>
          </a:effectLst>
        </p:spPr>
        <p:txBody>
          <a:bodyPr/>
          <a:lstStyle/>
          <a:p>
            <a:endParaRPr lang="en-HU"/>
          </a:p>
        </p:txBody>
      </p:sp>
      <p:sp>
        <p:nvSpPr>
          <p:cNvPr id="9" name="Text 6"/>
          <p:cNvSpPr/>
          <p:nvPr/>
        </p:nvSpPr>
        <p:spPr>
          <a:xfrm>
            <a:off x="5943600" y="3310128"/>
            <a:ext cx="2468880" cy="228600"/>
          </a:xfrm>
          <a:prstGeom prst="rect">
            <a:avLst/>
          </a:prstGeom>
          <a:noFill/>
          <a:ln/>
        </p:spPr>
        <p:txBody>
          <a:bodyPr wrap="square" lIns="0" tIns="0" rIns="0" bIns="0" rtlCol="0" anchor="ctr"/>
          <a:lstStyle/>
          <a:p>
            <a:pPr marL="0" indent="0">
              <a:buNone/>
            </a:pPr>
            <a:r>
              <a:rPr lang="en-US" sz="1100" b="1" kern="0" spc="150" dirty="0">
                <a:solidFill>
                  <a:srgbClr val="EF6F58"/>
                </a:solidFill>
                <a:latin typeface="Trebuchet MS" pitchFamily="34" charset="0"/>
                <a:ea typeface="Trebuchet MS" pitchFamily="34" charset="-122"/>
                <a:cs typeface="Trebuchet MS" pitchFamily="34" charset="-120"/>
              </a:rPr>
              <a:t>IN PLAIN TERMS</a:t>
            </a:r>
            <a:endParaRPr lang="en-US" sz="1100" dirty="0"/>
          </a:p>
        </p:txBody>
      </p:sp>
      <p:sp>
        <p:nvSpPr>
          <p:cNvPr id="10" name="Text 7"/>
          <p:cNvSpPr/>
          <p:nvPr/>
        </p:nvSpPr>
        <p:spPr>
          <a:xfrm>
            <a:off x="5943600" y="3566160"/>
            <a:ext cx="2432304" cy="868680"/>
          </a:xfrm>
          <a:prstGeom prst="rect">
            <a:avLst/>
          </a:prstGeom>
          <a:noFill/>
          <a:ln/>
        </p:spPr>
        <p:txBody>
          <a:bodyPr wrap="square" lIns="0" tIns="0" rIns="0" bIns="0" rtlCol="0" anchor="t"/>
          <a:lstStyle/>
          <a:p>
            <a:pPr marL="0" indent="0">
              <a:lnSpc>
                <a:spcPts val="1600"/>
              </a:lnSpc>
              <a:buNone/>
            </a:pPr>
            <a:r>
              <a:rPr lang="en-US" sz="1250" i="1" dirty="0">
                <a:solidFill>
                  <a:srgbClr val="2A3B4D"/>
                </a:solidFill>
                <a:latin typeface="Calibri" pitchFamily="34" charset="0"/>
                <a:ea typeface="Calibri" pitchFamily="34" charset="-122"/>
                <a:cs typeface="Calibri" pitchFamily="34" charset="-120"/>
              </a:rPr>
              <a:t>Like electricity: flip a switch and pay for the power you use — you don't build your own power plant.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WHY ORGANIZATIONS MOVE TO THE CLOUD</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Four reasons the cloud wins</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481328"/>
            <a:ext cx="1975104" cy="2514600"/>
          </a:xfrm>
          <a:prstGeom prst="roundRect">
            <a:avLst>
              <a:gd name="adj" fmla="val 5093"/>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1120140" y="1737360"/>
            <a:ext cx="868680" cy="868680"/>
          </a:xfrm>
          <a:prstGeom prst="roundRect">
            <a:avLst>
              <a:gd name="adj" fmla="val 14737"/>
            </a:avLst>
          </a:prstGeom>
          <a:solidFill>
            <a:srgbClr val="E2F3EE"/>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scale icon"/>
          <p:cNvPicPr>
            <a:picLocks noChangeAspect="1"/>
          </p:cNvPicPr>
          <p:nvPr/>
        </p:nvPicPr>
        <p:blipFill>
          <a:blip r:embed="rId3"/>
          <a:stretch>
            <a:fillRect/>
          </a:stretch>
        </p:blipFill>
        <p:spPr>
          <a:xfrm>
            <a:off x="1250442" y="1928381"/>
            <a:ext cx="608076" cy="486638"/>
          </a:xfrm>
          <a:prstGeom prst="rect">
            <a:avLst/>
          </a:prstGeom>
        </p:spPr>
      </p:pic>
      <p:sp>
        <p:nvSpPr>
          <p:cNvPr id="7" name="Text 4"/>
          <p:cNvSpPr/>
          <p:nvPr/>
        </p:nvSpPr>
        <p:spPr>
          <a:xfrm>
            <a:off x="694944" y="2761488"/>
            <a:ext cx="1719072" cy="457200"/>
          </a:xfrm>
          <a:prstGeom prst="rect">
            <a:avLst/>
          </a:prstGeom>
          <a:noFill/>
          <a:ln/>
        </p:spPr>
        <p:txBody>
          <a:bodyPr wrap="square" lIns="0" tIns="0" rIns="0" bIns="0" rtlCol="0" anchor="ctr"/>
          <a:lstStyle/>
          <a:p>
            <a:pPr marL="0" indent="0" algn="ctr">
              <a:lnSpc>
                <a:spcPts val="1600"/>
              </a:lnSpc>
              <a:buNone/>
            </a:pPr>
            <a:r>
              <a:rPr lang="en-US" sz="1450" b="1" dirty="0">
                <a:solidFill>
                  <a:srgbClr val="2FA98A"/>
                </a:solidFill>
                <a:latin typeface="Trebuchet MS" pitchFamily="34" charset="0"/>
                <a:ea typeface="Trebuchet MS" pitchFamily="34" charset="-122"/>
                <a:cs typeface="Trebuchet MS" pitchFamily="34" charset="-120"/>
              </a:rPr>
              <a:t>Scale on demand</a:t>
            </a:r>
            <a:endParaRPr lang="en-US" sz="1450" dirty="0"/>
          </a:p>
        </p:txBody>
      </p:sp>
      <p:sp>
        <p:nvSpPr>
          <p:cNvPr id="8" name="Text 5"/>
          <p:cNvSpPr/>
          <p:nvPr/>
        </p:nvSpPr>
        <p:spPr>
          <a:xfrm>
            <a:off x="713232" y="3236976"/>
            <a:ext cx="1682496" cy="731520"/>
          </a:xfrm>
          <a:prstGeom prst="rect">
            <a:avLst/>
          </a:prstGeom>
          <a:noFill/>
          <a:ln/>
        </p:spPr>
        <p:txBody>
          <a:bodyPr wrap="square" lIns="0" tIns="0" rIns="0" bIns="0" rtlCol="0" anchor="t"/>
          <a:lstStyle/>
          <a:p>
            <a:pPr marL="0" indent="0" algn="ctr">
              <a:lnSpc>
                <a:spcPts val="1500"/>
              </a:lnSpc>
              <a:buNone/>
            </a:pPr>
            <a:r>
              <a:rPr lang="en-US" sz="1200" dirty="0">
                <a:solidFill>
                  <a:srgbClr val="2A3B4D"/>
                </a:solidFill>
                <a:latin typeface="Calibri" pitchFamily="34" charset="0"/>
                <a:ea typeface="Calibri" pitchFamily="34" charset="-122"/>
                <a:cs typeface="Calibri" pitchFamily="34" charset="-120"/>
              </a:rPr>
              <a:t>Add or remove capacity in minutes as needs change.</a:t>
            </a:r>
            <a:endParaRPr lang="en-US" sz="1200" dirty="0"/>
          </a:p>
        </p:txBody>
      </p:sp>
      <p:sp>
        <p:nvSpPr>
          <p:cNvPr id="9" name="card">
            <a:extLst>
              <a:ext uri="{C183D7F6-B498-43B3-948B-1728B52AA6E4}">
                <adec:decorative xmlns:adec="http://schemas.microsoft.com/office/drawing/2017/decorative" val="1"/>
              </a:ext>
            </a:extLst>
          </p:cNvPr>
          <p:cNvSpPr/>
          <p:nvPr/>
        </p:nvSpPr>
        <p:spPr>
          <a:xfrm>
            <a:off x="2743200" y="1481328"/>
            <a:ext cx="1975104" cy="2514600"/>
          </a:xfrm>
          <a:prstGeom prst="roundRect">
            <a:avLst>
              <a:gd name="adj" fmla="val 5093"/>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0" name="icon tile">
            <a:extLst>
              <a:ext uri="{C183D7F6-B498-43B3-948B-1728B52AA6E4}">
                <adec:decorative xmlns:adec="http://schemas.microsoft.com/office/drawing/2017/decorative" val="1"/>
              </a:ext>
            </a:extLst>
          </p:cNvPr>
          <p:cNvSpPr/>
          <p:nvPr/>
        </p:nvSpPr>
        <p:spPr>
          <a:xfrm>
            <a:off x="3296412" y="1737360"/>
            <a:ext cx="868680" cy="868680"/>
          </a:xfrm>
          <a:prstGeom prst="roundRect">
            <a:avLst>
              <a:gd name="adj" fmla="val 14737"/>
            </a:avLst>
          </a:prstGeom>
          <a:solidFill>
            <a:srgbClr val="FBE7E1"/>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1" name="Image 1" descr="coins icon"/>
          <p:cNvPicPr>
            <a:picLocks noChangeAspect="1"/>
          </p:cNvPicPr>
          <p:nvPr/>
        </p:nvPicPr>
        <p:blipFill>
          <a:blip r:embed="rId4"/>
          <a:stretch>
            <a:fillRect/>
          </a:stretch>
        </p:blipFill>
        <p:spPr>
          <a:xfrm>
            <a:off x="3426714" y="1867662"/>
            <a:ext cx="608076" cy="608076"/>
          </a:xfrm>
          <a:prstGeom prst="rect">
            <a:avLst/>
          </a:prstGeom>
        </p:spPr>
      </p:pic>
      <p:sp>
        <p:nvSpPr>
          <p:cNvPr id="12" name="Text 8"/>
          <p:cNvSpPr/>
          <p:nvPr/>
        </p:nvSpPr>
        <p:spPr>
          <a:xfrm>
            <a:off x="2871216" y="2761488"/>
            <a:ext cx="1719072" cy="457200"/>
          </a:xfrm>
          <a:prstGeom prst="rect">
            <a:avLst/>
          </a:prstGeom>
          <a:noFill/>
          <a:ln/>
        </p:spPr>
        <p:txBody>
          <a:bodyPr wrap="square" lIns="0" tIns="0" rIns="0" bIns="0" rtlCol="0" anchor="ctr"/>
          <a:lstStyle/>
          <a:p>
            <a:pPr marL="0" indent="0" algn="ctr">
              <a:lnSpc>
                <a:spcPts val="1600"/>
              </a:lnSpc>
              <a:buNone/>
            </a:pPr>
            <a:r>
              <a:rPr lang="en-US" sz="1450" b="1" dirty="0">
                <a:solidFill>
                  <a:srgbClr val="EF6F58"/>
                </a:solidFill>
                <a:latin typeface="Trebuchet MS" pitchFamily="34" charset="0"/>
                <a:ea typeface="Trebuchet MS" pitchFamily="34" charset="-122"/>
                <a:cs typeface="Trebuchet MS" pitchFamily="34" charset="-120"/>
              </a:rPr>
              <a:t>Pay only for use</a:t>
            </a:r>
            <a:endParaRPr lang="en-US" sz="1450" dirty="0"/>
          </a:p>
        </p:txBody>
      </p:sp>
      <p:sp>
        <p:nvSpPr>
          <p:cNvPr id="13" name="Text 9"/>
          <p:cNvSpPr/>
          <p:nvPr/>
        </p:nvSpPr>
        <p:spPr>
          <a:xfrm>
            <a:off x="2889504" y="3236976"/>
            <a:ext cx="1682496" cy="731520"/>
          </a:xfrm>
          <a:prstGeom prst="rect">
            <a:avLst/>
          </a:prstGeom>
          <a:noFill/>
          <a:ln/>
        </p:spPr>
        <p:txBody>
          <a:bodyPr wrap="square" lIns="0" tIns="0" rIns="0" bIns="0" rtlCol="0" anchor="t"/>
          <a:lstStyle/>
          <a:p>
            <a:pPr marL="0" indent="0" algn="ctr">
              <a:lnSpc>
                <a:spcPts val="1500"/>
              </a:lnSpc>
              <a:buNone/>
            </a:pPr>
            <a:r>
              <a:rPr lang="en-US" sz="1200" dirty="0">
                <a:solidFill>
                  <a:srgbClr val="2A3B4D"/>
                </a:solidFill>
                <a:latin typeface="Calibri" pitchFamily="34" charset="0"/>
                <a:ea typeface="Calibri" pitchFamily="34" charset="-122"/>
                <a:cs typeface="Calibri" pitchFamily="34" charset="-120"/>
              </a:rPr>
              <a:t>Turn a big upfront cost into a flexible monthly bill.</a:t>
            </a:r>
            <a:endParaRPr lang="en-US" sz="1200" dirty="0"/>
          </a:p>
        </p:txBody>
      </p:sp>
      <p:sp>
        <p:nvSpPr>
          <p:cNvPr id="14" name="card">
            <a:extLst>
              <a:ext uri="{C183D7F6-B498-43B3-948B-1728B52AA6E4}">
                <adec:decorative xmlns:adec="http://schemas.microsoft.com/office/drawing/2017/decorative" val="1"/>
              </a:ext>
            </a:extLst>
          </p:cNvPr>
          <p:cNvSpPr/>
          <p:nvPr/>
        </p:nvSpPr>
        <p:spPr>
          <a:xfrm>
            <a:off x="4919472" y="1481328"/>
            <a:ext cx="1975104" cy="2514600"/>
          </a:xfrm>
          <a:prstGeom prst="roundRect">
            <a:avLst>
              <a:gd name="adj" fmla="val 5093"/>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5" name="icon tile">
            <a:extLst>
              <a:ext uri="{C183D7F6-B498-43B3-948B-1728B52AA6E4}">
                <adec:decorative xmlns:adec="http://schemas.microsoft.com/office/drawing/2017/decorative" val="1"/>
              </a:ext>
            </a:extLst>
          </p:cNvPr>
          <p:cNvSpPr/>
          <p:nvPr/>
        </p:nvSpPr>
        <p:spPr>
          <a:xfrm>
            <a:off x="5472684" y="1737360"/>
            <a:ext cx="868680" cy="868680"/>
          </a:xfrm>
          <a:prstGeom prst="roundRect">
            <a:avLst>
              <a:gd name="adj" fmla="val 14737"/>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6" name="Image 2" descr="globe icon"/>
          <p:cNvPicPr>
            <a:picLocks noChangeAspect="1"/>
          </p:cNvPicPr>
          <p:nvPr/>
        </p:nvPicPr>
        <p:blipFill>
          <a:blip r:embed="rId5"/>
          <a:stretch>
            <a:fillRect/>
          </a:stretch>
        </p:blipFill>
        <p:spPr>
          <a:xfrm>
            <a:off x="5602986" y="1891165"/>
            <a:ext cx="608076" cy="561070"/>
          </a:xfrm>
          <a:prstGeom prst="rect">
            <a:avLst/>
          </a:prstGeom>
        </p:spPr>
      </p:pic>
      <p:sp>
        <p:nvSpPr>
          <p:cNvPr id="17" name="Text 12"/>
          <p:cNvSpPr/>
          <p:nvPr/>
        </p:nvSpPr>
        <p:spPr>
          <a:xfrm>
            <a:off x="5047488" y="2761488"/>
            <a:ext cx="1719072" cy="457200"/>
          </a:xfrm>
          <a:prstGeom prst="rect">
            <a:avLst/>
          </a:prstGeom>
          <a:noFill/>
          <a:ln/>
        </p:spPr>
        <p:txBody>
          <a:bodyPr wrap="square" lIns="0" tIns="0" rIns="0" bIns="0" rtlCol="0" anchor="ctr"/>
          <a:lstStyle/>
          <a:p>
            <a:pPr marL="0" indent="0" algn="ctr">
              <a:lnSpc>
                <a:spcPts val="1600"/>
              </a:lnSpc>
              <a:buNone/>
            </a:pPr>
            <a:r>
              <a:rPr lang="en-US" sz="1450" b="1" dirty="0">
                <a:solidFill>
                  <a:srgbClr val="2E7CC4"/>
                </a:solidFill>
                <a:latin typeface="Trebuchet MS" pitchFamily="34" charset="0"/>
                <a:ea typeface="Trebuchet MS" pitchFamily="34" charset="-122"/>
                <a:cs typeface="Trebuchet MS" pitchFamily="34" charset="-120"/>
              </a:rPr>
              <a:t>Global reach</a:t>
            </a:r>
            <a:endParaRPr lang="en-US" sz="1450" dirty="0"/>
          </a:p>
        </p:txBody>
      </p:sp>
      <p:sp>
        <p:nvSpPr>
          <p:cNvPr id="18" name="Text 13"/>
          <p:cNvSpPr/>
          <p:nvPr/>
        </p:nvSpPr>
        <p:spPr>
          <a:xfrm>
            <a:off x="5065776" y="3236976"/>
            <a:ext cx="1682496" cy="731520"/>
          </a:xfrm>
          <a:prstGeom prst="rect">
            <a:avLst/>
          </a:prstGeom>
          <a:noFill/>
          <a:ln/>
        </p:spPr>
        <p:txBody>
          <a:bodyPr wrap="square" lIns="0" tIns="0" rIns="0" bIns="0" rtlCol="0" anchor="t"/>
          <a:lstStyle/>
          <a:p>
            <a:pPr marL="0" indent="0" algn="ctr">
              <a:lnSpc>
                <a:spcPts val="1500"/>
              </a:lnSpc>
              <a:buNone/>
            </a:pPr>
            <a:r>
              <a:rPr lang="en-US" sz="1200" dirty="0">
                <a:solidFill>
                  <a:srgbClr val="2A3B4D"/>
                </a:solidFill>
                <a:latin typeface="Calibri" pitchFamily="34" charset="0"/>
                <a:ea typeface="Calibri" pitchFamily="34" charset="-122"/>
                <a:cs typeface="Calibri" pitchFamily="34" charset="-120"/>
              </a:rPr>
              <a:t>Deploy close to users across the world in a few clicks.</a:t>
            </a:r>
            <a:endParaRPr lang="en-US" sz="1200" dirty="0"/>
          </a:p>
        </p:txBody>
      </p:sp>
      <p:sp>
        <p:nvSpPr>
          <p:cNvPr id="19" name="card">
            <a:extLst>
              <a:ext uri="{C183D7F6-B498-43B3-948B-1728B52AA6E4}">
                <adec:decorative xmlns:adec="http://schemas.microsoft.com/office/drawing/2017/decorative" val="1"/>
              </a:ext>
            </a:extLst>
          </p:cNvPr>
          <p:cNvSpPr/>
          <p:nvPr/>
        </p:nvSpPr>
        <p:spPr>
          <a:xfrm>
            <a:off x="7095744" y="1481328"/>
            <a:ext cx="1975104" cy="2514600"/>
          </a:xfrm>
          <a:prstGeom prst="roundRect">
            <a:avLst>
              <a:gd name="adj" fmla="val 5093"/>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0" name="icon tile">
            <a:extLst>
              <a:ext uri="{C183D7F6-B498-43B3-948B-1728B52AA6E4}">
                <adec:decorative xmlns:adec="http://schemas.microsoft.com/office/drawing/2017/decorative" val="1"/>
              </a:ext>
            </a:extLst>
          </p:cNvPr>
          <p:cNvSpPr/>
          <p:nvPr/>
        </p:nvSpPr>
        <p:spPr>
          <a:xfrm>
            <a:off x="7648956" y="1737360"/>
            <a:ext cx="868680" cy="868680"/>
          </a:xfrm>
          <a:prstGeom prst="roundRect">
            <a:avLst>
              <a:gd name="adj" fmla="val 14737"/>
            </a:avLst>
          </a:prstGeom>
          <a:solidFill>
            <a:srgbClr val="FAEFD8"/>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1" name="Image 3" descr="server icon"/>
          <p:cNvPicPr>
            <a:picLocks noChangeAspect="1"/>
          </p:cNvPicPr>
          <p:nvPr/>
        </p:nvPicPr>
        <p:blipFill>
          <a:blip r:embed="rId6"/>
          <a:stretch>
            <a:fillRect/>
          </a:stretch>
        </p:blipFill>
        <p:spPr>
          <a:xfrm>
            <a:off x="7779258" y="1867662"/>
            <a:ext cx="608076" cy="608076"/>
          </a:xfrm>
          <a:prstGeom prst="rect">
            <a:avLst/>
          </a:prstGeom>
        </p:spPr>
      </p:pic>
      <p:sp>
        <p:nvSpPr>
          <p:cNvPr id="22" name="Text 16"/>
          <p:cNvSpPr/>
          <p:nvPr/>
        </p:nvSpPr>
        <p:spPr>
          <a:xfrm>
            <a:off x="7223760" y="2761488"/>
            <a:ext cx="1719072" cy="457200"/>
          </a:xfrm>
          <a:prstGeom prst="rect">
            <a:avLst/>
          </a:prstGeom>
          <a:noFill/>
          <a:ln/>
        </p:spPr>
        <p:txBody>
          <a:bodyPr wrap="square" lIns="0" tIns="0" rIns="0" bIns="0" rtlCol="0" anchor="ctr"/>
          <a:lstStyle/>
          <a:p>
            <a:pPr marL="0" indent="0" algn="ctr">
              <a:lnSpc>
                <a:spcPts val="1600"/>
              </a:lnSpc>
              <a:buNone/>
            </a:pPr>
            <a:r>
              <a:rPr lang="en-US" sz="1450" b="1" dirty="0">
                <a:solidFill>
                  <a:srgbClr val="E4A031"/>
                </a:solidFill>
                <a:latin typeface="Trebuchet MS" pitchFamily="34" charset="0"/>
                <a:ea typeface="Trebuchet MS" pitchFamily="34" charset="-122"/>
                <a:cs typeface="Trebuchet MS" pitchFamily="34" charset="-120"/>
              </a:rPr>
              <a:t>No hardware to run</a:t>
            </a:r>
            <a:endParaRPr lang="en-US" sz="1450" dirty="0"/>
          </a:p>
        </p:txBody>
      </p:sp>
      <p:sp>
        <p:nvSpPr>
          <p:cNvPr id="23" name="Text 17"/>
          <p:cNvSpPr/>
          <p:nvPr/>
        </p:nvSpPr>
        <p:spPr>
          <a:xfrm>
            <a:off x="7242048" y="3236976"/>
            <a:ext cx="1682496" cy="731520"/>
          </a:xfrm>
          <a:prstGeom prst="rect">
            <a:avLst/>
          </a:prstGeom>
          <a:noFill/>
          <a:ln/>
        </p:spPr>
        <p:txBody>
          <a:bodyPr wrap="square" lIns="0" tIns="0" rIns="0" bIns="0" rtlCol="0" anchor="t"/>
          <a:lstStyle/>
          <a:p>
            <a:pPr marL="0" indent="0" algn="ctr">
              <a:lnSpc>
                <a:spcPts val="1500"/>
              </a:lnSpc>
              <a:buNone/>
            </a:pPr>
            <a:r>
              <a:rPr lang="en-US" sz="1200" dirty="0">
                <a:solidFill>
                  <a:srgbClr val="2A3B4D"/>
                </a:solidFill>
                <a:latin typeface="Calibri" pitchFamily="34" charset="0"/>
                <a:ea typeface="Calibri" pitchFamily="34" charset="-122"/>
                <a:cs typeface="Calibri" pitchFamily="34" charset="-120"/>
              </a:rPr>
              <a:t>The provider owns and maintains the physical gear.</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a:solidFill>
                  <a:srgbClr val="EF6F58"/>
                </a:solidFill>
                <a:latin typeface="Trebuchet MS" pitchFamily="34" charset="0"/>
                <a:ea typeface="Trebuchet MS" pitchFamily="34" charset="-122"/>
                <a:cs typeface="Trebuchet MS" pitchFamily="34" charset="-120"/>
              </a:rPr>
              <a:t>WHY ORGANIZATIONS MOVE TO THE CLOUD</a:t>
            </a:r>
            <a:endParaRPr lang="en-US" sz="125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a:solidFill>
                  <a:srgbClr val="1E5386"/>
                </a:solidFill>
                <a:latin typeface="Trebuchet MS" pitchFamily="34" charset="0"/>
                <a:ea typeface="Trebuchet MS" pitchFamily="34" charset="-122"/>
                <a:cs typeface="Trebuchet MS" pitchFamily="34" charset="-120"/>
              </a:rPr>
              <a:t>The cloud's built-in advantages</a:t>
            </a:r>
            <a:endParaRPr lang="en-US" sz="3000"/>
          </a:p>
        </p:txBody>
      </p:sp>
      <p:sp>
        <p:nvSpPr>
          <p:cNvPr id="4" name="card">
            <a:extLst>
              <a:ext uri="{C183D7F6-B498-43B3-948B-1728B52AA6E4}">
                <adec:decorative xmlns:adec="http://schemas.microsoft.com/office/drawing/2017/decorative" val="1"/>
              </a:ext>
            </a:extLst>
          </p:cNvPr>
          <p:cNvSpPr/>
          <p:nvPr/>
        </p:nvSpPr>
        <p:spPr>
          <a:xfrm>
            <a:off x="566928" y="1417320"/>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713232" y="1581912"/>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shields icon"/>
          <p:cNvPicPr>
            <a:picLocks noChangeAspect="1"/>
          </p:cNvPicPr>
          <p:nvPr/>
        </p:nvPicPr>
        <p:blipFill>
          <a:blip r:embed="rId3"/>
          <a:stretch>
            <a:fillRect/>
          </a:stretch>
        </p:blipFill>
        <p:spPr>
          <a:xfrm>
            <a:off x="839510" y="1708190"/>
            <a:ext cx="314372" cy="314372"/>
          </a:xfrm>
          <a:prstGeom prst="rect">
            <a:avLst/>
          </a:prstGeom>
        </p:spPr>
      </p:pic>
      <p:sp>
        <p:nvSpPr>
          <p:cNvPr id="7" name="Text 4"/>
          <p:cNvSpPr/>
          <p:nvPr/>
        </p:nvSpPr>
        <p:spPr>
          <a:xfrm>
            <a:off x="1408176" y="1563624"/>
            <a:ext cx="1655064" cy="365760"/>
          </a:xfrm>
          <a:prstGeom prst="rect">
            <a:avLst/>
          </a:prstGeom>
          <a:noFill/>
          <a:ln/>
        </p:spPr>
        <p:txBody>
          <a:bodyPr wrap="square" lIns="0" tIns="0" rIns="0" bIns="0" rtlCol="0" anchor="ctr"/>
          <a:lstStyle/>
          <a:p>
            <a:pPr marL="0" indent="0">
              <a:buNone/>
            </a:pPr>
            <a:r>
              <a:rPr lang="en-US" sz="1350" b="1">
                <a:solidFill>
                  <a:srgbClr val="1E5386"/>
                </a:solidFill>
                <a:latin typeface="Trebuchet MS" pitchFamily="34" charset="0"/>
                <a:ea typeface="Trebuchet MS" pitchFamily="34" charset="-122"/>
                <a:cs typeface="Trebuchet MS" pitchFamily="34" charset="-120"/>
              </a:rPr>
              <a:t>High availability</a:t>
            </a:r>
            <a:endParaRPr lang="en-US" sz="1350"/>
          </a:p>
        </p:txBody>
      </p:sp>
      <p:sp>
        <p:nvSpPr>
          <p:cNvPr id="8" name="Text 5"/>
          <p:cNvSpPr/>
          <p:nvPr/>
        </p:nvSpPr>
        <p:spPr>
          <a:xfrm>
            <a:off x="731520" y="2075688"/>
            <a:ext cx="2304288" cy="548640"/>
          </a:xfrm>
          <a:prstGeom prst="rect">
            <a:avLst/>
          </a:prstGeom>
          <a:noFill/>
          <a:ln/>
        </p:spPr>
        <p:txBody>
          <a:bodyPr wrap="square" lIns="0" tIns="0" rIns="0" bIns="0" rtlCol="0" anchor="t"/>
          <a:lstStyle/>
          <a:p>
            <a:pPr marL="0" indent="0">
              <a:lnSpc>
                <a:spcPts val="1400"/>
              </a:lnSpc>
              <a:buNone/>
            </a:pPr>
            <a:r>
              <a:rPr lang="en-US" sz="1150">
                <a:solidFill>
                  <a:srgbClr val="2A3B4D"/>
                </a:solidFill>
                <a:latin typeface="Calibri" pitchFamily="34" charset="0"/>
                <a:ea typeface="Calibri" pitchFamily="34" charset="-122"/>
                <a:cs typeface="Calibri" pitchFamily="34" charset="-120"/>
              </a:rPr>
              <a:t>Backed by SLAs and redundancy, so apps stay up even when parts fail.</a:t>
            </a:r>
            <a:endParaRPr lang="en-US" sz="1150"/>
          </a:p>
        </p:txBody>
      </p:sp>
      <p:sp>
        <p:nvSpPr>
          <p:cNvPr id="9" name="card">
            <a:extLst>
              <a:ext uri="{C183D7F6-B498-43B3-948B-1728B52AA6E4}">
                <adec:decorative xmlns:adec="http://schemas.microsoft.com/office/drawing/2017/decorative" val="1"/>
              </a:ext>
            </a:extLst>
          </p:cNvPr>
          <p:cNvSpPr/>
          <p:nvPr/>
        </p:nvSpPr>
        <p:spPr>
          <a:xfrm>
            <a:off x="3401568" y="1417320"/>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0" name="icon tile">
            <a:extLst>
              <a:ext uri="{C183D7F6-B498-43B3-948B-1728B52AA6E4}">
                <adec:decorative xmlns:adec="http://schemas.microsoft.com/office/drawing/2017/decorative" val="1"/>
              </a:ext>
            </a:extLst>
          </p:cNvPr>
          <p:cNvSpPr/>
          <p:nvPr/>
        </p:nvSpPr>
        <p:spPr>
          <a:xfrm>
            <a:off x="3547872" y="1581912"/>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1" name="Image 1" descr="scale icon"/>
          <p:cNvPicPr>
            <a:picLocks noChangeAspect="1"/>
          </p:cNvPicPr>
          <p:nvPr/>
        </p:nvPicPr>
        <p:blipFill>
          <a:blip r:embed="rId4"/>
          <a:stretch>
            <a:fillRect/>
          </a:stretch>
        </p:blipFill>
        <p:spPr>
          <a:xfrm>
            <a:off x="3632911" y="1706578"/>
            <a:ext cx="396850" cy="317595"/>
          </a:xfrm>
          <a:prstGeom prst="rect">
            <a:avLst/>
          </a:prstGeom>
        </p:spPr>
      </p:pic>
      <p:sp>
        <p:nvSpPr>
          <p:cNvPr id="12" name="Text 8"/>
          <p:cNvSpPr/>
          <p:nvPr/>
        </p:nvSpPr>
        <p:spPr>
          <a:xfrm>
            <a:off x="4242816" y="1563624"/>
            <a:ext cx="1655064" cy="365760"/>
          </a:xfrm>
          <a:prstGeom prst="rect">
            <a:avLst/>
          </a:prstGeom>
          <a:noFill/>
          <a:ln/>
        </p:spPr>
        <p:txBody>
          <a:bodyPr wrap="square" lIns="0" tIns="0" rIns="0" bIns="0" rtlCol="0" anchor="ctr"/>
          <a:lstStyle/>
          <a:p>
            <a:pPr marL="0" indent="0">
              <a:buNone/>
            </a:pPr>
            <a:r>
              <a:rPr lang="en-US" sz="1350" b="1">
                <a:solidFill>
                  <a:srgbClr val="1E5386"/>
                </a:solidFill>
                <a:latin typeface="Trebuchet MS" pitchFamily="34" charset="0"/>
                <a:ea typeface="Trebuchet MS" pitchFamily="34" charset="-122"/>
                <a:cs typeface="Trebuchet MS" pitchFamily="34" charset="-120"/>
              </a:rPr>
              <a:t>Scalability</a:t>
            </a:r>
            <a:endParaRPr lang="en-US" sz="1350"/>
          </a:p>
        </p:txBody>
      </p:sp>
      <p:sp>
        <p:nvSpPr>
          <p:cNvPr id="13" name="Text 9"/>
          <p:cNvSpPr/>
          <p:nvPr/>
        </p:nvSpPr>
        <p:spPr>
          <a:xfrm>
            <a:off x="3566160" y="2075688"/>
            <a:ext cx="2304288" cy="548640"/>
          </a:xfrm>
          <a:prstGeom prst="rect">
            <a:avLst/>
          </a:prstGeom>
          <a:noFill/>
          <a:ln/>
        </p:spPr>
        <p:txBody>
          <a:bodyPr wrap="square" lIns="0" tIns="0" rIns="0" bIns="0" rtlCol="0" anchor="t"/>
          <a:lstStyle/>
          <a:p>
            <a:pPr marL="0" indent="0">
              <a:lnSpc>
                <a:spcPts val="1400"/>
              </a:lnSpc>
              <a:buNone/>
            </a:pPr>
            <a:r>
              <a:rPr lang="en-US" sz="1150">
                <a:solidFill>
                  <a:srgbClr val="2A3B4D"/>
                </a:solidFill>
                <a:latin typeface="Calibri" pitchFamily="34" charset="0"/>
                <a:ea typeface="Calibri" pitchFamily="34" charset="-122"/>
                <a:cs typeface="Calibri" pitchFamily="34" charset="-120"/>
              </a:rPr>
              <a:t>Add capacity to meet demand, then release it when you no longer need it.</a:t>
            </a:r>
            <a:endParaRPr lang="en-US" sz="1150"/>
          </a:p>
        </p:txBody>
      </p:sp>
      <p:sp>
        <p:nvSpPr>
          <p:cNvPr id="14" name="card">
            <a:extLst>
              <a:ext uri="{C183D7F6-B498-43B3-948B-1728B52AA6E4}">
                <adec:decorative xmlns:adec="http://schemas.microsoft.com/office/drawing/2017/decorative" val="1"/>
              </a:ext>
            </a:extLst>
          </p:cNvPr>
          <p:cNvSpPr/>
          <p:nvPr/>
        </p:nvSpPr>
        <p:spPr>
          <a:xfrm>
            <a:off x="6236208" y="1417320"/>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5" name="icon tile">
            <a:extLst>
              <a:ext uri="{C183D7F6-B498-43B3-948B-1728B52AA6E4}">
                <adec:decorative xmlns:adec="http://schemas.microsoft.com/office/drawing/2017/decorative" val="1"/>
              </a:ext>
            </a:extLst>
          </p:cNvPr>
          <p:cNvSpPr/>
          <p:nvPr/>
        </p:nvSpPr>
        <p:spPr>
          <a:xfrm>
            <a:off x="6382512" y="1581912"/>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6" name="Image 2" descr="hybrid icon"/>
          <p:cNvPicPr>
            <a:picLocks noChangeAspect="1"/>
          </p:cNvPicPr>
          <p:nvPr/>
        </p:nvPicPr>
        <p:blipFill>
          <a:blip r:embed="rId5"/>
          <a:stretch>
            <a:fillRect/>
          </a:stretch>
        </p:blipFill>
        <p:spPr>
          <a:xfrm>
            <a:off x="6467551" y="1666951"/>
            <a:ext cx="396850" cy="396850"/>
          </a:xfrm>
          <a:prstGeom prst="rect">
            <a:avLst/>
          </a:prstGeom>
        </p:spPr>
      </p:pic>
      <p:sp>
        <p:nvSpPr>
          <p:cNvPr id="17" name="Text 12"/>
          <p:cNvSpPr/>
          <p:nvPr/>
        </p:nvSpPr>
        <p:spPr>
          <a:xfrm>
            <a:off x="7077456" y="1563624"/>
            <a:ext cx="1655064" cy="365760"/>
          </a:xfrm>
          <a:prstGeom prst="rect">
            <a:avLst/>
          </a:prstGeom>
          <a:noFill/>
          <a:ln/>
        </p:spPr>
        <p:txBody>
          <a:bodyPr wrap="square" lIns="0" tIns="0" rIns="0" bIns="0" rtlCol="0" anchor="ctr"/>
          <a:lstStyle/>
          <a:p>
            <a:pPr marL="0" indent="0">
              <a:buNone/>
            </a:pPr>
            <a:r>
              <a:rPr lang="en-US" sz="1350" b="1">
                <a:solidFill>
                  <a:srgbClr val="1E5386"/>
                </a:solidFill>
                <a:latin typeface="Trebuchet MS" pitchFamily="34" charset="0"/>
                <a:ea typeface="Trebuchet MS" pitchFamily="34" charset="-122"/>
                <a:cs typeface="Trebuchet MS" pitchFamily="34" charset="-120"/>
              </a:rPr>
              <a:t>Elasticity</a:t>
            </a:r>
            <a:endParaRPr lang="en-US" sz="1350"/>
          </a:p>
        </p:txBody>
      </p:sp>
      <p:sp>
        <p:nvSpPr>
          <p:cNvPr id="18" name="Text 13"/>
          <p:cNvSpPr/>
          <p:nvPr/>
        </p:nvSpPr>
        <p:spPr>
          <a:xfrm>
            <a:off x="6400800" y="2075688"/>
            <a:ext cx="2304288" cy="548640"/>
          </a:xfrm>
          <a:prstGeom prst="rect">
            <a:avLst/>
          </a:prstGeom>
          <a:noFill/>
          <a:ln/>
        </p:spPr>
        <p:txBody>
          <a:bodyPr wrap="square" lIns="0" tIns="0" rIns="0" bIns="0" rtlCol="0" anchor="t"/>
          <a:lstStyle/>
          <a:p>
            <a:pPr marL="0" indent="0">
              <a:lnSpc>
                <a:spcPts val="1400"/>
              </a:lnSpc>
              <a:buNone/>
            </a:pPr>
            <a:r>
              <a:rPr lang="en-US" sz="1150">
                <a:solidFill>
                  <a:srgbClr val="2A3B4D"/>
                </a:solidFill>
                <a:latin typeface="Calibri" pitchFamily="34" charset="0"/>
                <a:ea typeface="Calibri" pitchFamily="34" charset="-122"/>
                <a:cs typeface="Calibri" pitchFamily="34" charset="-120"/>
              </a:rPr>
              <a:t>Automatically scale up and down as traffic rises and falls.</a:t>
            </a:r>
            <a:endParaRPr lang="en-US" sz="1150"/>
          </a:p>
        </p:txBody>
      </p:sp>
      <p:sp>
        <p:nvSpPr>
          <p:cNvPr id="19" name="card">
            <a:extLst>
              <a:ext uri="{C183D7F6-B498-43B3-948B-1728B52AA6E4}">
                <adec:decorative xmlns:adec="http://schemas.microsoft.com/office/drawing/2017/decorative" val="1"/>
              </a:ext>
            </a:extLst>
          </p:cNvPr>
          <p:cNvSpPr/>
          <p:nvPr/>
        </p:nvSpPr>
        <p:spPr>
          <a:xfrm>
            <a:off x="566928" y="2898648"/>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0" name="icon tile">
            <a:extLst>
              <a:ext uri="{C183D7F6-B498-43B3-948B-1728B52AA6E4}">
                <adec:decorative xmlns:adec="http://schemas.microsoft.com/office/drawing/2017/decorative" val="1"/>
              </a:ext>
            </a:extLst>
          </p:cNvPr>
          <p:cNvSpPr/>
          <p:nvPr/>
        </p:nvSpPr>
        <p:spPr>
          <a:xfrm>
            <a:off x="713232" y="3063240"/>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1" name="Image 3" descr="server icon"/>
          <p:cNvPicPr>
            <a:picLocks noChangeAspect="1"/>
          </p:cNvPicPr>
          <p:nvPr/>
        </p:nvPicPr>
        <p:blipFill>
          <a:blip r:embed="rId6"/>
          <a:stretch>
            <a:fillRect/>
          </a:stretch>
        </p:blipFill>
        <p:spPr>
          <a:xfrm>
            <a:off x="798271" y="3148279"/>
            <a:ext cx="396850" cy="396850"/>
          </a:xfrm>
          <a:prstGeom prst="rect">
            <a:avLst/>
          </a:prstGeom>
        </p:spPr>
      </p:pic>
      <p:sp>
        <p:nvSpPr>
          <p:cNvPr id="22" name="Text 16"/>
          <p:cNvSpPr/>
          <p:nvPr/>
        </p:nvSpPr>
        <p:spPr>
          <a:xfrm>
            <a:off x="1408176" y="3044952"/>
            <a:ext cx="1655064" cy="365760"/>
          </a:xfrm>
          <a:prstGeom prst="rect">
            <a:avLst/>
          </a:prstGeom>
          <a:noFill/>
          <a:ln/>
        </p:spPr>
        <p:txBody>
          <a:bodyPr wrap="square" lIns="0" tIns="0" rIns="0" bIns="0" rtlCol="0" anchor="ctr"/>
          <a:lstStyle/>
          <a:p>
            <a:pPr marL="0" indent="0">
              <a:buNone/>
            </a:pPr>
            <a:r>
              <a:rPr lang="en-US" sz="1350" b="1">
                <a:solidFill>
                  <a:srgbClr val="1E5386"/>
                </a:solidFill>
                <a:latin typeface="Trebuchet MS" pitchFamily="34" charset="0"/>
                <a:ea typeface="Trebuchet MS" pitchFamily="34" charset="-122"/>
                <a:cs typeface="Trebuchet MS" pitchFamily="34" charset="-120"/>
              </a:rPr>
              <a:t>Reliability</a:t>
            </a:r>
            <a:endParaRPr lang="en-US" sz="1350"/>
          </a:p>
        </p:txBody>
      </p:sp>
      <p:sp>
        <p:nvSpPr>
          <p:cNvPr id="23" name="Text 17"/>
          <p:cNvSpPr/>
          <p:nvPr/>
        </p:nvSpPr>
        <p:spPr>
          <a:xfrm>
            <a:off x="731520" y="3557016"/>
            <a:ext cx="2304288" cy="548640"/>
          </a:xfrm>
          <a:prstGeom prst="rect">
            <a:avLst/>
          </a:prstGeom>
          <a:noFill/>
          <a:ln/>
        </p:spPr>
        <p:txBody>
          <a:bodyPr wrap="square" lIns="0" tIns="0" rIns="0" bIns="0" rtlCol="0" anchor="t"/>
          <a:lstStyle/>
          <a:p>
            <a:pPr marL="0" indent="0">
              <a:lnSpc>
                <a:spcPts val="1400"/>
              </a:lnSpc>
              <a:buNone/>
            </a:pPr>
            <a:r>
              <a:rPr lang="en-US" sz="1150">
                <a:solidFill>
                  <a:srgbClr val="2A3B4D"/>
                </a:solidFill>
                <a:latin typeface="Calibri" pitchFamily="34" charset="0"/>
                <a:ea typeface="Calibri" pitchFamily="34" charset="-122"/>
                <a:cs typeface="Calibri" pitchFamily="34" charset="-120"/>
              </a:rPr>
              <a:t>Geo-distributed datacenters keep workloads running through outages.</a:t>
            </a:r>
            <a:endParaRPr lang="en-US" sz="1150"/>
          </a:p>
        </p:txBody>
      </p:sp>
      <p:sp>
        <p:nvSpPr>
          <p:cNvPr id="24" name="card">
            <a:extLst>
              <a:ext uri="{C183D7F6-B498-43B3-948B-1728B52AA6E4}">
                <adec:decorative xmlns:adec="http://schemas.microsoft.com/office/drawing/2017/decorative" val="1"/>
              </a:ext>
            </a:extLst>
          </p:cNvPr>
          <p:cNvSpPr/>
          <p:nvPr/>
        </p:nvSpPr>
        <p:spPr>
          <a:xfrm>
            <a:off x="3401568" y="2898648"/>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5" name="icon tile">
            <a:extLst>
              <a:ext uri="{C183D7F6-B498-43B3-948B-1728B52AA6E4}">
                <adec:decorative xmlns:adec="http://schemas.microsoft.com/office/drawing/2017/decorative" val="1"/>
              </a:ext>
            </a:extLst>
          </p:cNvPr>
          <p:cNvSpPr/>
          <p:nvPr/>
        </p:nvSpPr>
        <p:spPr>
          <a:xfrm>
            <a:off x="3547872" y="3063240"/>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6" name="Image 4" descr="private icon"/>
          <p:cNvPicPr>
            <a:picLocks noChangeAspect="1"/>
          </p:cNvPicPr>
          <p:nvPr/>
        </p:nvPicPr>
        <p:blipFill>
          <a:blip r:embed="rId7"/>
          <a:stretch>
            <a:fillRect/>
          </a:stretch>
        </p:blipFill>
        <p:spPr>
          <a:xfrm>
            <a:off x="3682109" y="3197478"/>
            <a:ext cx="298453" cy="298453"/>
          </a:xfrm>
          <a:prstGeom prst="rect">
            <a:avLst/>
          </a:prstGeom>
        </p:spPr>
      </p:pic>
      <p:sp>
        <p:nvSpPr>
          <p:cNvPr id="27" name="Text 20"/>
          <p:cNvSpPr/>
          <p:nvPr/>
        </p:nvSpPr>
        <p:spPr>
          <a:xfrm>
            <a:off x="4242816" y="3044952"/>
            <a:ext cx="1655064" cy="365760"/>
          </a:xfrm>
          <a:prstGeom prst="rect">
            <a:avLst/>
          </a:prstGeom>
          <a:noFill/>
          <a:ln/>
        </p:spPr>
        <p:txBody>
          <a:bodyPr wrap="square" lIns="0" tIns="0" rIns="0" bIns="0" rtlCol="0" anchor="ctr"/>
          <a:lstStyle/>
          <a:p>
            <a:pPr marL="0" indent="0">
              <a:buNone/>
            </a:pPr>
            <a:r>
              <a:rPr lang="en-US" sz="1350" b="1">
                <a:solidFill>
                  <a:srgbClr val="1E5386"/>
                </a:solidFill>
                <a:latin typeface="Trebuchet MS" pitchFamily="34" charset="0"/>
                <a:ea typeface="Trebuchet MS" pitchFamily="34" charset="-122"/>
                <a:cs typeface="Trebuchet MS" pitchFamily="34" charset="-120"/>
              </a:rPr>
              <a:t>Security &amp; governance</a:t>
            </a:r>
            <a:endParaRPr lang="en-US" sz="1350"/>
          </a:p>
        </p:txBody>
      </p:sp>
      <p:sp>
        <p:nvSpPr>
          <p:cNvPr id="28" name="Text 21"/>
          <p:cNvSpPr/>
          <p:nvPr/>
        </p:nvSpPr>
        <p:spPr>
          <a:xfrm>
            <a:off x="3566160" y="3557016"/>
            <a:ext cx="2304288" cy="548640"/>
          </a:xfrm>
          <a:prstGeom prst="rect">
            <a:avLst/>
          </a:prstGeom>
          <a:noFill/>
          <a:ln/>
        </p:spPr>
        <p:txBody>
          <a:bodyPr wrap="square" lIns="0" tIns="0" rIns="0" bIns="0" rtlCol="0" anchor="t"/>
          <a:lstStyle/>
          <a:p>
            <a:pPr marL="0" indent="0">
              <a:lnSpc>
                <a:spcPts val="1400"/>
              </a:lnSpc>
              <a:buNone/>
            </a:pPr>
            <a:r>
              <a:rPr lang="en-US" sz="1150">
                <a:solidFill>
                  <a:srgbClr val="2A3B4D"/>
                </a:solidFill>
                <a:latin typeface="Calibri" pitchFamily="34" charset="0"/>
                <a:ea typeface="Calibri" pitchFamily="34" charset="-122"/>
                <a:cs typeface="Calibri" pitchFamily="34" charset="-120"/>
              </a:rPr>
              <a:t>Built-in controls, policies and compliance certifications.</a:t>
            </a:r>
            <a:endParaRPr lang="en-US" sz="1150"/>
          </a:p>
        </p:txBody>
      </p:sp>
      <p:sp>
        <p:nvSpPr>
          <p:cNvPr id="29" name="card">
            <a:extLst>
              <a:ext uri="{C183D7F6-B498-43B3-948B-1728B52AA6E4}">
                <adec:decorative xmlns:adec="http://schemas.microsoft.com/office/drawing/2017/decorative" val="1"/>
              </a:ext>
            </a:extLst>
          </p:cNvPr>
          <p:cNvSpPr/>
          <p:nvPr/>
        </p:nvSpPr>
        <p:spPr>
          <a:xfrm>
            <a:off x="6236208" y="2898648"/>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30" name="icon tile">
            <a:extLst>
              <a:ext uri="{C183D7F6-B498-43B3-948B-1728B52AA6E4}">
                <adec:decorative xmlns:adec="http://schemas.microsoft.com/office/drawing/2017/decorative" val="1"/>
              </a:ext>
            </a:extLst>
          </p:cNvPr>
          <p:cNvSpPr/>
          <p:nvPr/>
        </p:nvSpPr>
        <p:spPr>
          <a:xfrm>
            <a:off x="6382512" y="3063240"/>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31" name="Image 5" descr="portal icon"/>
          <p:cNvPicPr>
            <a:picLocks noChangeAspect="1"/>
          </p:cNvPicPr>
          <p:nvPr/>
        </p:nvPicPr>
        <p:blipFill>
          <a:blip r:embed="rId8"/>
          <a:stretch>
            <a:fillRect/>
          </a:stretch>
        </p:blipFill>
        <p:spPr>
          <a:xfrm>
            <a:off x="6467551" y="3189518"/>
            <a:ext cx="396850" cy="314372"/>
          </a:xfrm>
          <a:prstGeom prst="rect">
            <a:avLst/>
          </a:prstGeom>
        </p:spPr>
      </p:pic>
      <p:sp>
        <p:nvSpPr>
          <p:cNvPr id="32" name="Text 24"/>
          <p:cNvSpPr/>
          <p:nvPr/>
        </p:nvSpPr>
        <p:spPr>
          <a:xfrm>
            <a:off x="7077456" y="3044952"/>
            <a:ext cx="1655064" cy="365760"/>
          </a:xfrm>
          <a:prstGeom prst="rect">
            <a:avLst/>
          </a:prstGeom>
          <a:noFill/>
          <a:ln/>
        </p:spPr>
        <p:txBody>
          <a:bodyPr wrap="square" lIns="0" tIns="0" rIns="0" bIns="0" rtlCol="0" anchor="ctr"/>
          <a:lstStyle/>
          <a:p>
            <a:pPr marL="0" indent="0">
              <a:buNone/>
            </a:pPr>
            <a:r>
              <a:rPr lang="en-US" sz="1350" b="1">
                <a:solidFill>
                  <a:srgbClr val="1E5386"/>
                </a:solidFill>
                <a:latin typeface="Trebuchet MS" pitchFamily="34" charset="0"/>
                <a:ea typeface="Trebuchet MS" pitchFamily="34" charset="-122"/>
                <a:cs typeface="Trebuchet MS" pitchFamily="34" charset="-120"/>
              </a:rPr>
              <a:t>Manageability</a:t>
            </a:r>
            <a:endParaRPr lang="en-US" sz="1350"/>
          </a:p>
        </p:txBody>
      </p:sp>
      <p:sp>
        <p:nvSpPr>
          <p:cNvPr id="33" name="Text 25"/>
          <p:cNvSpPr/>
          <p:nvPr/>
        </p:nvSpPr>
        <p:spPr>
          <a:xfrm>
            <a:off x="6400800" y="3557016"/>
            <a:ext cx="2304288" cy="548640"/>
          </a:xfrm>
          <a:prstGeom prst="rect">
            <a:avLst/>
          </a:prstGeom>
          <a:noFill/>
          <a:ln/>
        </p:spPr>
        <p:txBody>
          <a:bodyPr wrap="square" lIns="0" tIns="0" rIns="0" bIns="0" rtlCol="0" anchor="t"/>
          <a:lstStyle/>
          <a:p>
            <a:pPr marL="0" indent="0">
              <a:lnSpc>
                <a:spcPts val="1400"/>
              </a:lnSpc>
              <a:buNone/>
            </a:pPr>
            <a:r>
              <a:rPr lang="en-US" sz="1150">
                <a:solidFill>
                  <a:srgbClr val="2A3B4D"/>
                </a:solidFill>
                <a:latin typeface="Calibri" pitchFamily="34" charset="0"/>
                <a:ea typeface="Calibri" pitchFamily="34" charset="-122"/>
                <a:cs typeface="Calibri" pitchFamily="34" charset="-120"/>
              </a:rPr>
              <a:t>Run everything through the portal, code and automation.</a:t>
            </a:r>
            <a:endParaRPr lang="en-US" sz="1150"/>
          </a:p>
        </p:txBody>
      </p:sp>
      <p:sp>
        <p:nvSpPr>
          <p:cNvPr id="34" name="predictability banner">
            <a:extLst>
              <a:ext uri="{C183D7F6-B498-43B3-948B-1728B52AA6E4}">
                <adec:decorative xmlns:adec="http://schemas.microsoft.com/office/drawing/2017/decorative" val="1"/>
              </a:ext>
            </a:extLst>
          </p:cNvPr>
          <p:cNvSpPr/>
          <p:nvPr/>
        </p:nvSpPr>
        <p:spPr>
          <a:xfrm>
            <a:off x="566928" y="4309872"/>
            <a:ext cx="8284464" cy="548640"/>
          </a:xfrm>
          <a:prstGeom prst="roundRect">
            <a:avLst>
              <a:gd name="adj" fmla="val 22581"/>
            </a:avLst>
          </a:prstGeom>
          <a:solidFill>
            <a:srgbClr val="E6F1FB"/>
          </a:solidFill>
          <a:ln w="12700">
            <a:solidFill>
              <a:srgbClr val="CFE1F0"/>
            </a:solidFill>
            <a:prstDash val="solid"/>
          </a:ln>
        </p:spPr>
        <p:txBody>
          <a:bodyPr/>
          <a:lstStyle/>
          <a:p>
            <a:endParaRPr lang="en-HU"/>
          </a:p>
        </p:txBody>
      </p:sp>
      <p:sp>
        <p:nvSpPr>
          <p:cNvPr id="35" name="Text predictability"/>
          <p:cNvSpPr/>
          <p:nvPr/>
        </p:nvSpPr>
        <p:spPr>
          <a:xfrm>
            <a:off x="822960" y="4309872"/>
            <a:ext cx="7772400" cy="548640"/>
          </a:xfrm>
          <a:prstGeom prst="rect">
            <a:avLst/>
          </a:prstGeom>
          <a:noFill/>
          <a:ln/>
        </p:spPr>
        <p:txBody>
          <a:bodyPr wrap="square" lIns="0" tIns="0" rIns="0" bIns="0" rtlCol="0" anchor="ctr"/>
          <a:lstStyle/>
          <a:p>
            <a:pPr marL="0" indent="0">
              <a:buNone/>
            </a:pPr>
            <a:r>
              <a:rPr lang="en-US" sz="1300" b="1" dirty="0">
                <a:solidFill>
                  <a:srgbClr val="2E7CC4"/>
                </a:solidFill>
                <a:latin typeface="Calibri" pitchFamily="34" charset="0"/>
                <a:ea typeface="Calibri" pitchFamily="34" charset="-122"/>
                <a:cs typeface="Calibri" pitchFamily="34" charset="-120"/>
              </a:rPr>
              <a:t>Predictability   </a:t>
            </a:r>
            <a:r>
              <a:rPr lang="en-US" sz="1300" dirty="0">
                <a:solidFill>
                  <a:srgbClr val="2A3B4D"/>
                </a:solidFill>
                <a:latin typeface="Calibri" pitchFamily="34" charset="0"/>
                <a:ea typeface="Calibri" pitchFamily="34" charset="-122"/>
                <a:cs typeface="Calibri" pitchFamily="34" charset="-120"/>
              </a:rPr>
              <a:t>Forecast cost and performance as you scale, so you can plan with confidence.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CLOUD SERVICE MODELS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Three ways to consume the cloud</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371600"/>
            <a:ext cx="2670048" cy="2606040"/>
          </a:xfrm>
          <a:prstGeom prst="roundRect">
            <a:avLst>
              <a:gd name="adj" fmla="val 386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header">
            <a:extLst>
              <a:ext uri="{C183D7F6-B498-43B3-948B-1728B52AA6E4}">
                <adec:decorative xmlns:adec="http://schemas.microsoft.com/office/drawing/2017/decorative" val="1"/>
              </a:ext>
            </a:extLst>
          </p:cNvPr>
          <p:cNvSpPr/>
          <p:nvPr/>
        </p:nvSpPr>
        <p:spPr>
          <a:xfrm>
            <a:off x="566928" y="1371600"/>
            <a:ext cx="2670048" cy="786384"/>
          </a:xfrm>
          <a:prstGeom prst="roundRect">
            <a:avLst>
              <a:gd name="adj" fmla="val 12791"/>
            </a:avLst>
          </a:prstGeom>
          <a:solidFill>
            <a:srgbClr val="2E7CC4"/>
          </a:solidFill>
          <a:ln/>
        </p:spPr>
        <p:txBody>
          <a:bodyPr/>
          <a:lstStyle/>
          <a:p>
            <a:endParaRPr lang="en-HU"/>
          </a:p>
        </p:txBody>
      </p:sp>
      <p:sp>
        <p:nvSpPr>
          <p:cNvPr id="6" name="header base">
            <a:extLst>
              <a:ext uri="{C183D7F6-B498-43B3-948B-1728B52AA6E4}">
                <adec:decorative xmlns:adec="http://schemas.microsoft.com/office/drawing/2017/decorative" val="1"/>
              </a:ext>
            </a:extLst>
          </p:cNvPr>
          <p:cNvSpPr/>
          <p:nvPr/>
        </p:nvSpPr>
        <p:spPr>
          <a:xfrm>
            <a:off x="566928" y="1737360"/>
            <a:ext cx="2670048" cy="420624"/>
          </a:xfrm>
          <a:prstGeom prst="rect">
            <a:avLst/>
          </a:prstGeom>
          <a:solidFill>
            <a:srgbClr val="2E7CC4"/>
          </a:solidFill>
          <a:ln/>
        </p:spPr>
        <p:txBody>
          <a:bodyPr/>
          <a:lstStyle/>
          <a:p>
            <a:endParaRPr lang="en-HU"/>
          </a:p>
        </p:txBody>
      </p:sp>
      <p:sp>
        <p:nvSpPr>
          <p:cNvPr id="7" name="icon tile">
            <a:extLst>
              <a:ext uri="{C183D7F6-B498-43B3-948B-1728B52AA6E4}">
                <adec:decorative xmlns:adec="http://schemas.microsoft.com/office/drawing/2017/decorative" val="1"/>
              </a:ext>
            </a:extLst>
          </p:cNvPr>
          <p:cNvSpPr/>
          <p:nvPr/>
        </p:nvSpPr>
        <p:spPr>
          <a:xfrm>
            <a:off x="731520" y="1481328"/>
            <a:ext cx="566928" cy="566928"/>
          </a:xfrm>
          <a:prstGeom prst="roundRect">
            <a:avLst>
              <a:gd name="adj" fmla="val 2200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8" name="Image 0" descr="server icon"/>
          <p:cNvPicPr>
            <a:picLocks noChangeAspect="1"/>
          </p:cNvPicPr>
          <p:nvPr/>
        </p:nvPicPr>
        <p:blipFill>
          <a:blip r:embed="rId3"/>
          <a:stretch>
            <a:fillRect/>
          </a:stretch>
        </p:blipFill>
        <p:spPr>
          <a:xfrm>
            <a:off x="816559" y="1566367"/>
            <a:ext cx="396850" cy="396850"/>
          </a:xfrm>
          <a:prstGeom prst="rect">
            <a:avLst/>
          </a:prstGeom>
        </p:spPr>
      </p:pic>
      <p:sp>
        <p:nvSpPr>
          <p:cNvPr id="9" name="Text 6"/>
          <p:cNvSpPr/>
          <p:nvPr/>
        </p:nvSpPr>
        <p:spPr>
          <a:xfrm>
            <a:off x="1408176" y="1463040"/>
            <a:ext cx="1755648" cy="329184"/>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IaaS</a:t>
            </a:r>
            <a:endParaRPr lang="en-US" sz="1900" dirty="0"/>
          </a:p>
        </p:txBody>
      </p:sp>
      <p:sp>
        <p:nvSpPr>
          <p:cNvPr id="10" name="Text 7"/>
          <p:cNvSpPr/>
          <p:nvPr/>
        </p:nvSpPr>
        <p:spPr>
          <a:xfrm>
            <a:off x="1408176" y="1801368"/>
            <a:ext cx="1755648"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Infrastructure as a Service</a:t>
            </a:r>
            <a:endParaRPr lang="en-US" sz="1000" dirty="0"/>
          </a:p>
        </p:txBody>
      </p:sp>
      <p:sp>
        <p:nvSpPr>
          <p:cNvPr id="11" name="Text 8"/>
          <p:cNvSpPr/>
          <p:nvPr/>
        </p:nvSpPr>
        <p:spPr>
          <a:xfrm>
            <a:off x="749808" y="2340864"/>
            <a:ext cx="2304288" cy="1005840"/>
          </a:xfrm>
          <a:prstGeom prst="rect">
            <a:avLst/>
          </a:prstGeom>
          <a:noFill/>
          <a:ln/>
        </p:spPr>
        <p:txBody>
          <a:bodyPr wrap="square" lIns="0" tIns="0" rIns="0" bIns="0" rtlCol="0" anchor="t"/>
          <a:lstStyle/>
          <a:p>
            <a:pPr marL="0" indent="0">
              <a:lnSpc>
                <a:spcPts val="1600"/>
              </a:lnSpc>
              <a:buNone/>
            </a:pPr>
            <a:r>
              <a:rPr lang="en-US" sz="1250" dirty="0">
                <a:solidFill>
                  <a:srgbClr val="2A3B4D"/>
                </a:solidFill>
                <a:latin typeface="Calibri" pitchFamily="34" charset="0"/>
                <a:ea typeface="Calibri" pitchFamily="34" charset="-122"/>
                <a:cs typeface="Calibri" pitchFamily="34" charset="-120"/>
              </a:rPr>
              <a:t>You rent raw infrastructure and manage the OS and apps yourself.</a:t>
            </a:r>
            <a:endParaRPr lang="en-US" sz="1250" dirty="0"/>
          </a:p>
        </p:txBody>
      </p:sp>
      <p:sp>
        <p:nvSpPr>
          <p:cNvPr id="12" name="Text 9"/>
          <p:cNvSpPr/>
          <p:nvPr/>
        </p:nvSpPr>
        <p:spPr>
          <a:xfrm>
            <a:off x="749808" y="3511296"/>
            <a:ext cx="2304288" cy="365760"/>
          </a:xfrm>
          <a:prstGeom prst="rect">
            <a:avLst/>
          </a:prstGeom>
          <a:noFill/>
          <a:ln/>
        </p:spPr>
        <p:txBody>
          <a:bodyPr wrap="square" lIns="0" tIns="0" rIns="0" bIns="0" rtlCol="0" anchor="ctr"/>
          <a:lstStyle/>
          <a:p>
            <a:pPr marL="0" indent="0">
              <a:buNone/>
            </a:pPr>
            <a:r>
              <a:rPr lang="en-US" sz="1150" b="1" i="1" dirty="0">
                <a:solidFill>
                  <a:srgbClr val="2E7CC4"/>
                </a:solidFill>
                <a:latin typeface="Trebuchet MS" pitchFamily="34" charset="0"/>
                <a:ea typeface="Trebuchet MS" pitchFamily="34" charset="-122"/>
                <a:cs typeface="Trebuchet MS" pitchFamily="34" charset="-120"/>
              </a:rPr>
              <a:t>e.g. Azure Virtual Machines</a:t>
            </a:r>
            <a:endParaRPr lang="en-US" sz="1150" dirty="0"/>
          </a:p>
        </p:txBody>
      </p:sp>
      <p:sp>
        <p:nvSpPr>
          <p:cNvPr id="13" name="card">
            <a:extLst>
              <a:ext uri="{C183D7F6-B498-43B3-948B-1728B52AA6E4}">
                <adec:decorative xmlns:adec="http://schemas.microsoft.com/office/drawing/2017/decorative" val="1"/>
              </a:ext>
            </a:extLst>
          </p:cNvPr>
          <p:cNvSpPr/>
          <p:nvPr/>
        </p:nvSpPr>
        <p:spPr>
          <a:xfrm>
            <a:off x="3456432" y="1371600"/>
            <a:ext cx="2670048" cy="2606040"/>
          </a:xfrm>
          <a:prstGeom prst="roundRect">
            <a:avLst>
              <a:gd name="adj" fmla="val 386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4" name="header">
            <a:extLst>
              <a:ext uri="{C183D7F6-B498-43B3-948B-1728B52AA6E4}">
                <adec:decorative xmlns:adec="http://schemas.microsoft.com/office/drawing/2017/decorative" val="1"/>
              </a:ext>
            </a:extLst>
          </p:cNvPr>
          <p:cNvSpPr/>
          <p:nvPr/>
        </p:nvSpPr>
        <p:spPr>
          <a:xfrm>
            <a:off x="3456432" y="1371600"/>
            <a:ext cx="2670048" cy="786384"/>
          </a:xfrm>
          <a:prstGeom prst="roundRect">
            <a:avLst>
              <a:gd name="adj" fmla="val 12791"/>
            </a:avLst>
          </a:prstGeom>
          <a:solidFill>
            <a:srgbClr val="2FA98A"/>
          </a:solidFill>
          <a:ln/>
        </p:spPr>
        <p:txBody>
          <a:bodyPr/>
          <a:lstStyle/>
          <a:p>
            <a:endParaRPr lang="en-HU"/>
          </a:p>
        </p:txBody>
      </p:sp>
      <p:sp>
        <p:nvSpPr>
          <p:cNvPr id="15" name="header base">
            <a:extLst>
              <a:ext uri="{C183D7F6-B498-43B3-948B-1728B52AA6E4}">
                <adec:decorative xmlns:adec="http://schemas.microsoft.com/office/drawing/2017/decorative" val="1"/>
              </a:ext>
            </a:extLst>
          </p:cNvPr>
          <p:cNvSpPr/>
          <p:nvPr/>
        </p:nvSpPr>
        <p:spPr>
          <a:xfrm>
            <a:off x="3456432" y="1737360"/>
            <a:ext cx="2670048" cy="420624"/>
          </a:xfrm>
          <a:prstGeom prst="rect">
            <a:avLst/>
          </a:prstGeom>
          <a:solidFill>
            <a:srgbClr val="2FA98A"/>
          </a:solidFill>
          <a:ln/>
        </p:spPr>
        <p:txBody>
          <a:bodyPr/>
          <a:lstStyle/>
          <a:p>
            <a:endParaRPr lang="en-HU"/>
          </a:p>
        </p:txBody>
      </p:sp>
      <p:sp>
        <p:nvSpPr>
          <p:cNvPr id="16" name="icon tile">
            <a:extLst>
              <a:ext uri="{C183D7F6-B498-43B3-948B-1728B52AA6E4}">
                <adec:decorative xmlns:adec="http://schemas.microsoft.com/office/drawing/2017/decorative" val="1"/>
              </a:ext>
            </a:extLst>
          </p:cNvPr>
          <p:cNvSpPr/>
          <p:nvPr/>
        </p:nvSpPr>
        <p:spPr>
          <a:xfrm>
            <a:off x="3621024" y="1481328"/>
            <a:ext cx="566928" cy="566928"/>
          </a:xfrm>
          <a:prstGeom prst="roundRect">
            <a:avLst>
              <a:gd name="adj" fmla="val 2200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7" name="Image 1" descr="appwin icon"/>
          <p:cNvPicPr>
            <a:picLocks noChangeAspect="1"/>
          </p:cNvPicPr>
          <p:nvPr/>
        </p:nvPicPr>
        <p:blipFill>
          <a:blip r:embed="rId4"/>
          <a:stretch>
            <a:fillRect/>
          </a:stretch>
        </p:blipFill>
        <p:spPr>
          <a:xfrm>
            <a:off x="3706063" y="1603784"/>
            <a:ext cx="396850" cy="322015"/>
          </a:xfrm>
          <a:prstGeom prst="rect">
            <a:avLst/>
          </a:prstGeom>
        </p:spPr>
      </p:pic>
      <p:sp>
        <p:nvSpPr>
          <p:cNvPr id="18" name="Text 14"/>
          <p:cNvSpPr/>
          <p:nvPr/>
        </p:nvSpPr>
        <p:spPr>
          <a:xfrm>
            <a:off x="4297680" y="1463040"/>
            <a:ext cx="1755648" cy="329184"/>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PaaS</a:t>
            </a:r>
            <a:endParaRPr lang="en-US" sz="1900" dirty="0"/>
          </a:p>
        </p:txBody>
      </p:sp>
      <p:sp>
        <p:nvSpPr>
          <p:cNvPr id="19" name="Text 15"/>
          <p:cNvSpPr/>
          <p:nvPr/>
        </p:nvSpPr>
        <p:spPr>
          <a:xfrm>
            <a:off x="4297680" y="1801368"/>
            <a:ext cx="1755648"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Platform as a Service</a:t>
            </a:r>
            <a:endParaRPr lang="en-US" sz="1000" dirty="0"/>
          </a:p>
        </p:txBody>
      </p:sp>
      <p:sp>
        <p:nvSpPr>
          <p:cNvPr id="20" name="Text 16"/>
          <p:cNvSpPr/>
          <p:nvPr/>
        </p:nvSpPr>
        <p:spPr>
          <a:xfrm>
            <a:off x="3639312" y="2340864"/>
            <a:ext cx="2304288" cy="1005840"/>
          </a:xfrm>
          <a:prstGeom prst="rect">
            <a:avLst/>
          </a:prstGeom>
          <a:noFill/>
          <a:ln/>
        </p:spPr>
        <p:txBody>
          <a:bodyPr wrap="square" lIns="0" tIns="0" rIns="0" bIns="0" rtlCol="0" anchor="t"/>
          <a:lstStyle/>
          <a:p>
            <a:pPr marL="0" indent="0">
              <a:lnSpc>
                <a:spcPts val="1600"/>
              </a:lnSpc>
              <a:buNone/>
            </a:pPr>
            <a:r>
              <a:rPr lang="en-US" sz="1250" dirty="0">
                <a:solidFill>
                  <a:srgbClr val="2A3B4D"/>
                </a:solidFill>
                <a:latin typeface="Calibri" pitchFamily="34" charset="0"/>
                <a:ea typeface="Calibri" pitchFamily="34" charset="-122"/>
                <a:cs typeface="Calibri" pitchFamily="34" charset="-120"/>
              </a:rPr>
              <a:t>You get a ready platform to build on; the provider runs the servers.</a:t>
            </a:r>
            <a:endParaRPr lang="en-US" sz="1250" dirty="0"/>
          </a:p>
        </p:txBody>
      </p:sp>
      <p:sp>
        <p:nvSpPr>
          <p:cNvPr id="21" name="Text 17"/>
          <p:cNvSpPr/>
          <p:nvPr/>
        </p:nvSpPr>
        <p:spPr>
          <a:xfrm>
            <a:off x="3639312" y="3511296"/>
            <a:ext cx="2304288" cy="365760"/>
          </a:xfrm>
          <a:prstGeom prst="rect">
            <a:avLst/>
          </a:prstGeom>
          <a:noFill/>
          <a:ln/>
        </p:spPr>
        <p:txBody>
          <a:bodyPr wrap="square" lIns="0" tIns="0" rIns="0" bIns="0" rtlCol="0" anchor="ctr"/>
          <a:lstStyle/>
          <a:p>
            <a:pPr marL="0" indent="0">
              <a:buNone/>
            </a:pPr>
            <a:r>
              <a:rPr lang="en-US" sz="1150" b="1" i="1" dirty="0">
                <a:solidFill>
                  <a:srgbClr val="2FA98A"/>
                </a:solidFill>
                <a:latin typeface="Trebuchet MS" pitchFamily="34" charset="0"/>
                <a:ea typeface="Trebuchet MS" pitchFamily="34" charset="-122"/>
                <a:cs typeface="Trebuchet MS" pitchFamily="34" charset="-120"/>
              </a:rPr>
              <a:t>e.g. Azure App Service</a:t>
            </a:r>
            <a:endParaRPr lang="en-US" sz="1150" dirty="0"/>
          </a:p>
        </p:txBody>
      </p:sp>
      <p:sp>
        <p:nvSpPr>
          <p:cNvPr id="22" name="card">
            <a:extLst>
              <a:ext uri="{C183D7F6-B498-43B3-948B-1728B52AA6E4}">
                <adec:decorative xmlns:adec="http://schemas.microsoft.com/office/drawing/2017/decorative" val="1"/>
              </a:ext>
            </a:extLst>
          </p:cNvPr>
          <p:cNvSpPr/>
          <p:nvPr/>
        </p:nvSpPr>
        <p:spPr>
          <a:xfrm>
            <a:off x="6345936" y="1371600"/>
            <a:ext cx="2670048" cy="2606040"/>
          </a:xfrm>
          <a:prstGeom prst="roundRect">
            <a:avLst>
              <a:gd name="adj" fmla="val 386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3" name="header">
            <a:extLst>
              <a:ext uri="{C183D7F6-B498-43B3-948B-1728B52AA6E4}">
                <adec:decorative xmlns:adec="http://schemas.microsoft.com/office/drawing/2017/decorative" val="1"/>
              </a:ext>
            </a:extLst>
          </p:cNvPr>
          <p:cNvSpPr/>
          <p:nvPr/>
        </p:nvSpPr>
        <p:spPr>
          <a:xfrm>
            <a:off x="6345936" y="1371600"/>
            <a:ext cx="2670048" cy="786384"/>
          </a:xfrm>
          <a:prstGeom prst="roundRect">
            <a:avLst>
              <a:gd name="adj" fmla="val 12791"/>
            </a:avLst>
          </a:prstGeom>
          <a:solidFill>
            <a:srgbClr val="EF6F58"/>
          </a:solidFill>
          <a:ln/>
        </p:spPr>
        <p:txBody>
          <a:bodyPr/>
          <a:lstStyle/>
          <a:p>
            <a:endParaRPr lang="en-HU"/>
          </a:p>
        </p:txBody>
      </p:sp>
      <p:sp>
        <p:nvSpPr>
          <p:cNvPr id="24" name="header base">
            <a:extLst>
              <a:ext uri="{C183D7F6-B498-43B3-948B-1728B52AA6E4}">
                <adec:decorative xmlns:adec="http://schemas.microsoft.com/office/drawing/2017/decorative" val="1"/>
              </a:ext>
            </a:extLst>
          </p:cNvPr>
          <p:cNvSpPr/>
          <p:nvPr/>
        </p:nvSpPr>
        <p:spPr>
          <a:xfrm>
            <a:off x="6345936" y="1737360"/>
            <a:ext cx="2670048" cy="420624"/>
          </a:xfrm>
          <a:prstGeom prst="rect">
            <a:avLst/>
          </a:prstGeom>
          <a:solidFill>
            <a:srgbClr val="EF6F58"/>
          </a:solidFill>
          <a:ln/>
        </p:spPr>
        <p:txBody>
          <a:bodyPr/>
          <a:lstStyle/>
          <a:p>
            <a:endParaRPr lang="en-HU"/>
          </a:p>
        </p:txBody>
      </p:sp>
      <p:sp>
        <p:nvSpPr>
          <p:cNvPr id="25" name="icon tile">
            <a:extLst>
              <a:ext uri="{C183D7F6-B498-43B3-948B-1728B52AA6E4}">
                <adec:decorative xmlns:adec="http://schemas.microsoft.com/office/drawing/2017/decorative" val="1"/>
              </a:ext>
            </a:extLst>
          </p:cNvPr>
          <p:cNvSpPr/>
          <p:nvPr/>
        </p:nvSpPr>
        <p:spPr>
          <a:xfrm>
            <a:off x="6510528" y="1481328"/>
            <a:ext cx="566928" cy="566928"/>
          </a:xfrm>
          <a:prstGeom prst="roundRect">
            <a:avLst>
              <a:gd name="adj" fmla="val 2200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6" name="Image 2" descr="cloud icon"/>
          <p:cNvPicPr>
            <a:picLocks noChangeAspect="1"/>
          </p:cNvPicPr>
          <p:nvPr/>
        </p:nvPicPr>
        <p:blipFill>
          <a:blip r:embed="rId5"/>
          <a:stretch>
            <a:fillRect/>
          </a:stretch>
        </p:blipFill>
        <p:spPr>
          <a:xfrm>
            <a:off x="6595567" y="1566367"/>
            <a:ext cx="396850" cy="396850"/>
          </a:xfrm>
          <a:prstGeom prst="rect">
            <a:avLst/>
          </a:prstGeom>
        </p:spPr>
      </p:pic>
      <p:sp>
        <p:nvSpPr>
          <p:cNvPr id="27" name="Text 22"/>
          <p:cNvSpPr/>
          <p:nvPr/>
        </p:nvSpPr>
        <p:spPr>
          <a:xfrm>
            <a:off x="7187184" y="1463040"/>
            <a:ext cx="1755648" cy="329184"/>
          </a:xfrm>
          <a:prstGeom prst="rect">
            <a:avLst/>
          </a:prstGeom>
          <a:noFill/>
          <a:ln/>
        </p:spPr>
        <p:txBody>
          <a:bodyPr wrap="square" lIns="0" tIns="0" rIns="0" bIns="0" rtlCol="0" anchor="ctr"/>
          <a:lstStyle/>
          <a:p>
            <a:pPr marL="0" indent="0">
              <a:buNone/>
            </a:pPr>
            <a:r>
              <a:rPr lang="en-US" sz="1900" b="1" dirty="0">
                <a:solidFill>
                  <a:srgbClr val="FFFFFF"/>
                </a:solidFill>
                <a:latin typeface="Trebuchet MS" pitchFamily="34" charset="0"/>
                <a:ea typeface="Trebuchet MS" pitchFamily="34" charset="-122"/>
                <a:cs typeface="Trebuchet MS" pitchFamily="34" charset="-120"/>
              </a:rPr>
              <a:t>SaaS</a:t>
            </a:r>
            <a:endParaRPr lang="en-US" sz="1900" dirty="0"/>
          </a:p>
        </p:txBody>
      </p:sp>
      <p:sp>
        <p:nvSpPr>
          <p:cNvPr id="28" name="Text 23"/>
          <p:cNvSpPr/>
          <p:nvPr/>
        </p:nvSpPr>
        <p:spPr>
          <a:xfrm>
            <a:off x="7187184" y="1801368"/>
            <a:ext cx="1755648"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Software as a Service</a:t>
            </a:r>
            <a:endParaRPr lang="en-US" sz="1000" dirty="0"/>
          </a:p>
        </p:txBody>
      </p:sp>
      <p:sp>
        <p:nvSpPr>
          <p:cNvPr id="29" name="Text 24"/>
          <p:cNvSpPr/>
          <p:nvPr/>
        </p:nvSpPr>
        <p:spPr>
          <a:xfrm>
            <a:off x="6528816" y="2340864"/>
            <a:ext cx="2304288" cy="1005840"/>
          </a:xfrm>
          <a:prstGeom prst="rect">
            <a:avLst/>
          </a:prstGeom>
          <a:noFill/>
          <a:ln/>
        </p:spPr>
        <p:txBody>
          <a:bodyPr wrap="square" lIns="0" tIns="0" rIns="0" bIns="0" rtlCol="0" anchor="t"/>
          <a:lstStyle/>
          <a:p>
            <a:pPr marL="0" indent="0">
              <a:lnSpc>
                <a:spcPts val="1600"/>
              </a:lnSpc>
              <a:buNone/>
            </a:pPr>
            <a:r>
              <a:rPr lang="en-US" sz="1250" dirty="0">
                <a:solidFill>
                  <a:srgbClr val="2A3B4D"/>
                </a:solidFill>
                <a:latin typeface="Calibri" pitchFamily="34" charset="0"/>
                <a:ea typeface="Calibri" pitchFamily="34" charset="-122"/>
                <a:cs typeface="Calibri" pitchFamily="34" charset="-120"/>
              </a:rPr>
              <a:t>Ready-to-use software over the web; the provider manages everything.</a:t>
            </a:r>
            <a:endParaRPr lang="en-US" sz="1250" dirty="0"/>
          </a:p>
        </p:txBody>
      </p:sp>
      <p:sp>
        <p:nvSpPr>
          <p:cNvPr id="30" name="Text 25"/>
          <p:cNvSpPr/>
          <p:nvPr/>
        </p:nvSpPr>
        <p:spPr>
          <a:xfrm>
            <a:off x="6528816" y="3511296"/>
            <a:ext cx="2304288" cy="365760"/>
          </a:xfrm>
          <a:prstGeom prst="rect">
            <a:avLst/>
          </a:prstGeom>
          <a:noFill/>
          <a:ln/>
        </p:spPr>
        <p:txBody>
          <a:bodyPr wrap="square" lIns="0" tIns="0" rIns="0" bIns="0" rtlCol="0" anchor="ctr"/>
          <a:lstStyle/>
          <a:p>
            <a:pPr marL="0" indent="0">
              <a:buNone/>
            </a:pPr>
            <a:r>
              <a:rPr lang="en-US" sz="1150" b="1" i="1" dirty="0">
                <a:solidFill>
                  <a:srgbClr val="EF6F58"/>
                </a:solidFill>
                <a:latin typeface="Trebuchet MS" pitchFamily="34" charset="0"/>
                <a:ea typeface="Trebuchet MS" pitchFamily="34" charset="-122"/>
                <a:cs typeface="Trebuchet MS" pitchFamily="34" charset="-120"/>
              </a:rPr>
              <a:t>e.g. Microsoft 365</a:t>
            </a:r>
            <a:endParaRPr lang="en-US" sz="1150" dirty="0"/>
          </a:p>
        </p:txBody>
      </p:sp>
      <p:sp>
        <p:nvSpPr>
          <p:cNvPr id="31" name="analogy strip">
            <a:extLst>
              <a:ext uri="{C183D7F6-B498-43B3-948B-1728B52AA6E4}">
                <adec:decorative xmlns:adec="http://schemas.microsoft.com/office/drawing/2017/decorative" val="1"/>
              </a:ext>
            </a:extLst>
          </p:cNvPr>
          <p:cNvSpPr/>
          <p:nvPr/>
        </p:nvSpPr>
        <p:spPr>
          <a:xfrm>
            <a:off x="566928" y="4160520"/>
            <a:ext cx="8010144" cy="566928"/>
          </a:xfrm>
          <a:prstGeom prst="roundRect">
            <a:avLst>
              <a:gd name="adj" fmla="val 22581"/>
            </a:avLst>
          </a:prstGeom>
          <a:solidFill>
            <a:srgbClr val="1E5386"/>
          </a:solidFill>
          <a:ln/>
        </p:spPr>
        <p:txBody>
          <a:bodyPr/>
          <a:lstStyle/>
          <a:p>
            <a:endParaRPr lang="en-HU"/>
          </a:p>
        </p:txBody>
      </p:sp>
      <p:sp>
        <p:nvSpPr>
          <p:cNvPr id="32" name="Text 27"/>
          <p:cNvSpPr/>
          <p:nvPr/>
        </p:nvSpPr>
        <p:spPr>
          <a:xfrm>
            <a:off x="822960" y="4160520"/>
            <a:ext cx="7498080" cy="566928"/>
          </a:xfrm>
          <a:prstGeom prst="rect">
            <a:avLst/>
          </a:prstGeom>
          <a:noFill/>
          <a:ln/>
        </p:spPr>
        <p:txBody>
          <a:bodyPr wrap="square" lIns="0" tIns="0" rIns="0" bIns="0" rtlCol="0" anchor="ctr"/>
          <a:lstStyle/>
          <a:p>
            <a:pPr marL="0" indent="0">
              <a:buNone/>
            </a:pPr>
            <a:r>
              <a:rPr lang="en-US" sz="1250" b="1" dirty="0">
                <a:solidFill>
                  <a:srgbClr val="9EC8EC"/>
                </a:solidFill>
                <a:latin typeface="Calibri" pitchFamily="34" charset="0"/>
                <a:ea typeface="Calibri" pitchFamily="34" charset="-122"/>
                <a:cs typeface="Calibri" pitchFamily="34" charset="-120"/>
              </a:rPr>
              <a:t>PIZZA ANALOGY   </a:t>
            </a:r>
            <a:r>
              <a:rPr lang="en-US" sz="1250" dirty="0">
                <a:solidFill>
                  <a:srgbClr val="FFFFFF"/>
                </a:solidFill>
                <a:latin typeface="Calibri" pitchFamily="34" charset="0"/>
                <a:ea typeface="Calibri" pitchFamily="34" charset="-122"/>
                <a:cs typeface="Calibri" pitchFamily="34" charset="-120"/>
              </a:rPr>
              <a:t>IaaS = take-and-bake  ·  PaaS = pizza delivery  ·  SaaS = dining at the restaurant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a:solidFill>
                  <a:srgbClr val="EF6F58"/>
                </a:solidFill>
                <a:latin typeface="Trebuchet MS" pitchFamily="34" charset="0"/>
                <a:ea typeface="Trebuchet MS" pitchFamily="34" charset="-122"/>
                <a:cs typeface="Trebuchet MS" pitchFamily="34" charset="-120"/>
              </a:rPr>
              <a:t>CLOUD SECURITY BASICS</a:t>
            </a:r>
            <a:endParaRPr lang="en-US" sz="125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a:solidFill>
                  <a:srgbClr val="1E5386"/>
                </a:solidFill>
                <a:latin typeface="Trebuchet MS" pitchFamily="34" charset="0"/>
                <a:ea typeface="Trebuchet MS" pitchFamily="34" charset="-122"/>
                <a:cs typeface="Trebuchet MS" pitchFamily="34" charset="-120"/>
              </a:rPr>
              <a:t>Who secures what?</a:t>
            </a:r>
            <a:endParaRPr lang="en-US" sz="3000"/>
          </a:p>
        </p:txBody>
      </p:sp>
      <p:sp>
        <p:nvSpPr>
          <p:cNvPr id="4" name="card">
            <a:extLst>
              <a:ext uri="{C183D7F6-B498-43B3-948B-1728B52AA6E4}">
                <adec:decorative xmlns:adec="http://schemas.microsoft.com/office/drawing/2017/decorative" val="1"/>
              </a:ext>
            </a:extLst>
          </p:cNvPr>
          <p:cNvSpPr/>
          <p:nvPr/>
        </p:nvSpPr>
        <p:spPr>
          <a:xfrm>
            <a:off x="566928" y="1371600"/>
            <a:ext cx="3886200" cy="2514600"/>
          </a:xfrm>
          <a:prstGeom prst="roundRect">
            <a:avLst>
              <a:gd name="adj" fmla="val 4000"/>
            </a:avLst>
          </a:prstGeom>
          <a:solidFill>
            <a:srgbClr val="FFFFFF"/>
          </a:solidFill>
          <a:ln w="12700">
            <a:solidFill>
              <a:srgbClr val="FFFFFF"/>
            </a:solidFill>
            <a:prstDash val="solid"/>
          </a:ln>
          <a:effectLst>
            <a:outerShdw blurRad="114300" dist="38100" dir="5400000" algn="bl" rotWithShape="0">
              <a:srgbClr val="8FB2CF">
                <a:alpha val="28000"/>
              </a:srgbClr>
            </a:outerShdw>
          </a:effectLst>
        </p:spPr>
        <p:txBody>
          <a:bodyPr/>
          <a:lstStyle/>
          <a:p>
            <a:endParaRPr lang="en-HU"/>
          </a:p>
        </p:txBody>
      </p:sp>
      <p:sp>
        <p:nvSpPr>
          <p:cNvPr id="5" name="Text 3"/>
          <p:cNvSpPr/>
          <p:nvPr/>
        </p:nvSpPr>
        <p:spPr>
          <a:xfrm>
            <a:off x="795528" y="1554480"/>
            <a:ext cx="3429000" cy="457200"/>
          </a:xfrm>
          <a:prstGeom prst="rect">
            <a:avLst/>
          </a:prstGeom>
          <a:noFill/>
          <a:ln/>
        </p:spPr>
        <p:txBody>
          <a:bodyPr wrap="square" lIns="0" tIns="0" rIns="0" bIns="0" rtlCol="0" anchor="ctr"/>
          <a:lstStyle/>
          <a:p>
            <a:pPr marL="0" indent="0">
              <a:buNone/>
            </a:pPr>
            <a:r>
              <a:rPr lang="en-US" sz="2400" b="1">
                <a:solidFill>
                  <a:srgbClr val="1E5386"/>
                </a:solidFill>
                <a:latin typeface="Trebuchet MS" pitchFamily="34" charset="0"/>
                <a:ea typeface="Trebuchet MS" pitchFamily="34" charset="-122"/>
                <a:cs typeface="Trebuchet MS" pitchFamily="34" charset="-120"/>
              </a:rPr>
              <a:t>Microsoft secures</a:t>
            </a:r>
            <a:endParaRPr lang="en-US" sz="2400"/>
          </a:p>
        </p:txBody>
      </p:sp>
      <p:sp>
        <p:nvSpPr>
          <p:cNvPr id="6" name="Text 4"/>
          <p:cNvSpPr/>
          <p:nvPr/>
        </p:nvSpPr>
        <p:spPr>
          <a:xfrm>
            <a:off x="813816" y="2029968"/>
            <a:ext cx="3429000" cy="274320"/>
          </a:xfrm>
          <a:prstGeom prst="rect">
            <a:avLst/>
          </a:prstGeom>
          <a:noFill/>
          <a:ln/>
        </p:spPr>
        <p:txBody>
          <a:bodyPr wrap="square" lIns="0" tIns="0" rIns="0" bIns="0" rtlCol="0" anchor="ctr"/>
          <a:lstStyle/>
          <a:p>
            <a:pPr marL="0" indent="0">
              <a:buNone/>
            </a:pPr>
            <a:r>
              <a:rPr lang="en-US" sz="1150" b="1">
                <a:solidFill>
                  <a:srgbClr val="1E5386"/>
                </a:solidFill>
                <a:latin typeface="Calibri" pitchFamily="34" charset="0"/>
                <a:ea typeface="Calibri" pitchFamily="34" charset="-122"/>
                <a:cs typeface="Calibri" pitchFamily="34" charset="-120"/>
              </a:rPr>
              <a:t>The cloud itself</a:t>
            </a:r>
            <a:endParaRPr lang="en-US" sz="1150"/>
          </a:p>
        </p:txBody>
      </p:sp>
      <p:sp>
        <p:nvSpPr>
          <p:cNvPr id="7" name="Text 5"/>
          <p:cNvSpPr/>
          <p:nvPr/>
        </p:nvSpPr>
        <p:spPr>
          <a:xfrm>
            <a:off x="841248" y="2395728"/>
            <a:ext cx="3383280" cy="1417320"/>
          </a:xfrm>
          <a:prstGeom prst="rect">
            <a:avLst/>
          </a:prstGeom>
          <a:noFill/>
          <a:ln/>
        </p:spPr>
        <p:txBody>
          <a:bodyPr wrap="square" lIns="0" tIns="0" rIns="0" bIns="0" rtlCol="0" anchor="t"/>
          <a:lstStyle/>
          <a:p>
            <a:pPr marL="177800" indent="-177800">
              <a:spcAft>
                <a:spcPts val="700"/>
              </a:spcAft>
              <a:buSzPct val="100000"/>
              <a:buChar char="•"/>
            </a:pPr>
            <a:r>
              <a:rPr lang="en-US" sz="1300">
                <a:solidFill>
                  <a:srgbClr val="2A3B4D"/>
                </a:solidFill>
                <a:latin typeface="Calibri" pitchFamily="34" charset="0"/>
                <a:ea typeface="Calibri" pitchFamily="34" charset="-122"/>
                <a:cs typeface="Calibri" pitchFamily="34" charset="-120"/>
              </a:rPr>
              <a:t>Physical datacenters and buildings</a:t>
            </a:r>
            <a:endParaRPr lang="en-US" sz="1300"/>
          </a:p>
          <a:p>
            <a:pPr marL="177800" indent="-177800">
              <a:spcAft>
                <a:spcPts val="700"/>
              </a:spcAft>
              <a:buSzPct val="100000"/>
              <a:buChar char="•"/>
            </a:pPr>
            <a:r>
              <a:rPr lang="en-US" sz="1300">
                <a:solidFill>
                  <a:srgbClr val="2A3B4D"/>
                </a:solidFill>
                <a:latin typeface="Calibri" pitchFamily="34" charset="0"/>
                <a:ea typeface="Calibri" pitchFamily="34" charset="-122"/>
                <a:cs typeface="Calibri" pitchFamily="34" charset="-120"/>
              </a:rPr>
              <a:t>Host servers and hardware</a:t>
            </a:r>
            <a:endParaRPr lang="en-US" sz="1300"/>
          </a:p>
          <a:p>
            <a:pPr marL="177800" indent="-177800">
              <a:spcAft>
                <a:spcPts val="700"/>
              </a:spcAft>
              <a:buSzPct val="100000"/>
              <a:buChar char="•"/>
            </a:pPr>
            <a:r>
              <a:rPr lang="en-US" sz="1300">
                <a:solidFill>
                  <a:srgbClr val="2A3B4D"/>
                </a:solidFill>
                <a:latin typeface="Calibri" pitchFamily="34" charset="0"/>
                <a:ea typeface="Calibri" pitchFamily="34" charset="-122"/>
                <a:cs typeface="Calibri" pitchFamily="34" charset="-120"/>
              </a:rPr>
              <a:t>The physical network</a:t>
            </a:r>
            <a:endParaRPr lang="en-US" sz="1300"/>
          </a:p>
          <a:p>
            <a:pPr marL="177800" indent="-177800">
              <a:spcAft>
                <a:spcPts val="700"/>
              </a:spcAft>
              <a:buSzPct val="100000"/>
              <a:buChar char="•"/>
            </a:pPr>
            <a:r>
              <a:rPr lang="en-US" sz="1300">
                <a:solidFill>
                  <a:srgbClr val="2A3B4D"/>
                </a:solidFill>
                <a:latin typeface="Calibri" pitchFamily="34" charset="0"/>
                <a:ea typeface="Calibri" pitchFamily="34" charset="-122"/>
                <a:cs typeface="Calibri" pitchFamily="34" charset="-120"/>
              </a:rPr>
              <a:t>Datacenter access and security</a:t>
            </a:r>
            <a:endParaRPr lang="en-US" sz="1300"/>
          </a:p>
        </p:txBody>
      </p:sp>
      <p:sp>
        <p:nvSpPr>
          <p:cNvPr id="8" name="card">
            <a:extLst>
              <a:ext uri="{C183D7F6-B498-43B3-948B-1728B52AA6E4}">
                <adec:decorative xmlns:adec="http://schemas.microsoft.com/office/drawing/2017/decorative" val="1"/>
              </a:ext>
            </a:extLst>
          </p:cNvPr>
          <p:cNvSpPr/>
          <p:nvPr/>
        </p:nvSpPr>
        <p:spPr>
          <a:xfrm>
            <a:off x="4690872" y="1371600"/>
            <a:ext cx="3886200" cy="2514600"/>
          </a:xfrm>
          <a:prstGeom prst="roundRect">
            <a:avLst>
              <a:gd name="adj" fmla="val 4000"/>
            </a:avLst>
          </a:prstGeom>
          <a:solidFill>
            <a:srgbClr val="E6F1FB"/>
          </a:solidFill>
          <a:ln w="12700">
            <a:solidFill>
              <a:srgbClr val="FFFFFF"/>
            </a:solidFill>
            <a:prstDash val="solid"/>
          </a:ln>
          <a:effectLst>
            <a:outerShdw blurRad="114300" dist="38100" dir="5400000" algn="bl" rotWithShape="0">
              <a:srgbClr val="8FB2CF">
                <a:alpha val="28000"/>
              </a:srgbClr>
            </a:outerShdw>
          </a:effectLst>
        </p:spPr>
        <p:txBody>
          <a:bodyPr/>
          <a:lstStyle/>
          <a:p>
            <a:endParaRPr lang="en-HU"/>
          </a:p>
        </p:txBody>
      </p:sp>
      <p:sp>
        <p:nvSpPr>
          <p:cNvPr id="9" name="Text 7"/>
          <p:cNvSpPr/>
          <p:nvPr/>
        </p:nvSpPr>
        <p:spPr>
          <a:xfrm>
            <a:off x="4919472" y="1554480"/>
            <a:ext cx="3429000" cy="457200"/>
          </a:xfrm>
          <a:prstGeom prst="rect">
            <a:avLst/>
          </a:prstGeom>
          <a:noFill/>
          <a:ln/>
        </p:spPr>
        <p:txBody>
          <a:bodyPr wrap="square" lIns="0" tIns="0" rIns="0" bIns="0" rtlCol="0" anchor="ctr"/>
          <a:lstStyle/>
          <a:p>
            <a:pPr marL="0" indent="0">
              <a:buNone/>
            </a:pPr>
            <a:r>
              <a:rPr lang="en-US" sz="2400" b="1">
                <a:solidFill>
                  <a:srgbClr val="2E7CC4"/>
                </a:solidFill>
                <a:latin typeface="Trebuchet MS" pitchFamily="34" charset="0"/>
                <a:ea typeface="Trebuchet MS" pitchFamily="34" charset="-122"/>
                <a:cs typeface="Trebuchet MS" pitchFamily="34" charset="-120"/>
              </a:rPr>
              <a:t>You secure</a:t>
            </a:r>
            <a:endParaRPr lang="en-US" sz="2400"/>
          </a:p>
        </p:txBody>
      </p:sp>
      <p:sp>
        <p:nvSpPr>
          <p:cNvPr id="10" name="Text 8"/>
          <p:cNvSpPr/>
          <p:nvPr/>
        </p:nvSpPr>
        <p:spPr>
          <a:xfrm>
            <a:off x="4937760" y="2029968"/>
            <a:ext cx="3429000" cy="274320"/>
          </a:xfrm>
          <a:prstGeom prst="rect">
            <a:avLst/>
          </a:prstGeom>
          <a:noFill/>
          <a:ln/>
        </p:spPr>
        <p:txBody>
          <a:bodyPr wrap="square" lIns="0" tIns="0" rIns="0" bIns="0" rtlCol="0" anchor="ctr"/>
          <a:lstStyle/>
          <a:p>
            <a:pPr marL="0" indent="0">
              <a:buNone/>
            </a:pPr>
            <a:r>
              <a:rPr lang="en-US" sz="1150" b="1">
                <a:solidFill>
                  <a:srgbClr val="2E7CC4"/>
                </a:solidFill>
                <a:latin typeface="Calibri" pitchFamily="34" charset="0"/>
                <a:ea typeface="Calibri" pitchFamily="34" charset="-122"/>
                <a:cs typeface="Calibri" pitchFamily="34" charset="-120"/>
              </a:rPr>
              <a:t>What you put in the cloud</a:t>
            </a:r>
            <a:endParaRPr lang="en-US" sz="1150"/>
          </a:p>
        </p:txBody>
      </p:sp>
      <p:sp>
        <p:nvSpPr>
          <p:cNvPr id="11" name="Text 9"/>
          <p:cNvSpPr/>
          <p:nvPr/>
        </p:nvSpPr>
        <p:spPr>
          <a:xfrm>
            <a:off x="4965192" y="2395728"/>
            <a:ext cx="3383280" cy="1417320"/>
          </a:xfrm>
          <a:prstGeom prst="rect">
            <a:avLst/>
          </a:prstGeom>
          <a:noFill/>
          <a:ln/>
        </p:spPr>
        <p:txBody>
          <a:bodyPr wrap="square" lIns="0" tIns="0" rIns="0" bIns="0" rtlCol="0" anchor="t"/>
          <a:lstStyle/>
          <a:p>
            <a:pPr marL="177800" indent="-177800">
              <a:spcAft>
                <a:spcPts val="700"/>
              </a:spcAft>
              <a:buSzPct val="100000"/>
              <a:buChar char="•"/>
            </a:pPr>
            <a:r>
              <a:rPr lang="en-US" sz="1300">
                <a:solidFill>
                  <a:srgbClr val="2A3B4D"/>
                </a:solidFill>
                <a:latin typeface="Calibri" pitchFamily="34" charset="0"/>
                <a:ea typeface="Calibri" pitchFamily="34" charset="-122"/>
                <a:cs typeface="Calibri" pitchFamily="34" charset="-120"/>
              </a:rPr>
              <a:t>Your data, always</a:t>
            </a:r>
            <a:endParaRPr lang="en-US" sz="1300"/>
          </a:p>
          <a:p>
            <a:pPr marL="177800" indent="-177800">
              <a:spcAft>
                <a:spcPts val="700"/>
              </a:spcAft>
              <a:buSzPct val="100000"/>
              <a:buChar char="•"/>
            </a:pPr>
            <a:r>
              <a:rPr lang="en-US" sz="1300">
                <a:solidFill>
                  <a:srgbClr val="2A3B4D"/>
                </a:solidFill>
                <a:latin typeface="Calibri" pitchFamily="34" charset="0"/>
                <a:ea typeface="Calibri" pitchFamily="34" charset="-122"/>
                <a:cs typeface="Calibri" pitchFamily="34" charset="-120"/>
              </a:rPr>
              <a:t>Identities, accounts and access</a:t>
            </a:r>
            <a:endParaRPr lang="en-US" sz="1300"/>
          </a:p>
          <a:p>
            <a:pPr marL="177800" indent="-177800">
              <a:spcAft>
                <a:spcPts val="700"/>
              </a:spcAft>
              <a:buSzPct val="100000"/>
              <a:buChar char="•"/>
            </a:pPr>
            <a:r>
              <a:rPr lang="en-US" sz="1300">
                <a:solidFill>
                  <a:srgbClr val="2A3B4D"/>
                </a:solidFill>
                <a:latin typeface="Calibri" pitchFamily="34" charset="0"/>
                <a:ea typeface="Calibri" pitchFamily="34" charset="-122"/>
                <a:cs typeface="Calibri" pitchFamily="34" charset="-120"/>
              </a:rPr>
              <a:t>Devices and your configuration</a:t>
            </a:r>
            <a:endParaRPr lang="en-US" sz="1300"/>
          </a:p>
          <a:p>
            <a:pPr marL="177800" indent="-177800">
              <a:spcAft>
                <a:spcPts val="700"/>
              </a:spcAft>
              <a:buSzPct val="100000"/>
              <a:buChar char="•"/>
            </a:pPr>
            <a:r>
              <a:rPr lang="en-US" sz="1300">
                <a:solidFill>
                  <a:srgbClr val="2A3B4D"/>
                </a:solidFill>
                <a:latin typeface="Calibri" pitchFamily="34" charset="0"/>
                <a:ea typeface="Calibri" pitchFamily="34" charset="-122"/>
                <a:cs typeface="Calibri" pitchFamily="34" charset="-120"/>
              </a:rPr>
              <a:t>How you configure your services</a:t>
            </a:r>
            <a:endParaRPr lang="en-US" sz="1300"/>
          </a:p>
        </p:txBody>
      </p:sp>
      <p:sp>
        <p:nvSpPr>
          <p:cNvPr id="12" name="takeaway">
            <a:extLst>
              <a:ext uri="{C183D7F6-B498-43B3-948B-1728B52AA6E4}">
                <adec:decorative xmlns:adec="http://schemas.microsoft.com/office/drawing/2017/decorative" val="1"/>
              </a:ext>
            </a:extLst>
          </p:cNvPr>
          <p:cNvSpPr/>
          <p:nvPr/>
        </p:nvSpPr>
        <p:spPr>
          <a:xfrm>
            <a:off x="566928" y="4114800"/>
            <a:ext cx="8010144" cy="566928"/>
          </a:xfrm>
          <a:prstGeom prst="roundRect">
            <a:avLst>
              <a:gd name="adj" fmla="val 22581"/>
            </a:avLst>
          </a:prstGeom>
          <a:solidFill>
            <a:srgbClr val="E2F3EE"/>
          </a:solidFill>
          <a:ln w="12700">
            <a:solidFill>
              <a:srgbClr val="BFE3D8"/>
            </a:solidFill>
            <a:prstDash val="solid"/>
          </a:ln>
        </p:spPr>
        <p:txBody>
          <a:bodyPr/>
          <a:lstStyle/>
          <a:p>
            <a:endParaRPr lang="en-HU"/>
          </a:p>
        </p:txBody>
      </p:sp>
      <p:sp>
        <p:nvSpPr>
          <p:cNvPr id="13" name="Text 11"/>
          <p:cNvSpPr/>
          <p:nvPr/>
        </p:nvSpPr>
        <p:spPr>
          <a:xfrm>
            <a:off x="822960" y="4114800"/>
            <a:ext cx="7498080" cy="566928"/>
          </a:xfrm>
          <a:prstGeom prst="rect">
            <a:avLst/>
          </a:prstGeom>
          <a:noFill/>
          <a:ln/>
        </p:spPr>
        <p:txBody>
          <a:bodyPr wrap="square" lIns="0" tIns="0" rIns="0" bIns="0" rtlCol="0" anchor="ctr"/>
          <a:lstStyle/>
          <a:p>
            <a:pPr marL="0" indent="0">
              <a:buNone/>
            </a:pPr>
            <a:r>
              <a:rPr lang="en-US" sz="1300" b="1">
                <a:solidFill>
                  <a:srgbClr val="2FA98A"/>
                </a:solidFill>
                <a:latin typeface="Calibri" pitchFamily="34" charset="0"/>
                <a:ea typeface="Calibri" pitchFamily="34" charset="-122"/>
                <a:cs typeface="Calibri" pitchFamily="34" charset="-120"/>
              </a:rPr>
              <a:t>The middle shifts   </a:t>
            </a:r>
            <a:r>
              <a:rPr lang="en-US" sz="1300">
                <a:solidFill>
                  <a:srgbClr val="2A3B4D"/>
                </a:solidFill>
                <a:latin typeface="Calibri" pitchFamily="34" charset="0"/>
                <a:ea typeface="Calibri" pitchFamily="34" charset="-122"/>
                <a:cs typeface="Calibri" pitchFamily="34" charset="-120"/>
              </a:rPr>
              <a:t>with IaaS you manage the OS and apps; with PaaS the provider takes those on; with SaaS they handle almost everything.</a:t>
            </a:r>
            <a:endParaRPr lang="en-US" sz="13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ervice Models">
    <p:spTree>
      <p:nvGrpSpPr>
        <p:cNvPr id="1" name=""/>
        <p:cNvGrpSpPr/>
        <p:nvPr/>
      </p:nvGrpSpPr>
      <p:grpSpPr>
        <a:xfrm>
          <a:off x="0" y="0"/>
          <a:ext cx="0" cy="0"/>
          <a:chOff x="0" y="0"/>
          <a:chExt cx="0" cy="0"/>
        </a:xfrm>
      </p:grpSpPr>
      <p:sp>
        <p:nvSpPr>
          <p:cNvPr id="2" name="Text 2"/>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a:solidFill>
                  <a:srgbClr val="EF6F58"/>
                </a:solidFill>
                <a:latin typeface="Trebuchet MS" pitchFamily="34" charset="0"/>
                <a:ea typeface="Trebuchet MS" pitchFamily="34" charset="-122"/>
                <a:cs typeface="Trebuchet MS" pitchFamily="34" charset="-120"/>
              </a:rPr>
              <a:t>CLOUD SERVICE MODELS</a:t>
            </a:r>
            <a:endParaRPr lang="en-US" sz="1250"/>
          </a:p>
        </p:txBody>
      </p:sp>
      <p:sp>
        <p:nvSpPr>
          <p:cNvPr id="3" name="Title"/>
          <p:cNvSpPr>
            <a:spLocks noGrp="1"/>
          </p:cNvSpPr>
          <p:nvPr>
            <p:ph type="title" idx="100" hasCustomPrompt="1"/>
          </p:nvPr>
        </p:nvSpPr>
        <p:spPr>
          <a:xfrm>
            <a:off x="548640" y="530352"/>
            <a:ext cx="5200000" cy="658368"/>
          </a:xfrm>
          <a:prstGeom prst="rect">
            <a:avLst/>
          </a:prstGeom>
          <a:noFill/>
          <a:ln/>
        </p:spPr>
        <p:txBody>
          <a:bodyPr wrap="square" lIns="0" tIns="0" rIns="0" bIns="0" rtlCol="0" anchor="ctr"/>
          <a:lstStyle/>
          <a:p>
            <a:pPr marL="0" indent="0" algn="l">
              <a:buNone/>
            </a:pPr>
            <a:r>
              <a:rPr lang="en-US" sz="3000" b="1" kern="0">
                <a:solidFill>
                  <a:srgbClr val="1E5386"/>
                </a:solidFill>
                <a:latin typeface="Trebuchet MS" pitchFamily="34" charset="0"/>
                <a:ea typeface="Trebuchet MS" pitchFamily="34" charset="-122"/>
                <a:cs typeface="Trebuchet MS" pitchFamily="34" charset="-120"/>
              </a:rPr>
              <a:t>Who manages what?</a:t>
            </a:r>
            <a:endParaRPr lang="en-US" sz="3000"/>
          </a:p>
        </p:txBody>
      </p:sp>
      <p:sp>
        <p:nvSpPr>
          <p:cNvPr id="20" name="legend swatch 1"/>
          <p:cNvSpPr/>
          <p:nvPr/>
        </p:nvSpPr>
        <p:spPr>
          <a:xfrm>
            <a:off x="5170000" y="686000"/>
            <a:ext cx="200000" cy="200000"/>
          </a:xfrm>
          <a:prstGeom prst="roundRect">
            <a:avLst>
              <a:gd name="adj" fmla="val 22000"/>
            </a:avLst>
          </a:prstGeom>
          <a:solidFill>
            <a:srgbClr val="2E7CC4"/>
          </a:solidFill>
          <a:ln>
            <a:noFill/>
          </a:ln>
        </p:spPr>
        <p:txBody>
          <a:bodyPr/>
          <a:lstStyle/>
          <a:p>
            <a:endParaRPr lang="en-US"/>
          </a:p>
        </p:txBody>
      </p:sp>
      <p:sp>
        <p:nvSpPr>
          <p:cNvPr id="21" name="Text 21"/>
          <p:cNvSpPr/>
          <p:nvPr/>
        </p:nvSpPr>
        <p:spPr>
          <a:xfrm>
            <a:off x="5410000" y="636000"/>
            <a:ext cx="900000" cy="300000"/>
          </a:xfrm>
          <a:prstGeom prst="rect">
            <a:avLst/>
          </a:prstGeom>
          <a:noFill/>
          <a:ln/>
        </p:spPr>
        <p:txBody>
          <a:bodyPr wrap="square" lIns="0" tIns="0" rIns="0" bIns="0" rtlCol="0" anchor="ctr"/>
          <a:lstStyle/>
          <a:p>
            <a:pPr marL="0" indent="0" algn="l">
              <a:buNone/>
            </a:pPr>
            <a:r>
              <a:rPr lang="en-US" sz="1000" b="1" kern="0">
                <a:solidFill>
                  <a:srgbClr val="2A3B4D"/>
                </a:solidFill>
                <a:latin typeface="Calibri" pitchFamily="34" charset="0"/>
                <a:ea typeface="Calibri" pitchFamily="34" charset="-122"/>
                <a:cs typeface="Calibri" pitchFamily="34" charset="-120"/>
              </a:rPr>
              <a:t>You manage</a:t>
            </a:r>
            <a:endParaRPr lang="en-US" sz="1000"/>
          </a:p>
        </p:txBody>
      </p:sp>
      <p:sp>
        <p:nvSpPr>
          <p:cNvPr id="22" name="legend swatch 2"/>
          <p:cNvSpPr/>
          <p:nvPr/>
        </p:nvSpPr>
        <p:spPr>
          <a:xfrm>
            <a:off x="6480000" y="686000"/>
            <a:ext cx="200000" cy="200000"/>
          </a:xfrm>
          <a:prstGeom prst="roundRect">
            <a:avLst>
              <a:gd name="adj" fmla="val 22000"/>
            </a:avLst>
          </a:prstGeom>
          <a:solidFill>
            <a:srgbClr val="EAEFF4"/>
          </a:solidFill>
          <a:ln w="9525">
            <a:solidFill>
              <a:srgbClr val="D5DEE7"/>
            </a:solidFill>
          </a:ln>
        </p:spPr>
        <p:txBody>
          <a:bodyPr/>
          <a:lstStyle/>
          <a:p>
            <a:endParaRPr lang="en-US"/>
          </a:p>
        </p:txBody>
      </p:sp>
      <p:sp>
        <p:nvSpPr>
          <p:cNvPr id="23" name="Text 23"/>
          <p:cNvSpPr/>
          <p:nvPr/>
        </p:nvSpPr>
        <p:spPr>
          <a:xfrm>
            <a:off x="6720000" y="636000"/>
            <a:ext cx="1700000" cy="300000"/>
          </a:xfrm>
          <a:prstGeom prst="rect">
            <a:avLst/>
          </a:prstGeom>
          <a:noFill/>
          <a:ln/>
        </p:spPr>
        <p:txBody>
          <a:bodyPr wrap="square" lIns="0" tIns="0" rIns="0" bIns="0" rtlCol="0" anchor="ctr"/>
          <a:lstStyle/>
          <a:p>
            <a:pPr marL="0" indent="0" algn="l">
              <a:buNone/>
            </a:pPr>
            <a:r>
              <a:rPr lang="en-US" sz="1000" b="1" kern="0">
                <a:solidFill>
                  <a:srgbClr val="2A3B4D"/>
                </a:solidFill>
                <a:latin typeface="Calibri" pitchFamily="34" charset="0"/>
                <a:ea typeface="Calibri" pitchFamily="34" charset="-122"/>
                <a:cs typeface="Calibri" pitchFamily="34" charset="-120"/>
              </a:rPr>
              <a:t>Managed by vendor</a:t>
            </a:r>
            <a:endParaRPr lang="en-US" sz="1000"/>
          </a:p>
        </p:txBody>
      </p:sp>
      <p:sp>
        <p:nvSpPr>
          <p:cNvPr id="24" name="Text 24"/>
          <p:cNvSpPr/>
          <p:nvPr/>
        </p:nvSpPr>
        <p:spPr>
          <a:xfrm>
            <a:off x="566928" y="1200000"/>
            <a:ext cx="2380000" cy="300000"/>
          </a:xfrm>
          <a:prstGeom prst="rect">
            <a:avLst/>
          </a:prstGeom>
          <a:noFill/>
          <a:ln/>
        </p:spPr>
        <p:txBody>
          <a:bodyPr wrap="square" lIns="0" tIns="0" rIns="0" bIns="0" rtlCol="0" anchor="ctr"/>
          <a:lstStyle/>
          <a:p>
            <a:pPr marL="0" indent="0" algn="ctr">
              <a:buNone/>
            </a:pPr>
            <a:r>
              <a:rPr lang="en-US" sz="1400" b="1" kern="0">
                <a:solidFill>
                  <a:srgbClr val="2E7CC4"/>
                </a:solidFill>
                <a:latin typeface="Trebuchet MS" pitchFamily="34" charset="0"/>
                <a:ea typeface="Trebuchet MS" pitchFamily="34" charset="-122"/>
                <a:cs typeface="Trebuchet MS" pitchFamily="34" charset="-120"/>
              </a:rPr>
              <a:t>Infrastructure</a:t>
            </a:r>
            <a:endParaRPr lang="en-US" sz="1400"/>
          </a:p>
        </p:txBody>
      </p:sp>
      <p:sp>
        <p:nvSpPr>
          <p:cNvPr id="25" name="Text 25"/>
          <p:cNvSpPr/>
          <p:nvPr/>
        </p:nvSpPr>
        <p:spPr>
          <a:xfrm>
            <a:off x="566928" y="1490000"/>
            <a:ext cx="2380000" cy="200000"/>
          </a:xfrm>
          <a:prstGeom prst="rect">
            <a:avLst/>
          </a:prstGeom>
          <a:noFill/>
          <a:ln/>
        </p:spPr>
        <p:txBody>
          <a:bodyPr wrap="square" lIns="0" tIns="0" rIns="0" bIns="0" rtlCol="0" anchor="ctr"/>
          <a:lstStyle/>
          <a:p>
            <a:pPr marL="0" indent="0" algn="ctr">
              <a:buNone/>
            </a:pPr>
            <a:r>
              <a:rPr lang="en-US" sz="950" kern="0">
                <a:solidFill>
                  <a:srgbClr val="6E8298"/>
                </a:solidFill>
                <a:latin typeface="Calibri" pitchFamily="34" charset="0"/>
                <a:ea typeface="Calibri" pitchFamily="34" charset="-122"/>
                <a:cs typeface="Calibri" pitchFamily="34" charset="-120"/>
              </a:rPr>
              <a:t>IaaS — as a service</a:t>
            </a:r>
            <a:endParaRPr lang="en-US" sz="950"/>
          </a:p>
        </p:txBody>
      </p:sp>
      <p:sp>
        <p:nvSpPr>
          <p:cNvPr id="26" name="chip 26"/>
          <p:cNvSpPr/>
          <p:nvPr/>
        </p:nvSpPr>
        <p:spPr>
          <a:xfrm>
            <a:off x="566928" y="1760000"/>
            <a:ext cx="2380000" cy="222000"/>
          </a:xfrm>
          <a:prstGeom prst="roundRect">
            <a:avLst>
              <a:gd name="adj" fmla="val 14000"/>
            </a:avLst>
          </a:prstGeom>
          <a:solidFill>
            <a:srgbClr val="2E7CC4"/>
          </a:solidFill>
          <a:ln>
            <a:noFill/>
          </a:ln>
        </p:spPr>
        <p:txBody>
          <a:bodyPr wrap="square" lIns="45720" tIns="0" rIns="45720" bIns="0" rtlCol="0" anchor="ctr"/>
          <a:lstStyle/>
          <a:p>
            <a:pPr marL="0" indent="0" algn="ctr">
              <a:buNone/>
            </a:pPr>
            <a:r>
              <a:rPr lang="en-US" sz="900" b="1" kern="0">
                <a:solidFill>
                  <a:srgbClr val="FFFFFF"/>
                </a:solidFill>
                <a:latin typeface="Calibri" pitchFamily="34" charset="0"/>
                <a:ea typeface="Calibri" pitchFamily="34" charset="-122"/>
                <a:cs typeface="Calibri" pitchFamily="34" charset="-120"/>
              </a:rPr>
              <a:t>Applications</a:t>
            </a:r>
            <a:endParaRPr lang="en-US" sz="900"/>
          </a:p>
        </p:txBody>
      </p:sp>
      <p:sp>
        <p:nvSpPr>
          <p:cNvPr id="27" name="chip 27"/>
          <p:cNvSpPr/>
          <p:nvPr/>
        </p:nvSpPr>
        <p:spPr>
          <a:xfrm>
            <a:off x="566928" y="2010000"/>
            <a:ext cx="2380000" cy="222000"/>
          </a:xfrm>
          <a:prstGeom prst="roundRect">
            <a:avLst>
              <a:gd name="adj" fmla="val 14000"/>
            </a:avLst>
          </a:prstGeom>
          <a:solidFill>
            <a:srgbClr val="2E7CC4"/>
          </a:solidFill>
          <a:ln>
            <a:noFill/>
          </a:ln>
        </p:spPr>
        <p:txBody>
          <a:bodyPr wrap="square" lIns="45720" tIns="0" rIns="45720" bIns="0" rtlCol="0" anchor="ctr"/>
          <a:lstStyle/>
          <a:p>
            <a:pPr marL="0" indent="0" algn="ctr">
              <a:buNone/>
            </a:pPr>
            <a:r>
              <a:rPr lang="en-US" sz="900" b="1" kern="0">
                <a:solidFill>
                  <a:srgbClr val="FFFFFF"/>
                </a:solidFill>
                <a:latin typeface="Calibri" pitchFamily="34" charset="0"/>
                <a:ea typeface="Calibri" pitchFamily="34" charset="-122"/>
                <a:cs typeface="Calibri" pitchFamily="34" charset="-120"/>
              </a:rPr>
              <a:t>Runtimes</a:t>
            </a:r>
            <a:endParaRPr lang="en-US" sz="900"/>
          </a:p>
        </p:txBody>
      </p:sp>
      <p:sp>
        <p:nvSpPr>
          <p:cNvPr id="28" name="chip 28"/>
          <p:cNvSpPr/>
          <p:nvPr/>
        </p:nvSpPr>
        <p:spPr>
          <a:xfrm>
            <a:off x="566928" y="2260000"/>
            <a:ext cx="2380000" cy="222000"/>
          </a:xfrm>
          <a:prstGeom prst="roundRect">
            <a:avLst>
              <a:gd name="adj" fmla="val 14000"/>
            </a:avLst>
          </a:prstGeom>
          <a:solidFill>
            <a:srgbClr val="2E7CC4"/>
          </a:solidFill>
          <a:ln>
            <a:noFill/>
          </a:ln>
        </p:spPr>
        <p:txBody>
          <a:bodyPr wrap="square" lIns="45720" tIns="0" rIns="45720" bIns="0" rtlCol="0" anchor="ctr"/>
          <a:lstStyle/>
          <a:p>
            <a:pPr marL="0" indent="0" algn="ctr">
              <a:buNone/>
            </a:pPr>
            <a:r>
              <a:rPr lang="en-US" sz="900" b="1" kern="0">
                <a:solidFill>
                  <a:srgbClr val="FFFFFF"/>
                </a:solidFill>
                <a:latin typeface="Calibri" pitchFamily="34" charset="0"/>
                <a:ea typeface="Calibri" pitchFamily="34" charset="-122"/>
                <a:cs typeface="Calibri" pitchFamily="34" charset="-120"/>
              </a:rPr>
              <a:t>Security &amp; Integration</a:t>
            </a:r>
            <a:endParaRPr lang="en-US" sz="900"/>
          </a:p>
        </p:txBody>
      </p:sp>
      <p:sp>
        <p:nvSpPr>
          <p:cNvPr id="29" name="chip 29"/>
          <p:cNvSpPr/>
          <p:nvPr/>
        </p:nvSpPr>
        <p:spPr>
          <a:xfrm>
            <a:off x="566928" y="2510000"/>
            <a:ext cx="2380000" cy="222000"/>
          </a:xfrm>
          <a:prstGeom prst="roundRect">
            <a:avLst>
              <a:gd name="adj" fmla="val 14000"/>
            </a:avLst>
          </a:prstGeom>
          <a:solidFill>
            <a:srgbClr val="2E7CC4"/>
          </a:solidFill>
          <a:ln>
            <a:noFill/>
          </a:ln>
        </p:spPr>
        <p:txBody>
          <a:bodyPr wrap="square" lIns="45720" tIns="0" rIns="45720" bIns="0" rtlCol="0" anchor="ctr"/>
          <a:lstStyle/>
          <a:p>
            <a:pPr marL="0" indent="0" algn="ctr">
              <a:buNone/>
            </a:pPr>
            <a:r>
              <a:rPr lang="en-US" sz="900" b="1" kern="0">
                <a:solidFill>
                  <a:srgbClr val="FFFFFF"/>
                </a:solidFill>
                <a:latin typeface="Calibri" pitchFamily="34" charset="0"/>
                <a:ea typeface="Calibri" pitchFamily="34" charset="-122"/>
                <a:cs typeface="Calibri" pitchFamily="34" charset="-120"/>
              </a:rPr>
              <a:t>Databases</a:t>
            </a:r>
            <a:endParaRPr lang="en-US" sz="900"/>
          </a:p>
        </p:txBody>
      </p:sp>
      <p:sp>
        <p:nvSpPr>
          <p:cNvPr id="30" name="chip 30"/>
          <p:cNvSpPr/>
          <p:nvPr/>
        </p:nvSpPr>
        <p:spPr>
          <a:xfrm>
            <a:off x="566928" y="27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Servers</a:t>
            </a:r>
            <a:endParaRPr lang="en-US" sz="900"/>
          </a:p>
        </p:txBody>
      </p:sp>
      <p:sp>
        <p:nvSpPr>
          <p:cNvPr id="31" name="chip 31"/>
          <p:cNvSpPr/>
          <p:nvPr/>
        </p:nvSpPr>
        <p:spPr>
          <a:xfrm>
            <a:off x="566928" y="301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Virtualization</a:t>
            </a:r>
            <a:endParaRPr lang="en-US" sz="900"/>
          </a:p>
        </p:txBody>
      </p:sp>
      <p:sp>
        <p:nvSpPr>
          <p:cNvPr id="32" name="chip 32"/>
          <p:cNvSpPr/>
          <p:nvPr/>
        </p:nvSpPr>
        <p:spPr>
          <a:xfrm>
            <a:off x="566928" y="32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Server HW</a:t>
            </a:r>
            <a:endParaRPr lang="en-US" sz="900"/>
          </a:p>
        </p:txBody>
      </p:sp>
      <p:sp>
        <p:nvSpPr>
          <p:cNvPr id="33" name="chip 33"/>
          <p:cNvSpPr/>
          <p:nvPr/>
        </p:nvSpPr>
        <p:spPr>
          <a:xfrm>
            <a:off x="566928" y="351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Storage</a:t>
            </a:r>
            <a:endParaRPr lang="en-US" sz="900"/>
          </a:p>
        </p:txBody>
      </p:sp>
      <p:sp>
        <p:nvSpPr>
          <p:cNvPr id="34" name="chip 34"/>
          <p:cNvSpPr/>
          <p:nvPr/>
        </p:nvSpPr>
        <p:spPr>
          <a:xfrm>
            <a:off x="566928" y="37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Networking</a:t>
            </a:r>
            <a:endParaRPr lang="en-US" sz="900"/>
          </a:p>
        </p:txBody>
      </p:sp>
      <p:sp>
        <p:nvSpPr>
          <p:cNvPr id="35" name="Text 35"/>
          <p:cNvSpPr/>
          <p:nvPr/>
        </p:nvSpPr>
        <p:spPr>
          <a:xfrm>
            <a:off x="3382000" y="1200000"/>
            <a:ext cx="2380000" cy="300000"/>
          </a:xfrm>
          <a:prstGeom prst="rect">
            <a:avLst/>
          </a:prstGeom>
          <a:noFill/>
          <a:ln/>
        </p:spPr>
        <p:txBody>
          <a:bodyPr wrap="square" lIns="0" tIns="0" rIns="0" bIns="0" rtlCol="0" anchor="ctr"/>
          <a:lstStyle/>
          <a:p>
            <a:pPr marL="0" indent="0" algn="ctr">
              <a:buNone/>
            </a:pPr>
            <a:r>
              <a:rPr lang="en-US" sz="1400" b="1" kern="0">
                <a:solidFill>
                  <a:srgbClr val="2FA98A"/>
                </a:solidFill>
                <a:latin typeface="Trebuchet MS" pitchFamily="34" charset="0"/>
                <a:ea typeface="Trebuchet MS" pitchFamily="34" charset="-122"/>
                <a:cs typeface="Trebuchet MS" pitchFamily="34" charset="-120"/>
              </a:rPr>
              <a:t>Platform</a:t>
            </a:r>
            <a:endParaRPr lang="en-US" sz="1400"/>
          </a:p>
        </p:txBody>
      </p:sp>
      <p:sp>
        <p:nvSpPr>
          <p:cNvPr id="36" name="Text 36"/>
          <p:cNvSpPr/>
          <p:nvPr/>
        </p:nvSpPr>
        <p:spPr>
          <a:xfrm>
            <a:off x="3382000" y="1490000"/>
            <a:ext cx="2380000" cy="200000"/>
          </a:xfrm>
          <a:prstGeom prst="rect">
            <a:avLst/>
          </a:prstGeom>
          <a:noFill/>
          <a:ln/>
        </p:spPr>
        <p:txBody>
          <a:bodyPr wrap="square" lIns="0" tIns="0" rIns="0" bIns="0" rtlCol="0" anchor="ctr"/>
          <a:lstStyle/>
          <a:p>
            <a:pPr marL="0" indent="0" algn="ctr">
              <a:buNone/>
            </a:pPr>
            <a:r>
              <a:rPr lang="en-US" sz="950" kern="0">
                <a:solidFill>
                  <a:srgbClr val="6E8298"/>
                </a:solidFill>
                <a:latin typeface="Calibri" pitchFamily="34" charset="0"/>
                <a:ea typeface="Calibri" pitchFamily="34" charset="-122"/>
                <a:cs typeface="Calibri" pitchFamily="34" charset="-120"/>
              </a:rPr>
              <a:t>PaaS — as a service</a:t>
            </a:r>
            <a:endParaRPr lang="en-US" sz="950"/>
          </a:p>
        </p:txBody>
      </p:sp>
      <p:sp>
        <p:nvSpPr>
          <p:cNvPr id="37" name="chip 37"/>
          <p:cNvSpPr/>
          <p:nvPr/>
        </p:nvSpPr>
        <p:spPr>
          <a:xfrm>
            <a:off x="3382000" y="1760000"/>
            <a:ext cx="2380000" cy="222000"/>
          </a:xfrm>
          <a:prstGeom prst="roundRect">
            <a:avLst>
              <a:gd name="adj" fmla="val 14000"/>
            </a:avLst>
          </a:prstGeom>
          <a:solidFill>
            <a:srgbClr val="2E7CC4"/>
          </a:solidFill>
          <a:ln>
            <a:noFill/>
          </a:ln>
        </p:spPr>
        <p:txBody>
          <a:bodyPr wrap="square" lIns="45720" tIns="0" rIns="45720" bIns="0" rtlCol="0" anchor="ctr"/>
          <a:lstStyle/>
          <a:p>
            <a:pPr marL="0" indent="0" algn="ctr">
              <a:buNone/>
            </a:pPr>
            <a:r>
              <a:rPr lang="en-US" sz="900" b="1" kern="0">
                <a:solidFill>
                  <a:srgbClr val="FFFFFF"/>
                </a:solidFill>
                <a:latin typeface="Calibri" pitchFamily="34" charset="0"/>
                <a:ea typeface="Calibri" pitchFamily="34" charset="-122"/>
                <a:cs typeface="Calibri" pitchFamily="34" charset="-120"/>
              </a:rPr>
              <a:t>Applications</a:t>
            </a:r>
            <a:endParaRPr lang="en-US" sz="900"/>
          </a:p>
        </p:txBody>
      </p:sp>
      <p:sp>
        <p:nvSpPr>
          <p:cNvPr id="38" name="chip 38"/>
          <p:cNvSpPr/>
          <p:nvPr/>
        </p:nvSpPr>
        <p:spPr>
          <a:xfrm>
            <a:off x="3382000" y="201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Runtimes</a:t>
            </a:r>
            <a:endParaRPr lang="en-US" sz="900"/>
          </a:p>
        </p:txBody>
      </p:sp>
      <p:sp>
        <p:nvSpPr>
          <p:cNvPr id="39" name="chip 39"/>
          <p:cNvSpPr/>
          <p:nvPr/>
        </p:nvSpPr>
        <p:spPr>
          <a:xfrm>
            <a:off x="3382000" y="22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Security &amp; Integration</a:t>
            </a:r>
            <a:endParaRPr lang="en-US" sz="900"/>
          </a:p>
        </p:txBody>
      </p:sp>
      <p:sp>
        <p:nvSpPr>
          <p:cNvPr id="40" name="chip 40"/>
          <p:cNvSpPr/>
          <p:nvPr/>
        </p:nvSpPr>
        <p:spPr>
          <a:xfrm>
            <a:off x="3382000" y="251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Databases</a:t>
            </a:r>
            <a:endParaRPr lang="en-US" sz="900"/>
          </a:p>
        </p:txBody>
      </p:sp>
      <p:sp>
        <p:nvSpPr>
          <p:cNvPr id="41" name="chip 41"/>
          <p:cNvSpPr/>
          <p:nvPr/>
        </p:nvSpPr>
        <p:spPr>
          <a:xfrm>
            <a:off x="3382000" y="27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Servers</a:t>
            </a:r>
            <a:endParaRPr lang="en-US" sz="900"/>
          </a:p>
        </p:txBody>
      </p:sp>
      <p:sp>
        <p:nvSpPr>
          <p:cNvPr id="42" name="chip 42"/>
          <p:cNvSpPr/>
          <p:nvPr/>
        </p:nvSpPr>
        <p:spPr>
          <a:xfrm>
            <a:off x="3382000" y="301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Virtualization</a:t>
            </a:r>
            <a:endParaRPr lang="en-US" sz="900"/>
          </a:p>
        </p:txBody>
      </p:sp>
      <p:sp>
        <p:nvSpPr>
          <p:cNvPr id="43" name="chip 43"/>
          <p:cNvSpPr/>
          <p:nvPr/>
        </p:nvSpPr>
        <p:spPr>
          <a:xfrm>
            <a:off x="3382000" y="32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Server HW</a:t>
            </a:r>
            <a:endParaRPr lang="en-US" sz="900"/>
          </a:p>
        </p:txBody>
      </p:sp>
      <p:sp>
        <p:nvSpPr>
          <p:cNvPr id="44" name="chip 44"/>
          <p:cNvSpPr/>
          <p:nvPr/>
        </p:nvSpPr>
        <p:spPr>
          <a:xfrm>
            <a:off x="3382000" y="351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Storage</a:t>
            </a:r>
            <a:endParaRPr lang="en-US" sz="900"/>
          </a:p>
        </p:txBody>
      </p:sp>
      <p:sp>
        <p:nvSpPr>
          <p:cNvPr id="45" name="chip 45"/>
          <p:cNvSpPr/>
          <p:nvPr/>
        </p:nvSpPr>
        <p:spPr>
          <a:xfrm>
            <a:off x="3382000" y="37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Networking</a:t>
            </a:r>
            <a:endParaRPr lang="en-US" sz="900"/>
          </a:p>
        </p:txBody>
      </p:sp>
      <p:sp>
        <p:nvSpPr>
          <p:cNvPr id="46" name="Text 46"/>
          <p:cNvSpPr/>
          <p:nvPr/>
        </p:nvSpPr>
        <p:spPr>
          <a:xfrm>
            <a:off x="6197072" y="1200000"/>
            <a:ext cx="2380000" cy="300000"/>
          </a:xfrm>
          <a:prstGeom prst="rect">
            <a:avLst/>
          </a:prstGeom>
          <a:noFill/>
          <a:ln/>
        </p:spPr>
        <p:txBody>
          <a:bodyPr wrap="square" lIns="0" tIns="0" rIns="0" bIns="0" rtlCol="0" anchor="ctr"/>
          <a:lstStyle/>
          <a:p>
            <a:pPr marL="0" indent="0" algn="ctr">
              <a:buNone/>
            </a:pPr>
            <a:r>
              <a:rPr lang="en-US" sz="1400" b="1" kern="0">
                <a:solidFill>
                  <a:srgbClr val="E4A031"/>
                </a:solidFill>
                <a:latin typeface="Trebuchet MS" pitchFamily="34" charset="0"/>
                <a:ea typeface="Trebuchet MS" pitchFamily="34" charset="-122"/>
                <a:cs typeface="Trebuchet MS" pitchFamily="34" charset="-120"/>
              </a:rPr>
              <a:t>Software</a:t>
            </a:r>
            <a:endParaRPr lang="en-US" sz="1400"/>
          </a:p>
        </p:txBody>
      </p:sp>
      <p:sp>
        <p:nvSpPr>
          <p:cNvPr id="47" name="Text 47"/>
          <p:cNvSpPr/>
          <p:nvPr/>
        </p:nvSpPr>
        <p:spPr>
          <a:xfrm>
            <a:off x="6197072" y="1490000"/>
            <a:ext cx="2380000" cy="200000"/>
          </a:xfrm>
          <a:prstGeom prst="rect">
            <a:avLst/>
          </a:prstGeom>
          <a:noFill/>
          <a:ln/>
        </p:spPr>
        <p:txBody>
          <a:bodyPr wrap="square" lIns="0" tIns="0" rIns="0" bIns="0" rtlCol="0" anchor="ctr"/>
          <a:lstStyle/>
          <a:p>
            <a:pPr marL="0" indent="0" algn="ctr">
              <a:buNone/>
            </a:pPr>
            <a:r>
              <a:rPr lang="en-US" sz="950" kern="0">
                <a:solidFill>
                  <a:srgbClr val="6E8298"/>
                </a:solidFill>
                <a:latin typeface="Calibri" pitchFamily="34" charset="0"/>
                <a:ea typeface="Calibri" pitchFamily="34" charset="-122"/>
                <a:cs typeface="Calibri" pitchFamily="34" charset="-120"/>
              </a:rPr>
              <a:t>SaaS — as a service</a:t>
            </a:r>
            <a:endParaRPr lang="en-US" sz="950"/>
          </a:p>
        </p:txBody>
      </p:sp>
      <p:sp>
        <p:nvSpPr>
          <p:cNvPr id="48" name="chip 48"/>
          <p:cNvSpPr/>
          <p:nvPr/>
        </p:nvSpPr>
        <p:spPr>
          <a:xfrm>
            <a:off x="6197072" y="17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Applications</a:t>
            </a:r>
            <a:endParaRPr lang="en-US" sz="900"/>
          </a:p>
        </p:txBody>
      </p:sp>
      <p:sp>
        <p:nvSpPr>
          <p:cNvPr id="49" name="chip 49"/>
          <p:cNvSpPr/>
          <p:nvPr/>
        </p:nvSpPr>
        <p:spPr>
          <a:xfrm>
            <a:off x="6197072" y="201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Runtimes</a:t>
            </a:r>
            <a:endParaRPr lang="en-US" sz="900"/>
          </a:p>
        </p:txBody>
      </p:sp>
      <p:sp>
        <p:nvSpPr>
          <p:cNvPr id="50" name="chip 50"/>
          <p:cNvSpPr/>
          <p:nvPr/>
        </p:nvSpPr>
        <p:spPr>
          <a:xfrm>
            <a:off x="6197072" y="22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Security &amp; Integration</a:t>
            </a:r>
            <a:endParaRPr lang="en-US" sz="900"/>
          </a:p>
        </p:txBody>
      </p:sp>
      <p:sp>
        <p:nvSpPr>
          <p:cNvPr id="51" name="chip 51"/>
          <p:cNvSpPr/>
          <p:nvPr/>
        </p:nvSpPr>
        <p:spPr>
          <a:xfrm>
            <a:off x="6197072" y="251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Databases</a:t>
            </a:r>
            <a:endParaRPr lang="en-US" sz="900"/>
          </a:p>
        </p:txBody>
      </p:sp>
      <p:sp>
        <p:nvSpPr>
          <p:cNvPr id="52" name="chip 52"/>
          <p:cNvSpPr/>
          <p:nvPr/>
        </p:nvSpPr>
        <p:spPr>
          <a:xfrm>
            <a:off x="6197072" y="27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Servers</a:t>
            </a:r>
            <a:endParaRPr lang="en-US" sz="900"/>
          </a:p>
        </p:txBody>
      </p:sp>
      <p:sp>
        <p:nvSpPr>
          <p:cNvPr id="53" name="chip 53"/>
          <p:cNvSpPr/>
          <p:nvPr/>
        </p:nvSpPr>
        <p:spPr>
          <a:xfrm>
            <a:off x="6197072" y="301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Virtualization</a:t>
            </a:r>
            <a:endParaRPr lang="en-US" sz="900"/>
          </a:p>
        </p:txBody>
      </p:sp>
      <p:sp>
        <p:nvSpPr>
          <p:cNvPr id="54" name="chip 54"/>
          <p:cNvSpPr/>
          <p:nvPr/>
        </p:nvSpPr>
        <p:spPr>
          <a:xfrm>
            <a:off x="6197072" y="32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Server HW</a:t>
            </a:r>
            <a:endParaRPr lang="en-US" sz="900"/>
          </a:p>
        </p:txBody>
      </p:sp>
      <p:sp>
        <p:nvSpPr>
          <p:cNvPr id="55" name="chip 55"/>
          <p:cNvSpPr/>
          <p:nvPr/>
        </p:nvSpPr>
        <p:spPr>
          <a:xfrm>
            <a:off x="6197072" y="351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Storage</a:t>
            </a:r>
            <a:endParaRPr lang="en-US" sz="900"/>
          </a:p>
        </p:txBody>
      </p:sp>
      <p:sp>
        <p:nvSpPr>
          <p:cNvPr id="56" name="chip 56"/>
          <p:cNvSpPr/>
          <p:nvPr/>
        </p:nvSpPr>
        <p:spPr>
          <a:xfrm>
            <a:off x="6197072" y="3760000"/>
            <a:ext cx="2380000" cy="222000"/>
          </a:xfrm>
          <a:prstGeom prst="roundRect">
            <a:avLst>
              <a:gd name="adj" fmla="val 14000"/>
            </a:avLst>
          </a:prstGeom>
          <a:solidFill>
            <a:srgbClr val="EAEFF4"/>
          </a:solidFill>
          <a:ln w="9525">
            <a:solidFill>
              <a:srgbClr val="DBE3EB"/>
            </a:solidFill>
          </a:ln>
        </p:spPr>
        <p:txBody>
          <a:bodyPr wrap="square" lIns="45720" tIns="0" rIns="45720" bIns="0" rtlCol="0" anchor="ctr"/>
          <a:lstStyle/>
          <a:p>
            <a:pPr marL="0" indent="0" algn="ctr">
              <a:buNone/>
            </a:pPr>
            <a:r>
              <a:rPr lang="en-US" sz="900" kern="0">
                <a:solidFill>
                  <a:srgbClr val="6E8298"/>
                </a:solidFill>
                <a:latin typeface="Calibri" pitchFamily="34" charset="0"/>
                <a:ea typeface="Calibri" pitchFamily="34" charset="-122"/>
                <a:cs typeface="Calibri" pitchFamily="34" charset="-120"/>
              </a:rPr>
              <a:t>Networking</a:t>
            </a:r>
            <a:endParaRPr lang="en-US" sz="900"/>
          </a:p>
        </p:txBody>
      </p:sp>
      <p:sp>
        <p:nvSpPr>
          <p:cNvPr id="57" name="takeaway">
            <a:extLst>
              <a:ext uri="{C183D7F6-B498-43B3-948B-1728B52AA6E4}">
                <adec:decorative xmlns:adec="http://schemas.microsoft.com/office/drawing/2017/decorative" val="1"/>
              </a:ext>
            </a:extLst>
          </p:cNvPr>
          <p:cNvSpPr/>
          <p:nvPr/>
        </p:nvSpPr>
        <p:spPr>
          <a:xfrm>
            <a:off x="566928" y="4160000"/>
            <a:ext cx="8010144" cy="566928"/>
          </a:xfrm>
          <a:prstGeom prst="roundRect">
            <a:avLst>
              <a:gd name="adj" fmla="val 22581"/>
            </a:avLst>
          </a:prstGeom>
          <a:solidFill>
            <a:srgbClr val="E2F3EE"/>
          </a:solidFill>
          <a:ln w="12700">
            <a:solidFill>
              <a:srgbClr val="BFE3D8"/>
            </a:solidFill>
            <a:prstDash val="solid"/>
          </a:ln>
        </p:spPr>
        <p:txBody>
          <a:bodyPr/>
          <a:lstStyle/>
          <a:p>
            <a:endParaRPr lang="en-HU"/>
          </a:p>
        </p:txBody>
      </p:sp>
      <p:sp>
        <p:nvSpPr>
          <p:cNvPr id="58" name="takeaway text"/>
          <p:cNvSpPr/>
          <p:nvPr/>
        </p:nvSpPr>
        <p:spPr>
          <a:xfrm>
            <a:off x="822960" y="4160000"/>
            <a:ext cx="7498080" cy="566928"/>
          </a:xfrm>
          <a:prstGeom prst="rect">
            <a:avLst/>
          </a:prstGeom>
          <a:noFill/>
          <a:ln/>
        </p:spPr>
        <p:txBody>
          <a:bodyPr wrap="square" lIns="0" tIns="0" rIns="0" bIns="0" rtlCol="0" anchor="ctr"/>
          <a:lstStyle/>
          <a:p>
            <a:pPr marL="0" indent="0">
              <a:buNone/>
            </a:pPr>
            <a:r>
              <a:rPr lang="en-US" sz="1300" b="1" kern="0">
                <a:solidFill>
                  <a:srgbClr val="2FA98A"/>
                </a:solidFill>
                <a:latin typeface="Calibri" pitchFamily="34" charset="0"/>
                <a:ea typeface="Calibri" pitchFamily="34" charset="-122"/>
                <a:cs typeface="Calibri" pitchFamily="34" charset="-120"/>
              </a:rPr>
              <a:t>Same stack, different split   </a:t>
            </a:r>
            <a:r>
              <a:rPr lang="en-US" sz="1300" kern="0">
                <a:solidFill>
                  <a:srgbClr val="2A3B4D"/>
                </a:solidFill>
                <a:latin typeface="Calibri" pitchFamily="34" charset="0"/>
                <a:ea typeface="Calibri" pitchFamily="34" charset="-122"/>
                <a:cs typeface="Calibri" pitchFamily="34" charset="-120"/>
              </a:rPr>
              <a:t>the more the provider runs, the less you configure — you trade hands-on control for convenience as you move from IaaS to PaaS to SaaS.</a:t>
            </a:r>
            <a:endParaRPr lang="en-US" sz="13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1371600"/>
            <a:ext cx="2194560" cy="2194560"/>
          </a:xfrm>
          <a:prstGeom prst="rect">
            <a:avLst/>
          </a:prstGeom>
          <a:noFill/>
          <a:ln/>
        </p:spPr>
        <p:txBody>
          <a:bodyPr wrap="square" lIns="0" tIns="0" rIns="0" bIns="0" rtlCol="0" anchor="ctr"/>
          <a:lstStyle/>
          <a:p>
            <a:pPr marL="0" indent="0" algn="l">
              <a:buNone/>
            </a:pPr>
            <a:r>
              <a:rPr lang="en-US" sz="15000" b="1" dirty="0">
                <a:solidFill>
                  <a:srgbClr val="F08A72"/>
                </a:solidFill>
                <a:latin typeface="Trebuchet MS" pitchFamily="34" charset="0"/>
                <a:ea typeface="Trebuchet MS" pitchFamily="34" charset="-122"/>
                <a:cs typeface="Trebuchet MS" pitchFamily="34" charset="-120"/>
              </a:rPr>
              <a:t>02</a:t>
            </a:r>
            <a:endParaRPr lang="en-US" sz="15000" dirty="0"/>
          </a:p>
        </p:txBody>
      </p:sp>
      <p:sp>
        <p:nvSpPr>
          <p:cNvPr id="3" name="icon tile">
            <a:extLst>
              <a:ext uri="{C183D7F6-B498-43B3-948B-1728B52AA6E4}">
                <adec:decorative xmlns:adec="http://schemas.microsoft.com/office/drawing/2017/decorative" val="1"/>
              </a:ext>
            </a:extLst>
          </p:cNvPr>
          <p:cNvSpPr/>
          <p:nvPr/>
        </p:nvSpPr>
        <p:spPr>
          <a:xfrm>
            <a:off x="7360920" y="685800"/>
            <a:ext cx="1097280" cy="1097280"/>
          </a:xfrm>
          <a:prstGeom prst="roundRect">
            <a:avLst>
              <a:gd name="adj" fmla="val 116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4" name="Image 0" descr="hybrid icon"/>
          <p:cNvPicPr>
            <a:picLocks noChangeAspect="1"/>
          </p:cNvPicPr>
          <p:nvPr/>
        </p:nvPicPr>
        <p:blipFill>
          <a:blip r:embed="rId3"/>
          <a:stretch>
            <a:fillRect/>
          </a:stretch>
        </p:blipFill>
        <p:spPr>
          <a:xfrm>
            <a:off x="7525512" y="850392"/>
            <a:ext cx="768096" cy="768096"/>
          </a:xfrm>
          <a:prstGeom prst="rect">
            <a:avLst/>
          </a:prstGeom>
        </p:spPr>
      </p:pic>
      <p:sp>
        <p:nvSpPr>
          <p:cNvPr id="5" name="Text 2"/>
          <p:cNvSpPr/>
          <p:nvPr/>
        </p:nvSpPr>
        <p:spPr>
          <a:xfrm>
            <a:off x="1755648" y="1572768"/>
            <a:ext cx="5486400" cy="274320"/>
          </a:xfrm>
          <a:prstGeom prst="rect">
            <a:avLst/>
          </a:prstGeom>
          <a:noFill/>
          <a:ln/>
        </p:spPr>
        <p:txBody>
          <a:bodyPr wrap="square" lIns="0" tIns="0" rIns="0" bIns="0" rtlCol="0" anchor="ctr"/>
          <a:lstStyle/>
          <a:p>
            <a:pPr marL="0" indent="0">
              <a:buNone/>
            </a:pPr>
            <a:r>
              <a:rPr lang="en-US" sz="1300" b="1" kern="0" spc="300" dirty="0">
                <a:solidFill>
                  <a:srgbClr val="F08A72"/>
                </a:solidFill>
                <a:latin typeface="Trebuchet MS" pitchFamily="34" charset="0"/>
                <a:ea typeface="Trebuchet MS" pitchFamily="34" charset="-122"/>
                <a:cs typeface="Trebuchet MS" pitchFamily="34" charset="-120"/>
              </a:rPr>
              <a:t>PART 02</a:t>
            </a:r>
            <a:endParaRPr lang="en-US" sz="1300" dirty="0"/>
          </a:p>
        </p:txBody>
      </p:sp>
      <p:sp>
        <p:nvSpPr>
          <p:cNvPr id="6" name="Text 0"/>
          <p:cNvSpPr>
            <a:spLocks noGrp="1"/>
          </p:cNvSpPr>
          <p:nvPr>
            <p:ph type="title" idx="100" hasCustomPrompt="1"/>
          </p:nvPr>
        </p:nvSpPr>
        <p:spPr>
          <a:xfrm>
            <a:off x="1737360" y="1965960"/>
            <a:ext cx="6766560" cy="914400"/>
          </a:xfrm>
          <a:prstGeom prst="rect">
            <a:avLst/>
          </a:prstGeom>
          <a:noFill/>
          <a:ln/>
        </p:spPr>
        <p:txBody>
          <a:bodyPr wrap="square" lIns="0" tIns="0" rIns="0" bIns="0" rtlCol="0"/>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Public, Private &amp; Hybrid Cloud</a:t>
            </a:r>
            <a:endParaRPr lang="en-US" sz="3400" dirty="0"/>
          </a:p>
        </p:txBody>
      </p:sp>
      <p:sp>
        <p:nvSpPr>
          <p:cNvPr id="7" name="chip">
            <a:extLst>
              <a:ext uri="{C183D7F6-B498-43B3-948B-1728B52AA6E4}">
                <adec:decorative xmlns:adec="http://schemas.microsoft.com/office/drawing/2017/decorative" val="1"/>
              </a:ext>
            </a:extLst>
          </p:cNvPr>
          <p:cNvSpPr/>
          <p:nvPr/>
        </p:nvSpPr>
        <p:spPr>
          <a:xfrm>
            <a:off x="1755648" y="3063240"/>
            <a:ext cx="1834286"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8" name="Text 5"/>
          <p:cNvSpPr/>
          <p:nvPr/>
        </p:nvSpPr>
        <p:spPr>
          <a:xfrm>
            <a:off x="1755648" y="3063240"/>
            <a:ext cx="183428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Deployment models</a:t>
            </a:r>
            <a:endParaRPr lang="en-US" sz="1200" dirty="0"/>
          </a:p>
        </p:txBody>
      </p:sp>
      <p:sp>
        <p:nvSpPr>
          <p:cNvPr id="9" name="chip">
            <a:extLst>
              <a:ext uri="{C183D7F6-B498-43B3-948B-1728B52AA6E4}">
                <adec:decorative xmlns:adec="http://schemas.microsoft.com/office/drawing/2017/decorative" val="1"/>
              </a:ext>
            </a:extLst>
          </p:cNvPr>
          <p:cNvSpPr/>
          <p:nvPr/>
        </p:nvSpPr>
        <p:spPr>
          <a:xfrm>
            <a:off x="3791102" y="3063240"/>
            <a:ext cx="1207008"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10" name="Text 7"/>
          <p:cNvSpPr/>
          <p:nvPr/>
        </p:nvSpPr>
        <p:spPr>
          <a:xfrm>
            <a:off x="3791102" y="3063240"/>
            <a:ext cx="1207008"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Trade-offs</a:t>
            </a:r>
            <a:endParaRPr lang="en-US" sz="1200" dirty="0"/>
          </a:p>
        </p:txBody>
      </p:sp>
      <p:sp>
        <p:nvSpPr>
          <p:cNvPr id="11" name="chip">
            <a:extLst>
              <a:ext uri="{C183D7F6-B498-43B3-948B-1728B52AA6E4}">
                <adec:decorative xmlns:adec="http://schemas.microsoft.com/office/drawing/2017/decorative" val="1"/>
              </a:ext>
            </a:extLst>
          </p:cNvPr>
          <p:cNvSpPr/>
          <p:nvPr/>
        </p:nvSpPr>
        <p:spPr>
          <a:xfrm>
            <a:off x="5199278" y="3063240"/>
            <a:ext cx="1744675"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12" name="Text 9"/>
          <p:cNvSpPr/>
          <p:nvPr/>
        </p:nvSpPr>
        <p:spPr>
          <a:xfrm>
            <a:off x="5199278" y="3063240"/>
            <a:ext cx="1744675"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When to use each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CLOUD DEPLOYMENT MODELS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Public vs private vs hybrid</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371600"/>
            <a:ext cx="2670048" cy="2880360"/>
          </a:xfrm>
          <a:prstGeom prst="roundRect">
            <a:avLst>
              <a:gd name="adj" fmla="val 37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1444752" y="1609344"/>
            <a:ext cx="914400" cy="914400"/>
          </a:xfrm>
          <a:prstGeom prst="roundRect">
            <a:avLst>
              <a:gd name="adj" fmla="val 14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globe icon"/>
          <p:cNvPicPr>
            <a:picLocks noChangeAspect="1"/>
          </p:cNvPicPr>
          <p:nvPr/>
        </p:nvPicPr>
        <p:blipFill>
          <a:blip r:embed="rId3"/>
          <a:stretch>
            <a:fillRect/>
          </a:stretch>
        </p:blipFill>
        <p:spPr>
          <a:xfrm>
            <a:off x="1581912" y="1771244"/>
            <a:ext cx="640080" cy="590600"/>
          </a:xfrm>
          <a:prstGeom prst="rect">
            <a:avLst/>
          </a:prstGeom>
        </p:spPr>
      </p:pic>
      <p:sp>
        <p:nvSpPr>
          <p:cNvPr id="7" name="Text 4"/>
          <p:cNvSpPr/>
          <p:nvPr/>
        </p:nvSpPr>
        <p:spPr>
          <a:xfrm>
            <a:off x="713232" y="2606040"/>
            <a:ext cx="2377440" cy="365760"/>
          </a:xfrm>
          <a:prstGeom prst="rect">
            <a:avLst/>
          </a:prstGeom>
          <a:noFill/>
          <a:ln/>
        </p:spPr>
        <p:txBody>
          <a:bodyPr wrap="square" lIns="0" tIns="0" rIns="0" bIns="0" rtlCol="0" anchor="ctr"/>
          <a:lstStyle/>
          <a:p>
            <a:pPr marL="0" indent="0" algn="ctr">
              <a:buNone/>
            </a:pPr>
            <a:r>
              <a:rPr lang="en-US" sz="1800" b="1" dirty="0">
                <a:solidFill>
                  <a:srgbClr val="2E7CC4"/>
                </a:solidFill>
                <a:latin typeface="Trebuchet MS" pitchFamily="34" charset="0"/>
                <a:ea typeface="Trebuchet MS" pitchFamily="34" charset="-122"/>
                <a:cs typeface="Trebuchet MS" pitchFamily="34" charset="-120"/>
              </a:rPr>
              <a:t>Public</a:t>
            </a:r>
            <a:endParaRPr lang="en-US" sz="1800" dirty="0"/>
          </a:p>
        </p:txBody>
      </p:sp>
      <p:sp>
        <p:nvSpPr>
          <p:cNvPr id="8" name="Text 5"/>
          <p:cNvSpPr/>
          <p:nvPr/>
        </p:nvSpPr>
        <p:spPr>
          <a:xfrm>
            <a:off x="749808" y="3035808"/>
            <a:ext cx="2304288" cy="914400"/>
          </a:xfrm>
          <a:prstGeom prst="rect">
            <a:avLst/>
          </a:prstGeom>
          <a:noFill/>
          <a:ln/>
        </p:spPr>
        <p:txBody>
          <a:bodyPr wrap="square" lIns="0" tIns="0" rIns="0" bIns="0" rtlCol="0" anchor="t"/>
          <a:lstStyle/>
          <a:p>
            <a:pPr marL="0" indent="0" algn="ctr">
              <a:lnSpc>
                <a:spcPts val="1500"/>
              </a:lnSpc>
              <a:buNone/>
            </a:pPr>
            <a:r>
              <a:rPr lang="en-US" sz="1200" dirty="0">
                <a:solidFill>
                  <a:srgbClr val="2A3B4D"/>
                </a:solidFill>
                <a:latin typeface="Calibri" pitchFamily="34" charset="0"/>
                <a:ea typeface="Calibri" pitchFamily="34" charset="-122"/>
                <a:cs typeface="Calibri" pitchFamily="34" charset="-120"/>
              </a:rPr>
              <a:t>Shared infrastructure owned and run by a provider like Azure; you rent capacity over the internet.</a:t>
            </a:r>
            <a:endParaRPr lang="en-US" sz="1200" dirty="0"/>
          </a:p>
        </p:txBody>
      </p:sp>
      <p:sp>
        <p:nvSpPr>
          <p:cNvPr id="9" name="best-for">
            <a:extLst>
              <a:ext uri="{C183D7F6-B498-43B3-948B-1728B52AA6E4}">
                <adec:decorative xmlns:adec="http://schemas.microsoft.com/office/drawing/2017/decorative" val="1"/>
              </a:ext>
            </a:extLst>
          </p:cNvPr>
          <p:cNvSpPr/>
          <p:nvPr/>
        </p:nvSpPr>
        <p:spPr>
          <a:xfrm>
            <a:off x="749808" y="3749040"/>
            <a:ext cx="2304288" cy="384048"/>
          </a:xfrm>
          <a:prstGeom prst="roundRect">
            <a:avLst>
              <a:gd name="adj" fmla="val 23810"/>
            </a:avLst>
          </a:prstGeom>
          <a:solidFill>
            <a:srgbClr val="E6F1FB"/>
          </a:solidFill>
          <a:ln/>
        </p:spPr>
        <p:txBody>
          <a:bodyPr/>
          <a:lstStyle/>
          <a:p>
            <a:endParaRPr lang="en-HU"/>
          </a:p>
        </p:txBody>
      </p:sp>
      <p:sp>
        <p:nvSpPr>
          <p:cNvPr id="10" name="Text 7"/>
          <p:cNvSpPr/>
          <p:nvPr/>
        </p:nvSpPr>
        <p:spPr>
          <a:xfrm>
            <a:off x="749808" y="3749040"/>
            <a:ext cx="2304288" cy="384048"/>
          </a:xfrm>
          <a:prstGeom prst="rect">
            <a:avLst/>
          </a:prstGeom>
          <a:noFill/>
          <a:ln/>
        </p:spPr>
        <p:txBody>
          <a:bodyPr wrap="square" lIns="0" tIns="0" rIns="0" bIns="0" rtlCol="0" anchor="ctr"/>
          <a:lstStyle/>
          <a:p>
            <a:pPr marL="0" indent="0" algn="ctr">
              <a:buNone/>
            </a:pPr>
            <a:r>
              <a:rPr lang="en-US" sz="1050" b="1" dirty="0">
                <a:solidFill>
                  <a:srgbClr val="2E7CC4"/>
                </a:solidFill>
                <a:latin typeface="Calibri" pitchFamily="34" charset="0"/>
                <a:ea typeface="Calibri" pitchFamily="34" charset="-122"/>
                <a:cs typeface="Calibri" pitchFamily="34" charset="-120"/>
              </a:rPr>
              <a:t>Best for: speed, scale, low upfront cost</a:t>
            </a:r>
            <a:endParaRPr lang="en-US" sz="1050" dirty="0"/>
          </a:p>
        </p:txBody>
      </p:sp>
      <p:sp>
        <p:nvSpPr>
          <p:cNvPr id="11" name="card">
            <a:extLst>
              <a:ext uri="{C183D7F6-B498-43B3-948B-1728B52AA6E4}">
                <adec:decorative xmlns:adec="http://schemas.microsoft.com/office/drawing/2017/decorative" val="1"/>
              </a:ext>
            </a:extLst>
          </p:cNvPr>
          <p:cNvSpPr/>
          <p:nvPr/>
        </p:nvSpPr>
        <p:spPr>
          <a:xfrm>
            <a:off x="3456432" y="1371600"/>
            <a:ext cx="2670048" cy="2880360"/>
          </a:xfrm>
          <a:prstGeom prst="roundRect">
            <a:avLst>
              <a:gd name="adj" fmla="val 37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2" name="icon tile">
            <a:extLst>
              <a:ext uri="{C183D7F6-B498-43B3-948B-1728B52AA6E4}">
                <adec:decorative xmlns:adec="http://schemas.microsoft.com/office/drawing/2017/decorative" val="1"/>
              </a:ext>
            </a:extLst>
          </p:cNvPr>
          <p:cNvSpPr/>
          <p:nvPr/>
        </p:nvSpPr>
        <p:spPr>
          <a:xfrm>
            <a:off x="4334256" y="1609344"/>
            <a:ext cx="914400" cy="914400"/>
          </a:xfrm>
          <a:prstGeom prst="roundRect">
            <a:avLst>
              <a:gd name="adj" fmla="val 14000"/>
            </a:avLst>
          </a:prstGeom>
          <a:solidFill>
            <a:srgbClr val="FBE7E1"/>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3" name="Image 1" descr="private icon"/>
          <p:cNvPicPr>
            <a:picLocks noChangeAspect="1"/>
          </p:cNvPicPr>
          <p:nvPr/>
        </p:nvPicPr>
        <p:blipFill>
          <a:blip r:embed="rId4"/>
          <a:stretch>
            <a:fillRect/>
          </a:stretch>
        </p:blipFill>
        <p:spPr>
          <a:xfrm>
            <a:off x="4471416" y="1746504"/>
            <a:ext cx="640080" cy="640080"/>
          </a:xfrm>
          <a:prstGeom prst="rect">
            <a:avLst/>
          </a:prstGeom>
        </p:spPr>
      </p:pic>
      <p:sp>
        <p:nvSpPr>
          <p:cNvPr id="14" name="Text 10"/>
          <p:cNvSpPr/>
          <p:nvPr/>
        </p:nvSpPr>
        <p:spPr>
          <a:xfrm>
            <a:off x="3602736" y="2606040"/>
            <a:ext cx="2377440" cy="365760"/>
          </a:xfrm>
          <a:prstGeom prst="rect">
            <a:avLst/>
          </a:prstGeom>
          <a:noFill/>
          <a:ln/>
        </p:spPr>
        <p:txBody>
          <a:bodyPr wrap="square" lIns="0" tIns="0" rIns="0" bIns="0" rtlCol="0" anchor="ctr"/>
          <a:lstStyle/>
          <a:p>
            <a:pPr marL="0" indent="0" algn="ctr">
              <a:buNone/>
            </a:pPr>
            <a:r>
              <a:rPr lang="en-US" sz="1800" b="1" dirty="0">
                <a:solidFill>
                  <a:srgbClr val="EF6F58"/>
                </a:solidFill>
                <a:latin typeface="Trebuchet MS" pitchFamily="34" charset="0"/>
                <a:ea typeface="Trebuchet MS" pitchFamily="34" charset="-122"/>
                <a:cs typeface="Trebuchet MS" pitchFamily="34" charset="-120"/>
              </a:rPr>
              <a:t>Private</a:t>
            </a:r>
            <a:endParaRPr lang="en-US" sz="1800" dirty="0"/>
          </a:p>
        </p:txBody>
      </p:sp>
      <p:sp>
        <p:nvSpPr>
          <p:cNvPr id="15" name="Text 11"/>
          <p:cNvSpPr/>
          <p:nvPr/>
        </p:nvSpPr>
        <p:spPr>
          <a:xfrm>
            <a:off x="3639312" y="3035808"/>
            <a:ext cx="2304288" cy="914400"/>
          </a:xfrm>
          <a:prstGeom prst="rect">
            <a:avLst/>
          </a:prstGeom>
          <a:noFill/>
          <a:ln/>
        </p:spPr>
        <p:txBody>
          <a:bodyPr wrap="square" lIns="0" tIns="0" rIns="0" bIns="0" rtlCol="0" anchor="t"/>
          <a:lstStyle/>
          <a:p>
            <a:pPr marL="0" indent="0" algn="ctr">
              <a:lnSpc>
                <a:spcPts val="1500"/>
              </a:lnSpc>
              <a:buNone/>
            </a:pPr>
            <a:r>
              <a:rPr lang="en-US" sz="1200" dirty="0">
                <a:solidFill>
                  <a:srgbClr val="2A3B4D"/>
                </a:solidFill>
                <a:latin typeface="Calibri" pitchFamily="34" charset="0"/>
                <a:ea typeface="Calibri" pitchFamily="34" charset="-122"/>
                <a:cs typeface="Calibri" pitchFamily="34" charset="-120"/>
              </a:rPr>
              <a:t>Dedicated infrastructure for a single organization — on-premises or hosted.</a:t>
            </a:r>
            <a:endParaRPr lang="en-US" sz="1200" dirty="0"/>
          </a:p>
        </p:txBody>
      </p:sp>
      <p:sp>
        <p:nvSpPr>
          <p:cNvPr id="16" name="best-for">
            <a:extLst>
              <a:ext uri="{C183D7F6-B498-43B3-948B-1728B52AA6E4}">
                <adec:decorative xmlns:adec="http://schemas.microsoft.com/office/drawing/2017/decorative" val="1"/>
              </a:ext>
            </a:extLst>
          </p:cNvPr>
          <p:cNvSpPr/>
          <p:nvPr/>
        </p:nvSpPr>
        <p:spPr>
          <a:xfrm>
            <a:off x="3639312" y="3749040"/>
            <a:ext cx="2304288" cy="384048"/>
          </a:xfrm>
          <a:prstGeom prst="roundRect">
            <a:avLst>
              <a:gd name="adj" fmla="val 23810"/>
            </a:avLst>
          </a:prstGeom>
          <a:solidFill>
            <a:srgbClr val="FBE7E1"/>
          </a:solidFill>
          <a:ln/>
        </p:spPr>
        <p:txBody>
          <a:bodyPr/>
          <a:lstStyle/>
          <a:p>
            <a:endParaRPr lang="en-HU"/>
          </a:p>
        </p:txBody>
      </p:sp>
      <p:sp>
        <p:nvSpPr>
          <p:cNvPr id="17" name="Text 13"/>
          <p:cNvSpPr/>
          <p:nvPr/>
        </p:nvSpPr>
        <p:spPr>
          <a:xfrm>
            <a:off x="3639312" y="3749040"/>
            <a:ext cx="2304288" cy="384048"/>
          </a:xfrm>
          <a:prstGeom prst="rect">
            <a:avLst/>
          </a:prstGeom>
          <a:noFill/>
          <a:ln/>
        </p:spPr>
        <p:txBody>
          <a:bodyPr wrap="square" lIns="0" tIns="0" rIns="0" bIns="0" rtlCol="0" anchor="ctr"/>
          <a:lstStyle/>
          <a:p>
            <a:pPr marL="0" indent="0" algn="ctr">
              <a:buNone/>
            </a:pPr>
            <a:r>
              <a:rPr lang="en-US" sz="1050" b="1" dirty="0">
                <a:solidFill>
                  <a:srgbClr val="EF6F58"/>
                </a:solidFill>
                <a:latin typeface="Calibri" pitchFamily="34" charset="0"/>
                <a:ea typeface="Calibri" pitchFamily="34" charset="-122"/>
                <a:cs typeface="Calibri" pitchFamily="34" charset="-120"/>
              </a:rPr>
              <a:t>Best for: strict control &amp; compliance</a:t>
            </a:r>
            <a:endParaRPr lang="en-US" sz="1050" dirty="0"/>
          </a:p>
        </p:txBody>
      </p:sp>
      <p:sp>
        <p:nvSpPr>
          <p:cNvPr id="18" name="card">
            <a:extLst>
              <a:ext uri="{C183D7F6-B498-43B3-948B-1728B52AA6E4}">
                <adec:decorative xmlns:adec="http://schemas.microsoft.com/office/drawing/2017/decorative" val="1"/>
              </a:ext>
            </a:extLst>
          </p:cNvPr>
          <p:cNvSpPr/>
          <p:nvPr/>
        </p:nvSpPr>
        <p:spPr>
          <a:xfrm>
            <a:off x="6345936" y="1371600"/>
            <a:ext cx="2670048" cy="2880360"/>
          </a:xfrm>
          <a:prstGeom prst="roundRect">
            <a:avLst>
              <a:gd name="adj" fmla="val 37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9" name="icon tile">
            <a:extLst>
              <a:ext uri="{C183D7F6-B498-43B3-948B-1728B52AA6E4}">
                <adec:decorative xmlns:adec="http://schemas.microsoft.com/office/drawing/2017/decorative" val="1"/>
              </a:ext>
            </a:extLst>
          </p:cNvPr>
          <p:cNvSpPr/>
          <p:nvPr/>
        </p:nvSpPr>
        <p:spPr>
          <a:xfrm>
            <a:off x="7223760" y="1609344"/>
            <a:ext cx="914400" cy="914400"/>
          </a:xfrm>
          <a:prstGeom prst="roundRect">
            <a:avLst>
              <a:gd name="adj" fmla="val 14000"/>
            </a:avLst>
          </a:prstGeom>
          <a:solidFill>
            <a:srgbClr val="E2F3EE"/>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0" name="Image 2" descr="hybrid icon"/>
          <p:cNvPicPr>
            <a:picLocks noChangeAspect="1"/>
          </p:cNvPicPr>
          <p:nvPr/>
        </p:nvPicPr>
        <p:blipFill>
          <a:blip r:embed="rId5"/>
          <a:stretch>
            <a:fillRect/>
          </a:stretch>
        </p:blipFill>
        <p:spPr>
          <a:xfrm>
            <a:off x="7360920" y="1746504"/>
            <a:ext cx="640080" cy="640080"/>
          </a:xfrm>
          <a:prstGeom prst="rect">
            <a:avLst/>
          </a:prstGeom>
        </p:spPr>
      </p:pic>
      <p:sp>
        <p:nvSpPr>
          <p:cNvPr id="21" name="Text 16"/>
          <p:cNvSpPr/>
          <p:nvPr/>
        </p:nvSpPr>
        <p:spPr>
          <a:xfrm>
            <a:off x="6492240" y="2606040"/>
            <a:ext cx="2377440" cy="365760"/>
          </a:xfrm>
          <a:prstGeom prst="rect">
            <a:avLst/>
          </a:prstGeom>
          <a:noFill/>
          <a:ln/>
        </p:spPr>
        <p:txBody>
          <a:bodyPr wrap="square" lIns="0" tIns="0" rIns="0" bIns="0" rtlCol="0" anchor="ctr"/>
          <a:lstStyle/>
          <a:p>
            <a:pPr marL="0" indent="0" algn="ctr">
              <a:buNone/>
            </a:pPr>
            <a:r>
              <a:rPr lang="en-US" sz="1800" b="1" dirty="0">
                <a:solidFill>
                  <a:srgbClr val="2FA98A"/>
                </a:solidFill>
                <a:latin typeface="Trebuchet MS" pitchFamily="34" charset="0"/>
                <a:ea typeface="Trebuchet MS" pitchFamily="34" charset="-122"/>
                <a:cs typeface="Trebuchet MS" pitchFamily="34" charset="-120"/>
              </a:rPr>
              <a:t>Hybrid</a:t>
            </a:r>
            <a:endParaRPr lang="en-US" sz="1800" dirty="0"/>
          </a:p>
        </p:txBody>
      </p:sp>
      <p:sp>
        <p:nvSpPr>
          <p:cNvPr id="22" name="Text 17"/>
          <p:cNvSpPr/>
          <p:nvPr/>
        </p:nvSpPr>
        <p:spPr>
          <a:xfrm>
            <a:off x="6528816" y="3035808"/>
            <a:ext cx="2304288" cy="914400"/>
          </a:xfrm>
          <a:prstGeom prst="rect">
            <a:avLst/>
          </a:prstGeom>
          <a:noFill/>
          <a:ln/>
        </p:spPr>
        <p:txBody>
          <a:bodyPr wrap="square" lIns="0" tIns="0" rIns="0" bIns="0" rtlCol="0" anchor="t"/>
          <a:lstStyle/>
          <a:p>
            <a:pPr marL="0" indent="0" algn="ctr">
              <a:lnSpc>
                <a:spcPts val="1500"/>
              </a:lnSpc>
              <a:buNone/>
            </a:pPr>
            <a:r>
              <a:rPr lang="en-US" sz="1200" dirty="0">
                <a:solidFill>
                  <a:srgbClr val="2A3B4D"/>
                </a:solidFill>
                <a:latin typeface="Calibri" pitchFamily="34" charset="0"/>
                <a:ea typeface="Calibri" pitchFamily="34" charset="-122"/>
                <a:cs typeface="Calibri" pitchFamily="34" charset="-120"/>
              </a:rPr>
              <a:t>A connected mix of public and private that work together as one.</a:t>
            </a:r>
            <a:endParaRPr lang="en-US" sz="1200" dirty="0"/>
          </a:p>
        </p:txBody>
      </p:sp>
      <p:sp>
        <p:nvSpPr>
          <p:cNvPr id="23" name="best-for">
            <a:extLst>
              <a:ext uri="{C183D7F6-B498-43B3-948B-1728B52AA6E4}">
                <adec:decorative xmlns:adec="http://schemas.microsoft.com/office/drawing/2017/decorative" val="1"/>
              </a:ext>
            </a:extLst>
          </p:cNvPr>
          <p:cNvSpPr/>
          <p:nvPr/>
        </p:nvSpPr>
        <p:spPr>
          <a:xfrm>
            <a:off x="6528816" y="3749040"/>
            <a:ext cx="2304288" cy="384048"/>
          </a:xfrm>
          <a:prstGeom prst="roundRect">
            <a:avLst>
              <a:gd name="adj" fmla="val 23810"/>
            </a:avLst>
          </a:prstGeom>
          <a:solidFill>
            <a:srgbClr val="E2F3EE"/>
          </a:solidFill>
          <a:ln/>
        </p:spPr>
        <p:txBody>
          <a:bodyPr/>
          <a:lstStyle/>
          <a:p>
            <a:endParaRPr lang="en-HU"/>
          </a:p>
        </p:txBody>
      </p:sp>
      <p:sp>
        <p:nvSpPr>
          <p:cNvPr id="24" name="Text 19"/>
          <p:cNvSpPr/>
          <p:nvPr/>
        </p:nvSpPr>
        <p:spPr>
          <a:xfrm>
            <a:off x="6528816" y="3749040"/>
            <a:ext cx="2304288" cy="384048"/>
          </a:xfrm>
          <a:prstGeom prst="rect">
            <a:avLst/>
          </a:prstGeom>
          <a:noFill/>
          <a:ln/>
        </p:spPr>
        <p:txBody>
          <a:bodyPr wrap="square" lIns="0" tIns="0" rIns="0" bIns="0" rtlCol="0" anchor="ctr"/>
          <a:lstStyle/>
          <a:p>
            <a:pPr marL="0" indent="0" algn="ctr">
              <a:buNone/>
            </a:pPr>
            <a:r>
              <a:rPr lang="en-US" sz="1050" b="1" dirty="0">
                <a:solidFill>
                  <a:srgbClr val="2FA98A"/>
                </a:solidFill>
                <a:latin typeface="Calibri" pitchFamily="34" charset="0"/>
                <a:ea typeface="Calibri" pitchFamily="34" charset="-122"/>
                <a:cs typeface="Calibri" pitchFamily="34" charset="-120"/>
              </a:rPr>
              <a:t>Best for: flexibility &amp; gradual migration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CHOOSING A DEPLOYMENT MODEL</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Which model fits the scenario?</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463040"/>
            <a:ext cx="8010144" cy="932688"/>
          </a:xfrm>
          <a:prstGeom prst="roundRect">
            <a:avLst>
              <a:gd name="adj" fmla="val 1078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749808" y="1636776"/>
            <a:ext cx="585216" cy="585216"/>
          </a:xfrm>
          <a:prstGeom prst="roundRect">
            <a:avLst>
              <a:gd name="adj" fmla="val 21875"/>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globe icon"/>
          <p:cNvPicPr>
            <a:picLocks noChangeAspect="1"/>
          </p:cNvPicPr>
          <p:nvPr/>
        </p:nvPicPr>
        <p:blipFill>
          <a:blip r:embed="rId3"/>
          <a:stretch>
            <a:fillRect/>
          </a:stretch>
        </p:blipFill>
        <p:spPr>
          <a:xfrm>
            <a:off x="837590" y="1740392"/>
            <a:ext cx="409651" cy="377984"/>
          </a:xfrm>
          <a:prstGeom prst="rect">
            <a:avLst/>
          </a:prstGeom>
        </p:spPr>
      </p:pic>
      <p:sp>
        <p:nvSpPr>
          <p:cNvPr id="7" name="Text 4"/>
          <p:cNvSpPr/>
          <p:nvPr/>
        </p:nvSpPr>
        <p:spPr>
          <a:xfrm>
            <a:off x="1481328" y="1463040"/>
            <a:ext cx="4937760" cy="932688"/>
          </a:xfrm>
          <a:prstGeom prst="rect">
            <a:avLst/>
          </a:prstGeom>
          <a:noFill/>
          <a:ln/>
        </p:spPr>
        <p:txBody>
          <a:bodyPr wrap="square" lIns="0" tIns="0" rIns="0" bIns="0" rtlCol="0" anchor="ctr"/>
          <a:lstStyle/>
          <a:p>
            <a:pPr marL="0" indent="0">
              <a:lnSpc>
                <a:spcPts val="1700"/>
              </a:lnSpc>
              <a:buNone/>
            </a:pPr>
            <a:r>
              <a:rPr lang="en-US" sz="1400" dirty="0">
                <a:solidFill>
                  <a:srgbClr val="2A3B4D"/>
                </a:solidFill>
                <a:latin typeface="Calibri" pitchFamily="34" charset="0"/>
                <a:ea typeface="Calibri" pitchFamily="34" charset="-122"/>
                <a:cs typeface="Calibri" pitchFamily="34" charset="-120"/>
              </a:rPr>
              <a:t>A startup launching a web app fast on a tight budget</a:t>
            </a:r>
            <a:endParaRPr lang="en-US" sz="1400" dirty="0"/>
          </a:p>
        </p:txBody>
      </p:sp>
      <p:sp>
        <p:nvSpPr>
          <p:cNvPr id="8" name="verdict">
            <a:extLst>
              <a:ext uri="{C183D7F6-B498-43B3-948B-1728B52AA6E4}">
                <adec:decorative xmlns:adec="http://schemas.microsoft.com/office/drawing/2017/decorative" val="1"/>
              </a:ext>
            </a:extLst>
          </p:cNvPr>
          <p:cNvSpPr/>
          <p:nvPr/>
        </p:nvSpPr>
        <p:spPr>
          <a:xfrm>
            <a:off x="6702552" y="1700784"/>
            <a:ext cx="1645920" cy="457200"/>
          </a:xfrm>
          <a:prstGeom prst="roundRect">
            <a:avLst>
              <a:gd name="adj" fmla="val 50000"/>
            </a:avLst>
          </a:prstGeom>
          <a:solidFill>
            <a:srgbClr val="2E7CC4"/>
          </a:solidFill>
          <a:ln/>
        </p:spPr>
        <p:txBody>
          <a:bodyPr/>
          <a:lstStyle/>
          <a:p>
            <a:endParaRPr lang="en-HU"/>
          </a:p>
        </p:txBody>
      </p:sp>
      <p:sp>
        <p:nvSpPr>
          <p:cNvPr id="9" name="Text 6"/>
          <p:cNvSpPr/>
          <p:nvPr/>
        </p:nvSpPr>
        <p:spPr>
          <a:xfrm>
            <a:off x="6702552" y="1700784"/>
            <a:ext cx="16459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Public</a:t>
            </a:r>
            <a:endParaRPr lang="en-US" sz="1400" dirty="0"/>
          </a:p>
        </p:txBody>
      </p:sp>
      <p:sp>
        <p:nvSpPr>
          <p:cNvPr id="10" name="card">
            <a:extLst>
              <a:ext uri="{C183D7F6-B498-43B3-948B-1728B52AA6E4}">
                <adec:decorative xmlns:adec="http://schemas.microsoft.com/office/drawing/2017/decorative" val="1"/>
              </a:ext>
            </a:extLst>
          </p:cNvPr>
          <p:cNvSpPr/>
          <p:nvPr/>
        </p:nvSpPr>
        <p:spPr>
          <a:xfrm>
            <a:off x="566928" y="2560320"/>
            <a:ext cx="8010144" cy="932688"/>
          </a:xfrm>
          <a:prstGeom prst="roundRect">
            <a:avLst>
              <a:gd name="adj" fmla="val 1078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1" name="icon tile">
            <a:extLst>
              <a:ext uri="{C183D7F6-B498-43B3-948B-1728B52AA6E4}">
                <adec:decorative xmlns:adec="http://schemas.microsoft.com/office/drawing/2017/decorative" val="1"/>
              </a:ext>
            </a:extLst>
          </p:cNvPr>
          <p:cNvSpPr/>
          <p:nvPr/>
        </p:nvSpPr>
        <p:spPr>
          <a:xfrm>
            <a:off x="749808" y="2734056"/>
            <a:ext cx="585216" cy="585216"/>
          </a:xfrm>
          <a:prstGeom prst="roundRect">
            <a:avLst>
              <a:gd name="adj" fmla="val 21875"/>
            </a:avLst>
          </a:prstGeom>
          <a:solidFill>
            <a:srgbClr val="FBE7E1"/>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2" name="Image 1" descr="private icon"/>
          <p:cNvPicPr>
            <a:picLocks noChangeAspect="1"/>
          </p:cNvPicPr>
          <p:nvPr/>
        </p:nvPicPr>
        <p:blipFill>
          <a:blip r:embed="rId4"/>
          <a:stretch>
            <a:fillRect/>
          </a:stretch>
        </p:blipFill>
        <p:spPr>
          <a:xfrm>
            <a:off x="837590" y="2821838"/>
            <a:ext cx="409651" cy="409651"/>
          </a:xfrm>
          <a:prstGeom prst="rect">
            <a:avLst/>
          </a:prstGeom>
        </p:spPr>
      </p:pic>
      <p:sp>
        <p:nvSpPr>
          <p:cNvPr id="13" name="Text 9"/>
          <p:cNvSpPr/>
          <p:nvPr/>
        </p:nvSpPr>
        <p:spPr>
          <a:xfrm>
            <a:off x="1481328" y="2560320"/>
            <a:ext cx="4937760" cy="932688"/>
          </a:xfrm>
          <a:prstGeom prst="rect">
            <a:avLst/>
          </a:prstGeom>
          <a:noFill/>
          <a:ln/>
        </p:spPr>
        <p:txBody>
          <a:bodyPr wrap="square" lIns="0" tIns="0" rIns="0" bIns="0" rtlCol="0" anchor="ctr"/>
          <a:lstStyle/>
          <a:p>
            <a:pPr marL="0" indent="0">
              <a:lnSpc>
                <a:spcPts val="1700"/>
              </a:lnSpc>
              <a:buNone/>
            </a:pPr>
            <a:r>
              <a:rPr lang="en-US" sz="1400" dirty="0">
                <a:solidFill>
                  <a:srgbClr val="2A3B4D"/>
                </a:solidFill>
                <a:latin typeface="Calibri" pitchFamily="34" charset="0"/>
                <a:ea typeface="Calibri" pitchFamily="34" charset="-122"/>
                <a:cs typeface="Calibri" pitchFamily="34" charset="-120"/>
              </a:rPr>
              <a:t>A bank with strict rules on where data may live</a:t>
            </a:r>
            <a:endParaRPr lang="en-US" sz="1400" dirty="0"/>
          </a:p>
        </p:txBody>
      </p:sp>
      <p:sp>
        <p:nvSpPr>
          <p:cNvPr id="14" name="verdict">
            <a:extLst>
              <a:ext uri="{C183D7F6-B498-43B3-948B-1728B52AA6E4}">
                <adec:decorative xmlns:adec="http://schemas.microsoft.com/office/drawing/2017/decorative" val="1"/>
              </a:ext>
            </a:extLst>
          </p:cNvPr>
          <p:cNvSpPr/>
          <p:nvPr/>
        </p:nvSpPr>
        <p:spPr>
          <a:xfrm>
            <a:off x="6702552" y="2798064"/>
            <a:ext cx="1645920" cy="457200"/>
          </a:xfrm>
          <a:prstGeom prst="roundRect">
            <a:avLst>
              <a:gd name="adj" fmla="val 50000"/>
            </a:avLst>
          </a:prstGeom>
          <a:solidFill>
            <a:srgbClr val="EF6F58"/>
          </a:solidFill>
          <a:ln/>
        </p:spPr>
        <p:txBody>
          <a:bodyPr/>
          <a:lstStyle/>
          <a:p>
            <a:endParaRPr lang="en-HU"/>
          </a:p>
        </p:txBody>
      </p:sp>
      <p:sp>
        <p:nvSpPr>
          <p:cNvPr id="15" name="Text 11"/>
          <p:cNvSpPr/>
          <p:nvPr/>
        </p:nvSpPr>
        <p:spPr>
          <a:xfrm>
            <a:off x="6702552" y="2798064"/>
            <a:ext cx="16459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Private</a:t>
            </a:r>
            <a:endParaRPr lang="en-US" sz="1400" dirty="0"/>
          </a:p>
        </p:txBody>
      </p:sp>
      <p:sp>
        <p:nvSpPr>
          <p:cNvPr id="16" name="card">
            <a:extLst>
              <a:ext uri="{C183D7F6-B498-43B3-948B-1728B52AA6E4}">
                <adec:decorative xmlns:adec="http://schemas.microsoft.com/office/drawing/2017/decorative" val="1"/>
              </a:ext>
            </a:extLst>
          </p:cNvPr>
          <p:cNvSpPr/>
          <p:nvPr/>
        </p:nvSpPr>
        <p:spPr>
          <a:xfrm>
            <a:off x="566928" y="3657600"/>
            <a:ext cx="8010144" cy="932688"/>
          </a:xfrm>
          <a:prstGeom prst="roundRect">
            <a:avLst>
              <a:gd name="adj" fmla="val 1078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7" name="icon tile">
            <a:extLst>
              <a:ext uri="{C183D7F6-B498-43B3-948B-1728B52AA6E4}">
                <adec:decorative xmlns:adec="http://schemas.microsoft.com/office/drawing/2017/decorative" val="1"/>
              </a:ext>
            </a:extLst>
          </p:cNvPr>
          <p:cNvSpPr/>
          <p:nvPr/>
        </p:nvSpPr>
        <p:spPr>
          <a:xfrm>
            <a:off x="749808" y="3831336"/>
            <a:ext cx="585216" cy="585216"/>
          </a:xfrm>
          <a:prstGeom prst="roundRect">
            <a:avLst>
              <a:gd name="adj" fmla="val 21875"/>
            </a:avLst>
          </a:prstGeom>
          <a:solidFill>
            <a:srgbClr val="E2F3EE"/>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8" name="Image 2" descr="hybrid icon"/>
          <p:cNvPicPr>
            <a:picLocks noChangeAspect="1"/>
          </p:cNvPicPr>
          <p:nvPr/>
        </p:nvPicPr>
        <p:blipFill>
          <a:blip r:embed="rId5"/>
          <a:stretch>
            <a:fillRect/>
          </a:stretch>
        </p:blipFill>
        <p:spPr>
          <a:xfrm>
            <a:off x="837590" y="3919118"/>
            <a:ext cx="409651" cy="409651"/>
          </a:xfrm>
          <a:prstGeom prst="rect">
            <a:avLst/>
          </a:prstGeom>
        </p:spPr>
      </p:pic>
      <p:sp>
        <p:nvSpPr>
          <p:cNvPr id="19" name="Text 14"/>
          <p:cNvSpPr/>
          <p:nvPr/>
        </p:nvSpPr>
        <p:spPr>
          <a:xfrm>
            <a:off x="1481328" y="3657600"/>
            <a:ext cx="4937760" cy="932688"/>
          </a:xfrm>
          <a:prstGeom prst="rect">
            <a:avLst/>
          </a:prstGeom>
          <a:noFill/>
          <a:ln/>
        </p:spPr>
        <p:txBody>
          <a:bodyPr wrap="square" lIns="0" tIns="0" rIns="0" bIns="0" rtlCol="0" anchor="ctr"/>
          <a:lstStyle/>
          <a:p>
            <a:pPr marL="0" indent="0">
              <a:lnSpc>
                <a:spcPts val="1700"/>
              </a:lnSpc>
              <a:buNone/>
            </a:pPr>
            <a:r>
              <a:rPr lang="en-US" sz="1400" dirty="0">
                <a:solidFill>
                  <a:srgbClr val="2A3B4D"/>
                </a:solidFill>
                <a:latin typeface="Calibri" pitchFamily="34" charset="0"/>
                <a:ea typeface="Calibri" pitchFamily="34" charset="-122"/>
                <a:cs typeface="Calibri" pitchFamily="34" charset="-120"/>
              </a:rPr>
              <a:t>A retailer with steady in-house systems and seasonal spikes</a:t>
            </a:r>
            <a:endParaRPr lang="en-US" sz="1400" dirty="0"/>
          </a:p>
        </p:txBody>
      </p:sp>
      <p:sp>
        <p:nvSpPr>
          <p:cNvPr id="20" name="verdict">
            <a:extLst>
              <a:ext uri="{C183D7F6-B498-43B3-948B-1728B52AA6E4}">
                <adec:decorative xmlns:adec="http://schemas.microsoft.com/office/drawing/2017/decorative" val="1"/>
              </a:ext>
            </a:extLst>
          </p:cNvPr>
          <p:cNvSpPr/>
          <p:nvPr/>
        </p:nvSpPr>
        <p:spPr>
          <a:xfrm>
            <a:off x="6702552" y="3895344"/>
            <a:ext cx="1645920" cy="457200"/>
          </a:xfrm>
          <a:prstGeom prst="roundRect">
            <a:avLst>
              <a:gd name="adj" fmla="val 50000"/>
            </a:avLst>
          </a:prstGeom>
          <a:solidFill>
            <a:srgbClr val="2FA98A"/>
          </a:solidFill>
          <a:ln/>
        </p:spPr>
        <p:txBody>
          <a:bodyPr/>
          <a:lstStyle/>
          <a:p>
            <a:endParaRPr lang="en-HU"/>
          </a:p>
        </p:txBody>
      </p:sp>
      <p:sp>
        <p:nvSpPr>
          <p:cNvPr id="21" name="Text 16"/>
          <p:cNvSpPr/>
          <p:nvPr/>
        </p:nvSpPr>
        <p:spPr>
          <a:xfrm>
            <a:off x="6702552" y="3895344"/>
            <a:ext cx="16459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Hybrid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1371600"/>
            <a:ext cx="2194560" cy="2194560"/>
          </a:xfrm>
          <a:prstGeom prst="rect">
            <a:avLst/>
          </a:prstGeom>
          <a:noFill/>
          <a:ln/>
        </p:spPr>
        <p:txBody>
          <a:bodyPr wrap="square" lIns="0" tIns="0" rIns="0" bIns="0" rtlCol="0" anchor="ctr"/>
          <a:lstStyle/>
          <a:p>
            <a:pPr marL="0" indent="0" algn="l">
              <a:buNone/>
            </a:pPr>
            <a:r>
              <a:rPr lang="en-US" sz="15000" b="1" dirty="0">
                <a:solidFill>
                  <a:srgbClr val="54C6A8"/>
                </a:solidFill>
                <a:latin typeface="Trebuchet MS" pitchFamily="34" charset="0"/>
                <a:ea typeface="Trebuchet MS" pitchFamily="34" charset="-122"/>
                <a:cs typeface="Trebuchet MS" pitchFamily="34" charset="-120"/>
              </a:rPr>
              <a:t>03</a:t>
            </a:r>
            <a:endParaRPr lang="en-US" sz="15000" dirty="0"/>
          </a:p>
        </p:txBody>
      </p:sp>
      <p:sp>
        <p:nvSpPr>
          <p:cNvPr id="3" name="icon tile">
            <a:extLst>
              <a:ext uri="{C183D7F6-B498-43B3-948B-1728B52AA6E4}">
                <adec:decorative xmlns:adec="http://schemas.microsoft.com/office/drawing/2017/decorative" val="1"/>
              </a:ext>
            </a:extLst>
          </p:cNvPr>
          <p:cNvSpPr/>
          <p:nvPr/>
        </p:nvSpPr>
        <p:spPr>
          <a:xfrm>
            <a:off x="7360920" y="685800"/>
            <a:ext cx="1097280" cy="1097280"/>
          </a:xfrm>
          <a:prstGeom prst="roundRect">
            <a:avLst>
              <a:gd name="adj" fmla="val 116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4" name="Image 0" descr="hierarchy icon"/>
          <p:cNvPicPr>
            <a:picLocks noChangeAspect="1"/>
          </p:cNvPicPr>
          <p:nvPr/>
        </p:nvPicPr>
        <p:blipFill>
          <a:blip r:embed="rId3"/>
          <a:stretch>
            <a:fillRect/>
          </a:stretch>
        </p:blipFill>
        <p:spPr>
          <a:xfrm>
            <a:off x="7525512" y="850392"/>
            <a:ext cx="768096" cy="768096"/>
          </a:xfrm>
          <a:prstGeom prst="rect">
            <a:avLst/>
          </a:prstGeom>
        </p:spPr>
      </p:pic>
      <p:sp>
        <p:nvSpPr>
          <p:cNvPr id="5" name="Text 2"/>
          <p:cNvSpPr/>
          <p:nvPr/>
        </p:nvSpPr>
        <p:spPr>
          <a:xfrm>
            <a:off x="1755648" y="1572768"/>
            <a:ext cx="5486400" cy="274320"/>
          </a:xfrm>
          <a:prstGeom prst="rect">
            <a:avLst/>
          </a:prstGeom>
          <a:noFill/>
          <a:ln/>
        </p:spPr>
        <p:txBody>
          <a:bodyPr wrap="square" lIns="0" tIns="0" rIns="0" bIns="0" rtlCol="0" anchor="ctr"/>
          <a:lstStyle/>
          <a:p>
            <a:pPr marL="0" indent="0">
              <a:buNone/>
            </a:pPr>
            <a:r>
              <a:rPr lang="en-US" sz="1300" b="1" kern="0" spc="300" dirty="0">
                <a:solidFill>
                  <a:srgbClr val="54C6A8"/>
                </a:solidFill>
                <a:latin typeface="Trebuchet MS" pitchFamily="34" charset="0"/>
                <a:ea typeface="Trebuchet MS" pitchFamily="34" charset="-122"/>
                <a:cs typeface="Trebuchet MS" pitchFamily="34" charset="-120"/>
              </a:rPr>
              <a:t>PART 03</a:t>
            </a:r>
            <a:endParaRPr lang="en-US" sz="1300" dirty="0"/>
          </a:p>
        </p:txBody>
      </p:sp>
      <p:sp>
        <p:nvSpPr>
          <p:cNvPr id="6" name="Text 0"/>
          <p:cNvSpPr>
            <a:spLocks noGrp="1"/>
          </p:cNvSpPr>
          <p:nvPr>
            <p:ph type="title" idx="100" hasCustomPrompt="1"/>
          </p:nvPr>
        </p:nvSpPr>
        <p:spPr>
          <a:xfrm>
            <a:off x="1737360" y="1965960"/>
            <a:ext cx="6766560" cy="914400"/>
          </a:xfrm>
          <a:prstGeom prst="rect">
            <a:avLst/>
          </a:prstGeom>
          <a:noFill/>
          <a:ln/>
        </p:spPr>
        <p:txBody>
          <a:bodyPr wrap="square" lIns="0" tIns="0" rIns="0" bIns="0" rtlCol="0"/>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Inside Azure</a:t>
            </a:r>
            <a:endParaRPr lang="en-US" sz="3400" dirty="0"/>
          </a:p>
        </p:txBody>
      </p:sp>
      <p:sp>
        <p:nvSpPr>
          <p:cNvPr id="7" name="chip">
            <a:extLst>
              <a:ext uri="{C183D7F6-B498-43B3-948B-1728B52AA6E4}">
                <adec:decorative xmlns:adec="http://schemas.microsoft.com/office/drawing/2017/decorative" val="1"/>
              </a:ext>
            </a:extLst>
          </p:cNvPr>
          <p:cNvSpPr/>
          <p:nvPr/>
        </p:nvSpPr>
        <p:spPr>
          <a:xfrm>
            <a:off x="1755648" y="3063240"/>
            <a:ext cx="1655064"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8" name="Text 5"/>
          <p:cNvSpPr/>
          <p:nvPr/>
        </p:nvSpPr>
        <p:spPr>
          <a:xfrm>
            <a:off x="1755648" y="3063240"/>
            <a:ext cx="1655064"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Building blocks</a:t>
            </a:r>
            <a:endParaRPr lang="en-US" sz="1200" dirty="0"/>
          </a:p>
        </p:txBody>
      </p:sp>
      <p:sp>
        <p:nvSpPr>
          <p:cNvPr id="9" name="chip">
            <a:extLst>
              <a:ext uri="{C183D7F6-B498-43B3-948B-1728B52AA6E4}">
                <adec:decorative xmlns:adec="http://schemas.microsoft.com/office/drawing/2017/decorative" val="1"/>
              </a:ext>
            </a:extLst>
          </p:cNvPr>
          <p:cNvSpPr/>
          <p:nvPr/>
        </p:nvSpPr>
        <p:spPr>
          <a:xfrm>
            <a:off x="3611880" y="3063240"/>
            <a:ext cx="1655064"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10" name="Text 7"/>
          <p:cNvSpPr/>
          <p:nvPr/>
        </p:nvSpPr>
        <p:spPr>
          <a:xfrm>
            <a:off x="3611880" y="3063240"/>
            <a:ext cx="1655064"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Resource Groups</a:t>
            </a:r>
            <a:endParaRPr lang="en-US" sz="1200" dirty="0"/>
          </a:p>
        </p:txBody>
      </p:sp>
      <p:sp>
        <p:nvSpPr>
          <p:cNvPr id="11" name="chip">
            <a:extLst>
              <a:ext uri="{C183D7F6-B498-43B3-948B-1728B52AA6E4}">
                <adec:decorative xmlns:adec="http://schemas.microsoft.com/office/drawing/2017/decorative" val="1"/>
              </a:ext>
            </a:extLst>
          </p:cNvPr>
          <p:cNvSpPr/>
          <p:nvPr/>
        </p:nvSpPr>
        <p:spPr>
          <a:xfrm>
            <a:off x="5468112" y="3063240"/>
            <a:ext cx="1655064"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12" name="Text 9"/>
          <p:cNvSpPr/>
          <p:nvPr/>
        </p:nvSpPr>
        <p:spPr>
          <a:xfrm>
            <a:off x="5468112" y="3063240"/>
            <a:ext cx="1655064"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Regions &amp; Zones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AZURE ARCHITECTURE BASICS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How Azure organizes everything</a:t>
            </a:r>
            <a:endParaRPr lang="en-US" sz="3000" dirty="0"/>
          </a:p>
        </p:txBody>
      </p:sp>
      <p:sp>
        <p:nvSpPr>
          <p:cNvPr id="4" name="level box">
            <a:extLst>
              <a:ext uri="{C183D7F6-B498-43B3-948B-1728B52AA6E4}">
                <adec:decorative xmlns:adec="http://schemas.microsoft.com/office/drawing/2017/decorative" val="1"/>
              </a:ext>
            </a:extLst>
          </p:cNvPr>
          <p:cNvSpPr/>
          <p:nvPr/>
        </p:nvSpPr>
        <p:spPr>
          <a:xfrm>
            <a:off x="914400" y="1481328"/>
            <a:ext cx="4572000" cy="3063240"/>
          </a:xfrm>
          <a:prstGeom prst="roundRect">
            <a:avLst>
              <a:gd name="adj" fmla="val 2985"/>
            </a:avLst>
          </a:prstGeom>
          <a:solidFill>
            <a:srgbClr val="FFFFFF"/>
          </a:solidFill>
          <a:ln w="22225">
            <a:solidFill>
              <a:srgbClr val="173E63"/>
            </a:solidFill>
            <a:prstDash val="solid"/>
          </a:ln>
          <a:effectLst>
            <a:outerShdw blurRad="114300" dist="38100" dir="5400000" algn="bl" rotWithShape="0">
              <a:srgbClr val="8FB2CF">
                <a:alpha val="28000"/>
              </a:srgbClr>
            </a:outerShdw>
          </a:effectLst>
        </p:spPr>
        <p:txBody>
          <a:bodyPr/>
          <a:lstStyle/>
          <a:p>
            <a:endParaRPr lang="en-HU"/>
          </a:p>
        </p:txBody>
      </p:sp>
      <p:sp>
        <p:nvSpPr>
          <p:cNvPr id="5" name="Text 3"/>
          <p:cNvSpPr/>
          <p:nvPr/>
        </p:nvSpPr>
        <p:spPr>
          <a:xfrm>
            <a:off x="1060704" y="1554480"/>
            <a:ext cx="4297680" cy="310896"/>
          </a:xfrm>
          <a:prstGeom prst="rect">
            <a:avLst/>
          </a:prstGeom>
          <a:noFill/>
          <a:ln/>
        </p:spPr>
        <p:txBody>
          <a:bodyPr wrap="square" lIns="0" tIns="0" rIns="0" bIns="0" rtlCol="0" anchor="ctr"/>
          <a:lstStyle/>
          <a:p>
            <a:pPr marL="0" indent="0">
              <a:buNone/>
            </a:pPr>
            <a:r>
              <a:rPr lang="en-US" sz="1400" b="1" dirty="0">
                <a:solidFill>
                  <a:srgbClr val="173E63"/>
                </a:solidFill>
                <a:latin typeface="Trebuchet MS" pitchFamily="34" charset="0"/>
                <a:ea typeface="Trebuchet MS" pitchFamily="34" charset="-122"/>
                <a:cs typeface="Trebuchet MS" pitchFamily="34" charset="-120"/>
              </a:rPr>
              <a:t>Subscription</a:t>
            </a:r>
            <a:endParaRPr lang="en-US" sz="1400" dirty="0"/>
          </a:p>
        </p:txBody>
      </p:sp>
      <p:sp>
        <p:nvSpPr>
          <p:cNvPr id="6" name="level box">
            <a:extLst>
              <a:ext uri="{C183D7F6-B498-43B3-948B-1728B52AA6E4}">
                <adec:decorative xmlns:adec="http://schemas.microsoft.com/office/drawing/2017/decorative" val="1"/>
              </a:ext>
            </a:extLst>
          </p:cNvPr>
          <p:cNvSpPr/>
          <p:nvPr/>
        </p:nvSpPr>
        <p:spPr>
          <a:xfrm>
            <a:off x="1234440" y="1938528"/>
            <a:ext cx="3931920" cy="2377440"/>
          </a:xfrm>
          <a:prstGeom prst="roundRect">
            <a:avLst>
              <a:gd name="adj" fmla="val 3846"/>
            </a:avLst>
          </a:prstGeom>
          <a:solidFill>
            <a:srgbClr val="FFFFFF"/>
          </a:solidFill>
          <a:ln w="22225">
            <a:solidFill>
              <a:srgbClr val="2E7CC4"/>
            </a:solidFill>
            <a:prstDash val="solid"/>
          </a:ln>
        </p:spPr>
        <p:txBody>
          <a:bodyPr/>
          <a:lstStyle/>
          <a:p>
            <a:endParaRPr lang="en-HU"/>
          </a:p>
        </p:txBody>
      </p:sp>
      <p:sp>
        <p:nvSpPr>
          <p:cNvPr id="7" name="Text 5"/>
          <p:cNvSpPr/>
          <p:nvPr/>
        </p:nvSpPr>
        <p:spPr>
          <a:xfrm>
            <a:off x="1380744" y="2011680"/>
            <a:ext cx="3657600" cy="310896"/>
          </a:xfrm>
          <a:prstGeom prst="rect">
            <a:avLst/>
          </a:prstGeom>
          <a:noFill/>
          <a:ln/>
        </p:spPr>
        <p:txBody>
          <a:bodyPr wrap="square" lIns="0" tIns="0" rIns="0" bIns="0" rtlCol="0" anchor="ctr"/>
          <a:lstStyle/>
          <a:p>
            <a:pPr marL="0" indent="0">
              <a:buNone/>
            </a:pPr>
            <a:r>
              <a:rPr lang="en-US" sz="1400" b="1" dirty="0">
                <a:solidFill>
                  <a:srgbClr val="2E7CC4"/>
                </a:solidFill>
                <a:latin typeface="Trebuchet MS" pitchFamily="34" charset="0"/>
                <a:ea typeface="Trebuchet MS" pitchFamily="34" charset="-122"/>
                <a:cs typeface="Trebuchet MS" pitchFamily="34" charset="-120"/>
              </a:rPr>
              <a:t>Resource Group</a:t>
            </a:r>
            <a:endParaRPr lang="en-US" sz="1400" dirty="0"/>
          </a:p>
        </p:txBody>
      </p:sp>
      <p:sp>
        <p:nvSpPr>
          <p:cNvPr id="8" name="level box">
            <a:extLst>
              <a:ext uri="{C183D7F6-B498-43B3-948B-1728B52AA6E4}">
                <adec:decorative xmlns:adec="http://schemas.microsoft.com/office/drawing/2017/decorative" val="1"/>
              </a:ext>
            </a:extLst>
          </p:cNvPr>
          <p:cNvSpPr/>
          <p:nvPr/>
        </p:nvSpPr>
        <p:spPr>
          <a:xfrm>
            <a:off x="1554480" y="2395728"/>
            <a:ext cx="3291840" cy="1691640"/>
          </a:xfrm>
          <a:prstGeom prst="roundRect">
            <a:avLst>
              <a:gd name="adj" fmla="val 5405"/>
            </a:avLst>
          </a:prstGeom>
          <a:solidFill>
            <a:srgbClr val="FFFFFF"/>
          </a:solidFill>
          <a:ln w="22225">
            <a:solidFill>
              <a:srgbClr val="2FA98A"/>
            </a:solidFill>
            <a:prstDash val="solid"/>
          </a:ln>
        </p:spPr>
        <p:txBody>
          <a:bodyPr/>
          <a:lstStyle/>
          <a:p>
            <a:endParaRPr lang="en-HU"/>
          </a:p>
        </p:txBody>
      </p:sp>
      <p:sp>
        <p:nvSpPr>
          <p:cNvPr id="9" name="Text 7"/>
          <p:cNvSpPr/>
          <p:nvPr/>
        </p:nvSpPr>
        <p:spPr>
          <a:xfrm>
            <a:off x="1700784" y="2468880"/>
            <a:ext cx="3017520" cy="310896"/>
          </a:xfrm>
          <a:prstGeom prst="rect">
            <a:avLst/>
          </a:prstGeom>
          <a:noFill/>
          <a:ln/>
        </p:spPr>
        <p:txBody>
          <a:bodyPr wrap="square" lIns="0" tIns="0" rIns="0" bIns="0" rtlCol="0" anchor="ctr"/>
          <a:lstStyle/>
          <a:p>
            <a:pPr marL="0" indent="0">
              <a:buNone/>
            </a:pPr>
            <a:r>
              <a:rPr lang="en-US" sz="1400" b="1" dirty="0">
                <a:solidFill>
                  <a:srgbClr val="2FA98A"/>
                </a:solidFill>
                <a:latin typeface="Trebuchet MS" pitchFamily="34" charset="0"/>
                <a:ea typeface="Trebuchet MS" pitchFamily="34" charset="-122"/>
                <a:cs typeface="Trebuchet MS" pitchFamily="34" charset="-120"/>
              </a:rPr>
              <a:t>Resources</a:t>
            </a:r>
            <a:endParaRPr lang="en-US" sz="1400" dirty="0"/>
          </a:p>
        </p:txBody>
      </p:sp>
      <p:sp>
        <p:nvSpPr>
          <p:cNvPr id="10" name="level box">
            <a:extLst>
              <a:ext uri="{C183D7F6-B498-43B3-948B-1728B52AA6E4}">
                <adec:decorative xmlns:adec="http://schemas.microsoft.com/office/drawing/2017/decorative" val="1"/>
              </a:ext>
            </a:extLst>
          </p:cNvPr>
          <p:cNvSpPr/>
          <p:nvPr/>
        </p:nvSpPr>
        <p:spPr>
          <a:xfrm>
            <a:off x="1874520" y="2852928"/>
            <a:ext cx="2651760" cy="1005840"/>
          </a:xfrm>
          <a:prstGeom prst="roundRect">
            <a:avLst>
              <a:gd name="adj" fmla="val 9091"/>
            </a:avLst>
          </a:prstGeom>
          <a:solidFill>
            <a:srgbClr val="FBE7E1"/>
          </a:solidFill>
          <a:ln w="22225">
            <a:solidFill>
              <a:srgbClr val="EF6F58"/>
            </a:solidFill>
            <a:prstDash val="solid"/>
          </a:ln>
        </p:spPr>
        <p:txBody>
          <a:bodyPr/>
          <a:lstStyle/>
          <a:p>
            <a:endParaRPr lang="en-HU"/>
          </a:p>
        </p:txBody>
      </p:sp>
      <p:sp>
        <p:nvSpPr>
          <p:cNvPr id="11" name="Text 9"/>
          <p:cNvSpPr/>
          <p:nvPr/>
        </p:nvSpPr>
        <p:spPr>
          <a:xfrm>
            <a:off x="2020824" y="2926080"/>
            <a:ext cx="2377440" cy="310896"/>
          </a:xfrm>
          <a:prstGeom prst="rect">
            <a:avLst/>
          </a:prstGeom>
          <a:noFill/>
          <a:ln/>
        </p:spPr>
        <p:txBody>
          <a:bodyPr wrap="square" lIns="0" tIns="0" rIns="0" bIns="0" rtlCol="0" anchor="ctr"/>
          <a:lstStyle/>
          <a:p>
            <a:pPr marL="0" indent="0">
              <a:buNone/>
            </a:pPr>
            <a:r>
              <a:rPr lang="en-US" sz="1250" b="1" dirty="0">
                <a:solidFill>
                  <a:srgbClr val="EF6F58"/>
                </a:solidFill>
                <a:latin typeface="Trebuchet MS" pitchFamily="34" charset="0"/>
                <a:ea typeface="Trebuchet MS" pitchFamily="34" charset="-122"/>
                <a:cs typeface="Trebuchet MS" pitchFamily="34" charset="-120"/>
              </a:rPr>
              <a:t>VMs · Databases · Storage</a:t>
            </a:r>
            <a:endParaRPr lang="en-US" sz="1250" dirty="0"/>
          </a:p>
        </p:txBody>
      </p:sp>
      <p:sp>
        <p:nvSpPr>
          <p:cNvPr id="12" name="Text 10"/>
          <p:cNvSpPr/>
          <p:nvPr/>
        </p:nvSpPr>
        <p:spPr>
          <a:xfrm>
            <a:off x="5806440" y="1481328"/>
            <a:ext cx="2834640" cy="365760"/>
          </a:xfrm>
          <a:prstGeom prst="rect">
            <a:avLst/>
          </a:prstGeom>
          <a:noFill/>
          <a:ln/>
        </p:spPr>
        <p:txBody>
          <a:bodyPr wrap="square" lIns="0" tIns="0" rIns="0" bIns="0" rtlCol="0" anchor="ctr"/>
          <a:lstStyle/>
          <a:p>
            <a:pPr marL="0" indent="0">
              <a:buNone/>
            </a:pPr>
            <a:r>
              <a:rPr lang="en-US" sz="1500" b="1" dirty="0">
                <a:solidFill>
                  <a:srgbClr val="1E5386"/>
                </a:solidFill>
                <a:latin typeface="Trebuchet MS" pitchFamily="34" charset="0"/>
                <a:ea typeface="Trebuchet MS" pitchFamily="34" charset="-122"/>
                <a:cs typeface="Trebuchet MS" pitchFamily="34" charset="-120"/>
              </a:rPr>
              <a:t>Everything nests neatly</a:t>
            </a:r>
            <a:endParaRPr lang="en-US" sz="1500" dirty="0"/>
          </a:p>
        </p:txBody>
      </p:sp>
      <p:sp>
        <p:nvSpPr>
          <p:cNvPr id="13" name="dot">
            <a:extLst>
              <a:ext uri="{C183D7F6-B498-43B3-948B-1728B52AA6E4}">
                <adec:decorative xmlns:adec="http://schemas.microsoft.com/office/drawing/2017/decorative" val="1"/>
              </a:ext>
            </a:extLst>
          </p:cNvPr>
          <p:cNvSpPr/>
          <p:nvPr/>
        </p:nvSpPr>
        <p:spPr>
          <a:xfrm>
            <a:off x="5833872" y="2057400"/>
            <a:ext cx="146304" cy="146304"/>
          </a:xfrm>
          <a:prstGeom prst="ellipse">
            <a:avLst/>
          </a:prstGeom>
          <a:solidFill>
            <a:srgbClr val="2E7CC4"/>
          </a:solidFill>
          <a:ln/>
        </p:spPr>
        <p:txBody>
          <a:bodyPr/>
          <a:lstStyle/>
          <a:p>
            <a:endParaRPr lang="en-HU"/>
          </a:p>
        </p:txBody>
      </p:sp>
      <p:sp>
        <p:nvSpPr>
          <p:cNvPr id="14" name="Text 12"/>
          <p:cNvSpPr/>
          <p:nvPr/>
        </p:nvSpPr>
        <p:spPr>
          <a:xfrm>
            <a:off x="6089904" y="1956816"/>
            <a:ext cx="2606040" cy="640080"/>
          </a:xfrm>
          <a:prstGeom prst="rect">
            <a:avLst/>
          </a:prstGeom>
          <a:noFill/>
          <a:ln/>
        </p:spPr>
        <p:txBody>
          <a:bodyPr wrap="square" lIns="0" tIns="0" rIns="0" bIns="0" rtlCol="0" anchor="t"/>
          <a:lstStyle/>
          <a:p>
            <a:pPr marL="0" indent="0">
              <a:lnSpc>
                <a:spcPts val="1500"/>
              </a:lnSpc>
              <a:buNone/>
            </a:pPr>
            <a:r>
              <a:rPr lang="en-US" sz="1250" b="1" dirty="0">
                <a:solidFill>
                  <a:srgbClr val="1E5386"/>
                </a:solidFill>
                <a:latin typeface="Calibri" pitchFamily="34" charset="0"/>
                <a:ea typeface="Calibri" pitchFamily="34" charset="-122"/>
                <a:cs typeface="Calibri" pitchFamily="34" charset="-120"/>
              </a:rPr>
              <a:t>Subscription </a:t>
            </a:r>
            <a:r>
              <a:rPr lang="en-US" sz="1250" dirty="0">
                <a:solidFill>
                  <a:srgbClr val="2A3B4D"/>
                </a:solidFill>
                <a:latin typeface="Calibri" pitchFamily="34" charset="0"/>
                <a:ea typeface="Calibri" pitchFamily="34" charset="-122"/>
                <a:cs typeface="Calibri" pitchFamily="34" charset="-120"/>
              </a:rPr>
              <a:t>groups billing and who can access what.</a:t>
            </a:r>
            <a:endParaRPr lang="en-US" sz="1250" dirty="0"/>
          </a:p>
        </p:txBody>
      </p:sp>
      <p:sp>
        <p:nvSpPr>
          <p:cNvPr id="15" name="dot">
            <a:extLst>
              <a:ext uri="{C183D7F6-B498-43B3-948B-1728B52AA6E4}">
                <adec:decorative xmlns:adec="http://schemas.microsoft.com/office/drawing/2017/decorative" val="1"/>
              </a:ext>
            </a:extLst>
          </p:cNvPr>
          <p:cNvSpPr/>
          <p:nvPr/>
        </p:nvSpPr>
        <p:spPr>
          <a:xfrm>
            <a:off x="5833872" y="2843784"/>
            <a:ext cx="146304" cy="146304"/>
          </a:xfrm>
          <a:prstGeom prst="ellipse">
            <a:avLst/>
          </a:prstGeom>
          <a:solidFill>
            <a:srgbClr val="2E7CC4"/>
          </a:solidFill>
          <a:ln/>
        </p:spPr>
        <p:txBody>
          <a:bodyPr/>
          <a:lstStyle/>
          <a:p>
            <a:endParaRPr lang="en-HU"/>
          </a:p>
        </p:txBody>
      </p:sp>
      <p:sp>
        <p:nvSpPr>
          <p:cNvPr id="16" name="Text 14"/>
          <p:cNvSpPr/>
          <p:nvPr/>
        </p:nvSpPr>
        <p:spPr>
          <a:xfrm>
            <a:off x="6089904" y="2743200"/>
            <a:ext cx="2606040" cy="640080"/>
          </a:xfrm>
          <a:prstGeom prst="rect">
            <a:avLst/>
          </a:prstGeom>
          <a:noFill/>
          <a:ln/>
        </p:spPr>
        <p:txBody>
          <a:bodyPr wrap="square" lIns="0" tIns="0" rIns="0" bIns="0" rtlCol="0" anchor="t"/>
          <a:lstStyle/>
          <a:p>
            <a:pPr marL="0" indent="0">
              <a:lnSpc>
                <a:spcPts val="1500"/>
              </a:lnSpc>
              <a:buNone/>
            </a:pPr>
            <a:r>
              <a:rPr lang="en-US" sz="1250" b="1" dirty="0">
                <a:solidFill>
                  <a:srgbClr val="1E5386"/>
                </a:solidFill>
                <a:latin typeface="Calibri" pitchFamily="34" charset="0"/>
                <a:ea typeface="Calibri" pitchFamily="34" charset="-122"/>
                <a:cs typeface="Calibri" pitchFamily="34" charset="-120"/>
              </a:rPr>
              <a:t>Resource group </a:t>
            </a:r>
            <a:r>
              <a:rPr lang="en-US" sz="1250" dirty="0">
                <a:solidFill>
                  <a:srgbClr val="2A3B4D"/>
                </a:solidFill>
                <a:latin typeface="Calibri" pitchFamily="34" charset="0"/>
                <a:ea typeface="Calibri" pitchFamily="34" charset="-122"/>
                <a:cs typeface="Calibri" pitchFamily="34" charset="-120"/>
              </a:rPr>
              <a:t>keeps all the pieces of one project together.</a:t>
            </a:r>
            <a:endParaRPr lang="en-US" sz="1250" dirty="0"/>
          </a:p>
        </p:txBody>
      </p:sp>
      <p:sp>
        <p:nvSpPr>
          <p:cNvPr id="17" name="dot">
            <a:extLst>
              <a:ext uri="{C183D7F6-B498-43B3-948B-1728B52AA6E4}">
                <adec:decorative xmlns:adec="http://schemas.microsoft.com/office/drawing/2017/decorative" val="1"/>
              </a:ext>
            </a:extLst>
          </p:cNvPr>
          <p:cNvSpPr/>
          <p:nvPr/>
        </p:nvSpPr>
        <p:spPr>
          <a:xfrm>
            <a:off x="5833872" y="3630168"/>
            <a:ext cx="146304" cy="146304"/>
          </a:xfrm>
          <a:prstGeom prst="ellipse">
            <a:avLst/>
          </a:prstGeom>
          <a:solidFill>
            <a:srgbClr val="2E7CC4"/>
          </a:solidFill>
          <a:ln/>
        </p:spPr>
        <p:txBody>
          <a:bodyPr/>
          <a:lstStyle/>
          <a:p>
            <a:endParaRPr lang="en-HU"/>
          </a:p>
        </p:txBody>
      </p:sp>
      <p:sp>
        <p:nvSpPr>
          <p:cNvPr id="18" name="Text 16"/>
          <p:cNvSpPr/>
          <p:nvPr/>
        </p:nvSpPr>
        <p:spPr>
          <a:xfrm>
            <a:off x="6089904" y="3529584"/>
            <a:ext cx="2606040" cy="640080"/>
          </a:xfrm>
          <a:prstGeom prst="rect">
            <a:avLst/>
          </a:prstGeom>
          <a:noFill/>
          <a:ln/>
        </p:spPr>
        <p:txBody>
          <a:bodyPr wrap="square" lIns="0" tIns="0" rIns="0" bIns="0" rtlCol="0" anchor="t"/>
          <a:lstStyle/>
          <a:p>
            <a:pPr marL="0" indent="0">
              <a:lnSpc>
                <a:spcPts val="1500"/>
              </a:lnSpc>
              <a:buNone/>
            </a:pPr>
            <a:r>
              <a:rPr lang="en-US" sz="1250" b="1" dirty="0">
                <a:solidFill>
                  <a:srgbClr val="1E5386"/>
                </a:solidFill>
                <a:latin typeface="Calibri" pitchFamily="34" charset="0"/>
                <a:ea typeface="Calibri" pitchFamily="34" charset="-122"/>
                <a:cs typeface="Calibri" pitchFamily="34" charset="-120"/>
              </a:rPr>
              <a:t>Resources </a:t>
            </a:r>
            <a:r>
              <a:rPr lang="en-US" sz="1250" dirty="0">
                <a:solidFill>
                  <a:srgbClr val="2A3B4D"/>
                </a:solidFill>
                <a:latin typeface="Calibri" pitchFamily="34" charset="0"/>
                <a:ea typeface="Calibri" pitchFamily="34" charset="-122"/>
                <a:cs typeface="Calibri" pitchFamily="34" charset="-120"/>
              </a:rPr>
              <a:t>are the databases, VMs and storage you create.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a:solidFill>
                  <a:srgbClr val="EF6F58"/>
                </a:solidFill>
                <a:latin typeface="Trebuchet MS" pitchFamily="34" charset="0"/>
                <a:ea typeface="Trebuchet MS" pitchFamily="34" charset="-122"/>
                <a:cs typeface="Trebuchet MS" pitchFamily="34" charset="-120"/>
              </a:rPr>
              <a:t>AZURE ARCHITECTURE BASICS</a:t>
            </a:r>
            <a:endParaRPr lang="en-US" sz="125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a:solidFill>
                  <a:srgbClr val="1E5386"/>
                </a:solidFill>
                <a:latin typeface="Trebuchet MS" pitchFamily="34" charset="0"/>
                <a:ea typeface="Trebuchet MS" pitchFamily="34" charset="-122"/>
                <a:cs typeface="Trebuchet MS" pitchFamily="34" charset="-120"/>
              </a:rPr>
              <a:t>One level up: Management Groups</a:t>
            </a:r>
            <a:endParaRPr lang="en-US" sz="3000"/>
          </a:p>
        </p:txBody>
      </p:sp>
      <p:sp>
        <p:nvSpPr>
          <p:cNvPr id="4" name="card">
            <a:extLst>
              <a:ext uri="{C183D7F6-B498-43B3-948B-1728B52AA6E4}">
                <adec:decorative xmlns:adec="http://schemas.microsoft.com/office/drawing/2017/decorative" val="1"/>
              </a:ext>
            </a:extLst>
          </p:cNvPr>
          <p:cNvSpPr/>
          <p:nvPr/>
        </p:nvSpPr>
        <p:spPr>
          <a:xfrm>
            <a:off x="566928" y="1508760"/>
            <a:ext cx="2670048" cy="2468880"/>
          </a:xfrm>
          <a:prstGeom prst="roundRect">
            <a:avLst>
              <a:gd name="adj" fmla="val 407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1467612" y="1764792"/>
            <a:ext cx="868680" cy="868680"/>
          </a:xfrm>
          <a:prstGeom prst="roundRect">
            <a:avLst>
              <a:gd name="adj" fmla="val 14737"/>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hierarchy icon"/>
          <p:cNvPicPr>
            <a:picLocks noChangeAspect="1"/>
          </p:cNvPicPr>
          <p:nvPr/>
        </p:nvPicPr>
        <p:blipFill>
          <a:blip r:embed="rId3"/>
          <a:stretch>
            <a:fillRect/>
          </a:stretch>
        </p:blipFill>
        <p:spPr>
          <a:xfrm>
            <a:off x="1624648" y="1921828"/>
            <a:ext cx="554607" cy="554607"/>
          </a:xfrm>
          <a:prstGeom prst="rect">
            <a:avLst/>
          </a:prstGeom>
        </p:spPr>
      </p:pic>
      <p:sp>
        <p:nvSpPr>
          <p:cNvPr id="7" name="Text 4"/>
          <p:cNvSpPr/>
          <p:nvPr/>
        </p:nvSpPr>
        <p:spPr>
          <a:xfrm>
            <a:off x="694944" y="2770632"/>
            <a:ext cx="2414016" cy="384048"/>
          </a:xfrm>
          <a:prstGeom prst="rect">
            <a:avLst/>
          </a:prstGeom>
          <a:noFill/>
          <a:ln/>
        </p:spPr>
        <p:txBody>
          <a:bodyPr wrap="square" lIns="0" tIns="0" rIns="0" bIns="0" rtlCol="0" anchor="ctr"/>
          <a:lstStyle/>
          <a:p>
            <a:pPr marL="0" indent="0" algn="ctr">
              <a:buNone/>
            </a:pPr>
            <a:r>
              <a:rPr lang="en-US" sz="1600" b="1">
                <a:solidFill>
                  <a:srgbClr val="2E7CC4"/>
                </a:solidFill>
                <a:latin typeface="Trebuchet MS" pitchFamily="34" charset="0"/>
                <a:ea typeface="Trebuchet MS" pitchFamily="34" charset="-122"/>
                <a:cs typeface="Trebuchet MS" pitchFamily="34" charset="-120"/>
              </a:rPr>
              <a:t>Above subscriptions</a:t>
            </a:r>
            <a:endParaRPr lang="en-US" sz="1600"/>
          </a:p>
        </p:txBody>
      </p:sp>
      <p:sp>
        <p:nvSpPr>
          <p:cNvPr id="8" name="Text 5"/>
          <p:cNvSpPr/>
          <p:nvPr/>
        </p:nvSpPr>
        <p:spPr>
          <a:xfrm>
            <a:off x="749808" y="3200400"/>
            <a:ext cx="2304288" cy="685800"/>
          </a:xfrm>
          <a:prstGeom prst="rect">
            <a:avLst/>
          </a:prstGeom>
          <a:noFill/>
          <a:ln/>
        </p:spPr>
        <p:txBody>
          <a:bodyPr wrap="square" lIns="0" tIns="0" rIns="0" bIns="0" rtlCol="0" anchor="t"/>
          <a:lstStyle/>
          <a:p>
            <a:pPr marL="0" indent="0" algn="ctr">
              <a:lnSpc>
                <a:spcPts val="1600"/>
              </a:lnSpc>
              <a:buNone/>
            </a:pPr>
            <a:r>
              <a:rPr lang="en-US" sz="1250">
                <a:solidFill>
                  <a:srgbClr val="2A3B4D"/>
                </a:solidFill>
                <a:latin typeface="Calibri" pitchFamily="34" charset="0"/>
                <a:ea typeface="Calibri" pitchFamily="34" charset="-122"/>
                <a:cs typeface="Calibri" pitchFamily="34" charset="-120"/>
              </a:rPr>
              <a:t>A governance layer that sits over many subscriptions at once.</a:t>
            </a:r>
            <a:endParaRPr lang="en-US" sz="1250"/>
          </a:p>
        </p:txBody>
      </p:sp>
      <p:sp>
        <p:nvSpPr>
          <p:cNvPr id="9" name="card">
            <a:extLst>
              <a:ext uri="{C183D7F6-B498-43B3-948B-1728B52AA6E4}">
                <adec:decorative xmlns:adec="http://schemas.microsoft.com/office/drawing/2017/decorative" val="1"/>
              </a:ext>
            </a:extLst>
          </p:cNvPr>
          <p:cNvSpPr/>
          <p:nvPr/>
        </p:nvSpPr>
        <p:spPr>
          <a:xfrm>
            <a:off x="3456432" y="1508760"/>
            <a:ext cx="2670048" cy="2468880"/>
          </a:xfrm>
          <a:prstGeom prst="roundRect">
            <a:avLst>
              <a:gd name="adj" fmla="val 407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0" name="icon tile">
            <a:extLst>
              <a:ext uri="{C183D7F6-B498-43B3-948B-1728B52AA6E4}">
                <adec:decorative xmlns:adec="http://schemas.microsoft.com/office/drawing/2017/decorative" val="1"/>
              </a:ext>
            </a:extLst>
          </p:cNvPr>
          <p:cNvSpPr/>
          <p:nvPr/>
        </p:nvSpPr>
        <p:spPr>
          <a:xfrm>
            <a:off x="4357116" y="1764792"/>
            <a:ext cx="868680" cy="868680"/>
          </a:xfrm>
          <a:prstGeom prst="roundRect">
            <a:avLst>
              <a:gd name="adj" fmla="val 14737"/>
            </a:avLst>
          </a:prstGeom>
          <a:solidFill>
            <a:srgbClr val="FBE7E1"/>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1" name="Image 1" descr="layers icon"/>
          <p:cNvPicPr>
            <a:picLocks noChangeAspect="1"/>
          </p:cNvPicPr>
          <p:nvPr/>
        </p:nvPicPr>
        <p:blipFill>
          <a:blip r:embed="rId4"/>
          <a:stretch>
            <a:fillRect/>
          </a:stretch>
        </p:blipFill>
        <p:spPr>
          <a:xfrm>
            <a:off x="4487418" y="1895094"/>
            <a:ext cx="608076" cy="608076"/>
          </a:xfrm>
          <a:prstGeom prst="rect">
            <a:avLst/>
          </a:prstGeom>
        </p:spPr>
      </p:pic>
      <p:sp>
        <p:nvSpPr>
          <p:cNvPr id="12" name="Text 8"/>
          <p:cNvSpPr/>
          <p:nvPr/>
        </p:nvSpPr>
        <p:spPr>
          <a:xfrm>
            <a:off x="3584448" y="2770632"/>
            <a:ext cx="2414016" cy="384048"/>
          </a:xfrm>
          <a:prstGeom prst="rect">
            <a:avLst/>
          </a:prstGeom>
          <a:noFill/>
          <a:ln/>
        </p:spPr>
        <p:txBody>
          <a:bodyPr wrap="square" lIns="0" tIns="0" rIns="0" bIns="0" rtlCol="0" anchor="ctr"/>
          <a:lstStyle/>
          <a:p>
            <a:pPr marL="0" indent="0" algn="ctr">
              <a:buNone/>
            </a:pPr>
            <a:r>
              <a:rPr lang="en-US" sz="1600" b="1">
                <a:solidFill>
                  <a:srgbClr val="EF6F58"/>
                </a:solidFill>
                <a:latin typeface="Trebuchet MS" pitchFamily="34" charset="0"/>
                <a:ea typeface="Trebuchet MS" pitchFamily="34" charset="-122"/>
                <a:cs typeface="Trebuchet MS" pitchFamily="34" charset="-120"/>
              </a:rPr>
              <a:t>Policies inherit</a:t>
            </a:r>
            <a:endParaRPr lang="en-US" sz="1600"/>
          </a:p>
        </p:txBody>
      </p:sp>
      <p:sp>
        <p:nvSpPr>
          <p:cNvPr id="13" name="Text 9"/>
          <p:cNvSpPr/>
          <p:nvPr/>
        </p:nvSpPr>
        <p:spPr>
          <a:xfrm>
            <a:off x="3639312" y="3200400"/>
            <a:ext cx="2304288" cy="685800"/>
          </a:xfrm>
          <a:prstGeom prst="rect">
            <a:avLst/>
          </a:prstGeom>
          <a:noFill/>
          <a:ln/>
        </p:spPr>
        <p:txBody>
          <a:bodyPr wrap="square" lIns="0" tIns="0" rIns="0" bIns="0" rtlCol="0" anchor="t"/>
          <a:lstStyle/>
          <a:p>
            <a:pPr marL="0" indent="0" algn="ctr">
              <a:lnSpc>
                <a:spcPts val="1600"/>
              </a:lnSpc>
              <a:buNone/>
            </a:pPr>
            <a:r>
              <a:rPr lang="en-US" sz="1250">
                <a:solidFill>
                  <a:srgbClr val="2A3B4D"/>
                </a:solidFill>
                <a:latin typeface="Calibri" pitchFamily="34" charset="0"/>
                <a:ea typeface="Calibri" pitchFamily="34" charset="-122"/>
                <a:cs typeface="Calibri" pitchFamily="34" charset="-120"/>
              </a:rPr>
              <a:t>Rules set at the top flow down to every subscription below.</a:t>
            </a:r>
            <a:endParaRPr lang="en-US" sz="1250"/>
          </a:p>
        </p:txBody>
      </p:sp>
      <p:sp>
        <p:nvSpPr>
          <p:cNvPr id="14" name="card">
            <a:extLst>
              <a:ext uri="{C183D7F6-B498-43B3-948B-1728B52AA6E4}">
                <adec:decorative xmlns:adec="http://schemas.microsoft.com/office/drawing/2017/decorative" val="1"/>
              </a:ext>
            </a:extLst>
          </p:cNvPr>
          <p:cNvSpPr/>
          <p:nvPr/>
        </p:nvSpPr>
        <p:spPr>
          <a:xfrm>
            <a:off x="6345936" y="1508760"/>
            <a:ext cx="2670048" cy="2468880"/>
          </a:xfrm>
          <a:prstGeom prst="roundRect">
            <a:avLst>
              <a:gd name="adj" fmla="val 407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5" name="icon tile">
            <a:extLst>
              <a:ext uri="{C183D7F6-B498-43B3-948B-1728B52AA6E4}">
                <adec:decorative xmlns:adec="http://schemas.microsoft.com/office/drawing/2017/decorative" val="1"/>
              </a:ext>
            </a:extLst>
          </p:cNvPr>
          <p:cNvSpPr/>
          <p:nvPr/>
        </p:nvSpPr>
        <p:spPr>
          <a:xfrm>
            <a:off x="7246620" y="1764792"/>
            <a:ext cx="868680" cy="868680"/>
          </a:xfrm>
          <a:prstGeom prst="roundRect">
            <a:avLst>
              <a:gd name="adj" fmla="val 14737"/>
            </a:avLst>
          </a:prstGeom>
          <a:solidFill>
            <a:srgbClr val="E2F3EE"/>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6" name="Image 2" descr="shields icon"/>
          <p:cNvPicPr>
            <a:picLocks noChangeAspect="1"/>
          </p:cNvPicPr>
          <p:nvPr/>
        </p:nvPicPr>
        <p:blipFill>
          <a:blip r:embed="rId5"/>
          <a:stretch>
            <a:fillRect/>
          </a:stretch>
        </p:blipFill>
        <p:spPr>
          <a:xfrm>
            <a:off x="7376922" y="1895094"/>
            <a:ext cx="608076" cy="608076"/>
          </a:xfrm>
          <a:prstGeom prst="rect">
            <a:avLst/>
          </a:prstGeom>
        </p:spPr>
      </p:pic>
      <p:sp>
        <p:nvSpPr>
          <p:cNvPr id="17" name="Text 12"/>
          <p:cNvSpPr/>
          <p:nvPr/>
        </p:nvSpPr>
        <p:spPr>
          <a:xfrm>
            <a:off x="6473952" y="2770632"/>
            <a:ext cx="2414016" cy="384048"/>
          </a:xfrm>
          <a:prstGeom prst="rect">
            <a:avLst/>
          </a:prstGeom>
          <a:noFill/>
          <a:ln/>
        </p:spPr>
        <p:txBody>
          <a:bodyPr wrap="square" lIns="0" tIns="0" rIns="0" bIns="0" rtlCol="0" anchor="ctr"/>
          <a:lstStyle/>
          <a:p>
            <a:pPr marL="0" indent="0" algn="ctr">
              <a:buNone/>
            </a:pPr>
            <a:r>
              <a:rPr lang="en-US" sz="1600" b="1">
                <a:solidFill>
                  <a:srgbClr val="2FA98A"/>
                </a:solidFill>
                <a:latin typeface="Trebuchet MS" pitchFamily="34" charset="0"/>
                <a:ea typeface="Trebuchet MS" pitchFamily="34" charset="-122"/>
                <a:cs typeface="Trebuchet MS" pitchFamily="34" charset="-120"/>
              </a:rPr>
              <a:t>Up to six levels</a:t>
            </a:r>
            <a:endParaRPr lang="en-US" sz="1600"/>
          </a:p>
        </p:txBody>
      </p:sp>
      <p:sp>
        <p:nvSpPr>
          <p:cNvPr id="18" name="Text 13"/>
          <p:cNvSpPr/>
          <p:nvPr/>
        </p:nvSpPr>
        <p:spPr>
          <a:xfrm>
            <a:off x="6528816" y="3200400"/>
            <a:ext cx="2304288" cy="685800"/>
          </a:xfrm>
          <a:prstGeom prst="rect">
            <a:avLst/>
          </a:prstGeom>
          <a:noFill/>
          <a:ln/>
        </p:spPr>
        <p:txBody>
          <a:bodyPr wrap="square" lIns="0" tIns="0" rIns="0" bIns="0" rtlCol="0" anchor="t"/>
          <a:lstStyle/>
          <a:p>
            <a:pPr marL="0" indent="0" algn="ctr">
              <a:lnSpc>
                <a:spcPts val="1600"/>
              </a:lnSpc>
              <a:buNone/>
            </a:pPr>
            <a:r>
              <a:rPr lang="en-US" sz="1250">
                <a:solidFill>
                  <a:srgbClr val="2A3B4D"/>
                </a:solidFill>
                <a:latin typeface="Calibri" pitchFamily="34" charset="0"/>
                <a:ea typeface="Calibri" pitchFamily="34" charset="-122"/>
                <a:cs typeface="Calibri" pitchFamily="34" charset="-120"/>
              </a:rPr>
              <a:t>Nest groups to mirror how your teams are organized.</a:t>
            </a:r>
            <a:endParaRPr lang="en-US" sz="1250"/>
          </a:p>
        </p:txBody>
      </p:sp>
      <p:sp>
        <p:nvSpPr>
          <p:cNvPr id="19" name="arm banner">
            <a:extLst>
              <a:ext uri="{C183D7F6-B498-43B3-948B-1728B52AA6E4}">
                <adec:decorative xmlns:adec="http://schemas.microsoft.com/office/drawing/2017/decorative" val="1"/>
              </a:ext>
            </a:extLst>
          </p:cNvPr>
          <p:cNvSpPr/>
          <p:nvPr/>
        </p:nvSpPr>
        <p:spPr>
          <a:xfrm>
            <a:off x="566928" y="4229100"/>
            <a:ext cx="8449056" cy="548640"/>
          </a:xfrm>
          <a:prstGeom prst="roundRect">
            <a:avLst>
              <a:gd name="adj" fmla="val 22581"/>
            </a:avLst>
          </a:prstGeom>
          <a:solidFill>
            <a:srgbClr val="E2F3EE"/>
          </a:solidFill>
          <a:ln w="12700">
            <a:solidFill>
              <a:srgbClr val="BFE3D8"/>
            </a:solidFill>
            <a:prstDash val="solid"/>
          </a:ln>
        </p:spPr>
        <p:txBody>
          <a:bodyPr/>
          <a:lstStyle/>
          <a:p>
            <a:endParaRPr lang="en-HU"/>
          </a:p>
        </p:txBody>
      </p:sp>
      <p:sp>
        <p:nvSpPr>
          <p:cNvPr id="20" name="Text arm"/>
          <p:cNvSpPr/>
          <p:nvPr/>
        </p:nvSpPr>
        <p:spPr>
          <a:xfrm>
            <a:off x="822960" y="4229100"/>
            <a:ext cx="7937040" cy="548640"/>
          </a:xfrm>
          <a:prstGeom prst="rect">
            <a:avLst/>
          </a:prstGeom>
          <a:noFill/>
          <a:ln/>
        </p:spPr>
        <p:txBody>
          <a:bodyPr wrap="square" lIns="0" tIns="0" rIns="0" bIns="0" rtlCol="0" anchor="ctr"/>
          <a:lstStyle/>
          <a:p>
            <a:pPr marL="0" indent="0">
              <a:buNone/>
            </a:pPr>
            <a:r>
              <a:rPr lang="en-US" sz="1250" b="1">
                <a:solidFill>
                  <a:srgbClr val="2FA98A"/>
                </a:solidFill>
                <a:latin typeface="Calibri" pitchFamily="34" charset="0"/>
                <a:ea typeface="Calibri" pitchFamily="34" charset="-122"/>
                <a:cs typeface="Calibri" pitchFamily="34" charset="-120"/>
              </a:rPr>
              <a:t>Azure Resource Manager (ARM)   </a:t>
            </a:r>
            <a:r>
              <a:rPr lang="en-US" sz="1250">
                <a:solidFill>
                  <a:srgbClr val="2A3B4D"/>
                </a:solidFill>
                <a:latin typeface="Calibri" pitchFamily="34" charset="0"/>
                <a:ea typeface="Calibri" pitchFamily="34" charset="-122"/>
                <a:cs typeface="Calibri" pitchFamily="34" charset="-120"/>
              </a:rPr>
              <a:t>is the control plane behind it all — every request from the portal, CLI or templates flows through ARM to create and manage your resources.</a:t>
            </a:r>
            <a:endParaRPr lang="en-US" sz="12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RESOURCE GROUPS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The folders of Azure</a:t>
            </a:r>
            <a:endParaRPr lang="en-US" sz="3000" dirty="0"/>
          </a:p>
        </p:txBody>
      </p:sp>
      <p:sp>
        <p:nvSpPr>
          <p:cNvPr id="4" name="Text 2"/>
          <p:cNvSpPr/>
          <p:nvPr/>
        </p:nvSpPr>
        <p:spPr>
          <a:xfrm>
            <a:off x="566928" y="1417320"/>
            <a:ext cx="4892040" cy="1051560"/>
          </a:xfrm>
          <a:prstGeom prst="rect">
            <a:avLst/>
          </a:prstGeom>
          <a:noFill/>
          <a:ln/>
        </p:spPr>
        <p:txBody>
          <a:bodyPr wrap="square" lIns="0" tIns="0" rIns="0" bIns="0" rtlCol="0" anchor="t"/>
          <a:lstStyle/>
          <a:p>
            <a:pPr marL="0" indent="0">
              <a:lnSpc>
                <a:spcPts val="2100"/>
              </a:lnSpc>
              <a:buNone/>
            </a:pPr>
            <a:r>
              <a:rPr lang="en-US" sz="1550" dirty="0">
                <a:solidFill>
                  <a:srgbClr val="2A3B4D"/>
                </a:solidFill>
                <a:latin typeface="Calibri" pitchFamily="34" charset="0"/>
                <a:ea typeface="Calibri" pitchFamily="34" charset="-122"/>
                <a:cs typeface="Calibri" pitchFamily="34" charset="-120"/>
              </a:rPr>
              <a:t>A resource group is a container that holds related Azure resources — like a project folder that keeps everything for one app or environment in one place.</a:t>
            </a:r>
            <a:endParaRPr lang="en-US" sz="1550" dirty="0"/>
          </a:p>
        </p:txBody>
      </p:sp>
      <p:sp>
        <p:nvSpPr>
          <p:cNvPr id="5" name="Text 3"/>
          <p:cNvSpPr/>
          <p:nvPr/>
        </p:nvSpPr>
        <p:spPr>
          <a:xfrm>
            <a:off x="603504" y="2468880"/>
            <a:ext cx="4846320" cy="15544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2A3B4D"/>
                </a:solidFill>
                <a:latin typeface="Calibri" pitchFamily="34" charset="0"/>
                <a:ea typeface="Calibri" pitchFamily="34" charset="-122"/>
                <a:cs typeface="Calibri" pitchFamily="34" charset="-120"/>
              </a:rPr>
              <a:t>Every resource lives in exactly one group</a:t>
            </a:r>
            <a:endParaRPr lang="en-US" sz="1350" dirty="0"/>
          </a:p>
          <a:p>
            <a:pPr marL="177800" indent="-177800">
              <a:spcAft>
                <a:spcPts val="600"/>
              </a:spcAft>
              <a:buSzPct val="100000"/>
              <a:buChar char="•"/>
            </a:pPr>
            <a:r>
              <a:rPr lang="en-US" sz="1350" dirty="0">
                <a:solidFill>
                  <a:srgbClr val="2A3B4D"/>
                </a:solidFill>
                <a:latin typeface="Calibri" pitchFamily="34" charset="0"/>
                <a:ea typeface="Calibri" pitchFamily="34" charset="-122"/>
                <a:cs typeface="Calibri" pitchFamily="34" charset="-120"/>
              </a:rPr>
              <a:t>Group by app, environment or lifecycle</a:t>
            </a:r>
            <a:endParaRPr lang="en-US" sz="1350" dirty="0"/>
          </a:p>
          <a:p>
            <a:pPr marL="177800" indent="-177800">
              <a:spcAft>
                <a:spcPts val="600"/>
              </a:spcAft>
              <a:buSzPct val="100000"/>
              <a:buChar char="•"/>
            </a:pPr>
            <a:r>
              <a:rPr lang="en-US" sz="1350" dirty="0">
                <a:solidFill>
                  <a:srgbClr val="2A3B4D"/>
                </a:solidFill>
                <a:latin typeface="Calibri" pitchFamily="34" charset="0"/>
                <a:ea typeface="Calibri" pitchFamily="34" charset="-122"/>
                <a:cs typeface="Calibri" pitchFamily="34" charset="-120"/>
              </a:rPr>
              <a:t>Set access and tags at the group level</a:t>
            </a:r>
            <a:endParaRPr lang="en-US" sz="1350" dirty="0"/>
          </a:p>
          <a:p>
            <a:pPr marL="177800" indent="-177800">
              <a:spcAft>
                <a:spcPts val="600"/>
              </a:spcAft>
              <a:buSzPct val="100000"/>
              <a:buChar char="•"/>
            </a:pPr>
            <a:r>
              <a:rPr lang="en-US" sz="1350" dirty="0">
                <a:solidFill>
                  <a:srgbClr val="2A3B4D"/>
                </a:solidFill>
                <a:latin typeface="Calibri" pitchFamily="34" charset="0"/>
                <a:ea typeface="Calibri" pitchFamily="34" charset="-122"/>
                <a:cs typeface="Calibri" pitchFamily="34" charset="-120"/>
              </a:rPr>
              <a:t>Delete the group to remove everything inside</a:t>
            </a:r>
            <a:endParaRPr lang="en-US" sz="1350" dirty="0"/>
          </a:p>
        </p:txBody>
      </p:sp>
      <p:sp>
        <p:nvSpPr>
          <p:cNvPr id="6" name="icon tile">
            <a:extLst>
              <a:ext uri="{C183D7F6-B498-43B3-948B-1728B52AA6E4}">
                <adec:decorative xmlns:adec="http://schemas.microsoft.com/office/drawing/2017/decorative" val="1"/>
              </a:ext>
            </a:extLst>
          </p:cNvPr>
          <p:cNvSpPr/>
          <p:nvPr/>
        </p:nvSpPr>
        <p:spPr>
          <a:xfrm>
            <a:off x="6355080" y="1371600"/>
            <a:ext cx="1508760" cy="1508760"/>
          </a:xfrm>
          <a:prstGeom prst="roundRect">
            <a:avLst>
              <a:gd name="adj" fmla="val 8485"/>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7" name="Image 0" descr="folder icon"/>
          <p:cNvPicPr>
            <a:picLocks noChangeAspect="1"/>
          </p:cNvPicPr>
          <p:nvPr/>
        </p:nvPicPr>
        <p:blipFill>
          <a:blip r:embed="rId3"/>
          <a:stretch>
            <a:fillRect/>
          </a:stretch>
        </p:blipFill>
        <p:spPr>
          <a:xfrm>
            <a:off x="6581394" y="1597914"/>
            <a:ext cx="1056132" cy="1056132"/>
          </a:xfrm>
          <a:prstGeom prst="rect">
            <a:avLst/>
          </a:prstGeom>
        </p:spPr>
      </p:pic>
      <p:sp>
        <p:nvSpPr>
          <p:cNvPr id="8" name="card">
            <a:extLst>
              <a:ext uri="{C183D7F6-B498-43B3-948B-1728B52AA6E4}">
                <adec:decorative xmlns:adec="http://schemas.microsoft.com/office/drawing/2017/decorative" val="1"/>
              </a:ext>
            </a:extLst>
          </p:cNvPr>
          <p:cNvSpPr/>
          <p:nvPr/>
        </p:nvSpPr>
        <p:spPr>
          <a:xfrm>
            <a:off x="5715000" y="3108960"/>
            <a:ext cx="2880360" cy="1417320"/>
          </a:xfrm>
          <a:prstGeom prst="roundRect">
            <a:avLst>
              <a:gd name="adj" fmla="val 7097"/>
            </a:avLst>
          </a:prstGeom>
          <a:solidFill>
            <a:srgbClr val="E2F3EE"/>
          </a:solidFill>
          <a:ln w="12700">
            <a:solidFill>
              <a:srgbClr val="BFE3D8"/>
            </a:solidFill>
            <a:prstDash val="solid"/>
          </a:ln>
          <a:effectLst>
            <a:outerShdw blurRad="114300" dist="38100" dir="5400000" algn="bl" rotWithShape="0">
              <a:srgbClr val="8FB2CF">
                <a:alpha val="28000"/>
              </a:srgbClr>
            </a:outerShdw>
          </a:effectLst>
        </p:spPr>
        <p:txBody>
          <a:bodyPr/>
          <a:lstStyle/>
          <a:p>
            <a:endParaRPr lang="en-HU"/>
          </a:p>
        </p:txBody>
      </p:sp>
      <p:sp>
        <p:nvSpPr>
          <p:cNvPr id="9" name="Text 6"/>
          <p:cNvSpPr/>
          <p:nvPr/>
        </p:nvSpPr>
        <p:spPr>
          <a:xfrm>
            <a:off x="5943600" y="3264408"/>
            <a:ext cx="2468880" cy="228600"/>
          </a:xfrm>
          <a:prstGeom prst="rect">
            <a:avLst/>
          </a:prstGeom>
          <a:noFill/>
          <a:ln/>
        </p:spPr>
        <p:txBody>
          <a:bodyPr wrap="square" lIns="0" tIns="0" rIns="0" bIns="0" rtlCol="0" anchor="ctr"/>
          <a:lstStyle/>
          <a:p>
            <a:pPr marL="0" indent="0">
              <a:buNone/>
            </a:pPr>
            <a:r>
              <a:rPr lang="en-US" sz="1100" b="1" kern="0" spc="120" dirty="0">
                <a:solidFill>
                  <a:srgbClr val="2FA98A"/>
                </a:solidFill>
                <a:latin typeface="Trebuchet MS" pitchFamily="34" charset="0"/>
                <a:ea typeface="Trebuchet MS" pitchFamily="34" charset="-122"/>
                <a:cs typeface="Trebuchet MS" pitchFamily="34" charset="-120"/>
              </a:rPr>
              <a:t>MOVING-DAY ANALOGY</a:t>
            </a:r>
            <a:endParaRPr lang="en-US" sz="1100" dirty="0"/>
          </a:p>
        </p:txBody>
      </p:sp>
      <p:sp>
        <p:nvSpPr>
          <p:cNvPr id="10" name="Text 7"/>
          <p:cNvSpPr/>
          <p:nvPr/>
        </p:nvSpPr>
        <p:spPr>
          <a:xfrm>
            <a:off x="5943600" y="3520440"/>
            <a:ext cx="2432304" cy="914400"/>
          </a:xfrm>
          <a:prstGeom prst="rect">
            <a:avLst/>
          </a:prstGeom>
          <a:noFill/>
          <a:ln/>
        </p:spPr>
        <p:txBody>
          <a:bodyPr wrap="square" lIns="0" tIns="0" rIns="0" bIns="0" rtlCol="0" anchor="t"/>
          <a:lstStyle/>
          <a:p>
            <a:pPr marL="0" indent="0">
              <a:lnSpc>
                <a:spcPts val="1600"/>
              </a:lnSpc>
              <a:buNone/>
            </a:pPr>
            <a:r>
              <a:rPr lang="en-US" sz="1250" i="1" dirty="0">
                <a:solidFill>
                  <a:srgbClr val="2A3B4D"/>
                </a:solidFill>
                <a:latin typeface="Calibri" pitchFamily="34" charset="0"/>
                <a:ea typeface="Calibri" pitchFamily="34" charset="-122"/>
                <a:cs typeface="Calibri" pitchFamily="34" charset="-120"/>
              </a:rPr>
              <a:t>One labeled box per room. When the project ends, move or dispose of the whole box at once.</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REGIONS &amp; AVAILABILITY ZONES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Azure's global footprint</a:t>
            </a:r>
            <a:endParaRPr lang="en-US" sz="3000" dirty="0"/>
          </a:p>
        </p:txBody>
      </p:sp>
      <p:sp>
        <p:nvSpPr>
          <p:cNvPr id="4" name="card">
            <a:extLst>
              <a:ext uri="{C183D7F6-B498-43B3-948B-1728B52AA6E4}">
                <adec:decorative xmlns:adec="http://schemas.microsoft.com/office/drawing/2017/decorative" val="1"/>
              </a:ext>
            </a:extLst>
          </p:cNvPr>
          <p:cNvSpPr/>
          <p:nvPr/>
        </p:nvSpPr>
        <p:spPr>
          <a:xfrm>
            <a:off x="658368" y="1554480"/>
            <a:ext cx="2377440" cy="1965960"/>
          </a:xfrm>
          <a:prstGeom prst="roundRect">
            <a:avLst>
              <a:gd name="adj" fmla="val 5116"/>
            </a:avLst>
          </a:prstGeom>
          <a:solidFill>
            <a:srgbClr val="E6F1FB"/>
          </a:solidFill>
          <a:ln w="12700">
            <a:solidFill>
              <a:srgbClr val="FFFFFF"/>
            </a:solidFill>
            <a:prstDash val="solid"/>
          </a:ln>
          <a:effectLst>
            <a:outerShdw blurRad="114300" dist="38100" dir="5400000" algn="bl" rotWithShape="0">
              <a:srgbClr val="8FB2CF">
                <a:alpha val="28000"/>
              </a:srgbClr>
            </a:outerShdw>
          </a:effectLst>
        </p:spPr>
        <p:txBody>
          <a:bodyPr/>
          <a:lstStyle/>
          <a:p>
            <a:endParaRPr lang="en-HU"/>
          </a:p>
        </p:txBody>
      </p:sp>
      <p:sp>
        <p:nvSpPr>
          <p:cNvPr id="5" name="Text 3"/>
          <p:cNvSpPr/>
          <p:nvPr/>
        </p:nvSpPr>
        <p:spPr>
          <a:xfrm>
            <a:off x="749808" y="1965960"/>
            <a:ext cx="2194560" cy="822960"/>
          </a:xfrm>
          <a:prstGeom prst="rect">
            <a:avLst/>
          </a:prstGeom>
          <a:noFill/>
          <a:ln/>
        </p:spPr>
        <p:txBody>
          <a:bodyPr wrap="square" lIns="0" tIns="0" rIns="0" bIns="0" rtlCol="0" anchor="ctr"/>
          <a:lstStyle/>
          <a:p>
            <a:pPr marL="0" indent="0" algn="ctr">
              <a:buNone/>
            </a:pPr>
            <a:r>
              <a:rPr lang="en-US" sz="5200" b="1" dirty="0">
                <a:solidFill>
                  <a:srgbClr val="2E7CC4"/>
                </a:solidFill>
                <a:latin typeface="Trebuchet MS" pitchFamily="34" charset="0"/>
                <a:ea typeface="Trebuchet MS" pitchFamily="34" charset="-122"/>
                <a:cs typeface="Trebuchet MS" pitchFamily="34" charset="-120"/>
              </a:rPr>
              <a:t>60+</a:t>
            </a:r>
            <a:endParaRPr lang="en-US" sz="5200" dirty="0"/>
          </a:p>
        </p:txBody>
      </p:sp>
      <p:sp>
        <p:nvSpPr>
          <p:cNvPr id="6" name="Text 4"/>
          <p:cNvSpPr/>
          <p:nvPr/>
        </p:nvSpPr>
        <p:spPr>
          <a:xfrm>
            <a:off x="795528" y="2926080"/>
            <a:ext cx="2103120" cy="457200"/>
          </a:xfrm>
          <a:prstGeom prst="rect">
            <a:avLst/>
          </a:prstGeom>
          <a:noFill/>
          <a:ln/>
        </p:spPr>
        <p:txBody>
          <a:bodyPr wrap="square" lIns="0" tIns="0" rIns="0" bIns="0" rtlCol="0" anchor="ctr"/>
          <a:lstStyle/>
          <a:p>
            <a:pPr marL="0" indent="0" algn="ctr">
              <a:buNone/>
            </a:pPr>
            <a:r>
              <a:rPr lang="en-US" sz="1400" b="1" dirty="0">
                <a:solidFill>
                  <a:srgbClr val="2A3B4D"/>
                </a:solidFill>
                <a:latin typeface="Calibri" pitchFamily="34" charset="0"/>
                <a:ea typeface="Calibri" pitchFamily="34" charset="-122"/>
                <a:cs typeface="Calibri" pitchFamily="34" charset="-120"/>
              </a:rPr>
              <a:t>Regions worldwide</a:t>
            </a:r>
            <a:endParaRPr lang="en-US" sz="1400" dirty="0"/>
          </a:p>
        </p:txBody>
      </p:sp>
      <p:sp>
        <p:nvSpPr>
          <p:cNvPr id="7" name="card">
            <a:extLst>
              <a:ext uri="{C183D7F6-B498-43B3-948B-1728B52AA6E4}">
                <adec:decorative xmlns:adec="http://schemas.microsoft.com/office/drawing/2017/decorative" val="1"/>
              </a:ext>
            </a:extLst>
          </p:cNvPr>
          <p:cNvSpPr/>
          <p:nvPr/>
        </p:nvSpPr>
        <p:spPr>
          <a:xfrm>
            <a:off x="3291840" y="1554480"/>
            <a:ext cx="2377440" cy="1965960"/>
          </a:xfrm>
          <a:prstGeom prst="roundRect">
            <a:avLst>
              <a:gd name="adj" fmla="val 5116"/>
            </a:avLst>
          </a:prstGeom>
          <a:solidFill>
            <a:srgbClr val="E2F3EE"/>
          </a:solidFill>
          <a:ln w="12700">
            <a:solidFill>
              <a:srgbClr val="FFFFFF"/>
            </a:solidFill>
            <a:prstDash val="solid"/>
          </a:ln>
          <a:effectLst>
            <a:outerShdw blurRad="114300" dist="38100" dir="5400000" algn="bl" rotWithShape="0">
              <a:srgbClr val="8FB2CF">
                <a:alpha val="28000"/>
              </a:srgbClr>
            </a:outerShdw>
          </a:effectLst>
        </p:spPr>
        <p:txBody>
          <a:bodyPr/>
          <a:lstStyle/>
          <a:p>
            <a:endParaRPr lang="en-HU"/>
          </a:p>
        </p:txBody>
      </p:sp>
      <p:sp>
        <p:nvSpPr>
          <p:cNvPr id="8" name="Text 6"/>
          <p:cNvSpPr/>
          <p:nvPr/>
        </p:nvSpPr>
        <p:spPr>
          <a:xfrm>
            <a:off x="3383280" y="1965960"/>
            <a:ext cx="2194560" cy="822960"/>
          </a:xfrm>
          <a:prstGeom prst="rect">
            <a:avLst/>
          </a:prstGeom>
          <a:noFill/>
          <a:ln/>
        </p:spPr>
        <p:txBody>
          <a:bodyPr wrap="square" lIns="0" tIns="0" rIns="0" bIns="0" rtlCol="0" anchor="ctr"/>
          <a:lstStyle/>
          <a:p>
            <a:pPr marL="0" indent="0" algn="ctr">
              <a:buNone/>
            </a:pPr>
            <a:r>
              <a:rPr lang="en-US" sz="5200" b="1">
                <a:solidFill>
                  <a:srgbClr val="2FA98A"/>
                </a:solidFill>
                <a:latin typeface="Trebuchet MS" pitchFamily="34" charset="0"/>
                <a:ea typeface="Trebuchet MS" pitchFamily="34" charset="-122"/>
                <a:cs typeface="Trebuchet MS" pitchFamily="34" charset="-120"/>
              </a:rPr>
              <a:t>3</a:t>
            </a:r>
            <a:r>
              <a:rPr lang="en-US" sz="5200" b="1" dirty="0">
                <a:solidFill>
                  <a:srgbClr val="2FA98A"/>
                </a:solidFill>
                <a:latin typeface="Trebuchet MS" pitchFamily="34" charset="0"/>
                <a:ea typeface="Trebuchet MS" pitchFamily="34" charset="-122"/>
                <a:cs typeface="Trebuchet MS" pitchFamily="34" charset="-120"/>
              </a:rPr>
              <a:t>+</a:t>
            </a:r>
            <a:endParaRPr lang="en-US" sz="5200" dirty="0"/>
          </a:p>
        </p:txBody>
      </p:sp>
      <p:sp>
        <p:nvSpPr>
          <p:cNvPr id="9" name="Text 7"/>
          <p:cNvSpPr/>
          <p:nvPr/>
        </p:nvSpPr>
        <p:spPr>
          <a:xfrm>
            <a:off x="3429000" y="2926080"/>
            <a:ext cx="2103120" cy="457200"/>
          </a:xfrm>
          <a:prstGeom prst="rect">
            <a:avLst/>
          </a:prstGeom>
          <a:noFill/>
          <a:ln/>
        </p:spPr>
        <p:txBody>
          <a:bodyPr wrap="square" lIns="0" tIns="0" rIns="0" bIns="0" rtlCol="0" anchor="ctr"/>
          <a:lstStyle/>
          <a:p>
            <a:pPr marL="0" indent="0" algn="ctr">
              <a:buNone/>
            </a:pPr>
            <a:r>
              <a:rPr lang="en-US" sz="1400" b="1">
                <a:solidFill>
                  <a:srgbClr val="2A3B4D"/>
                </a:solidFill>
                <a:latin typeface="Calibri" pitchFamily="34" charset="0"/>
                <a:ea typeface="Calibri" pitchFamily="34" charset="-122"/>
                <a:cs typeface="Calibri" pitchFamily="34" charset="-120"/>
              </a:rPr>
              <a:t>Zones per region</a:t>
            </a:r>
            <a:endParaRPr lang="en-US" sz="1400" dirty="0"/>
          </a:p>
        </p:txBody>
      </p:sp>
      <p:sp>
        <p:nvSpPr>
          <p:cNvPr id="10" name="card">
            <a:extLst>
              <a:ext uri="{C183D7F6-B498-43B3-948B-1728B52AA6E4}">
                <adec:decorative xmlns:adec="http://schemas.microsoft.com/office/drawing/2017/decorative" val="1"/>
              </a:ext>
            </a:extLst>
          </p:cNvPr>
          <p:cNvSpPr/>
          <p:nvPr/>
        </p:nvSpPr>
        <p:spPr>
          <a:xfrm>
            <a:off x="5925312" y="1554480"/>
            <a:ext cx="2377440" cy="1965960"/>
          </a:xfrm>
          <a:prstGeom prst="roundRect">
            <a:avLst>
              <a:gd name="adj" fmla="val 5116"/>
            </a:avLst>
          </a:prstGeom>
          <a:solidFill>
            <a:srgbClr val="FBE7E1"/>
          </a:solidFill>
          <a:ln w="12700">
            <a:solidFill>
              <a:srgbClr val="FFFFFF"/>
            </a:solidFill>
            <a:prstDash val="solid"/>
          </a:ln>
          <a:effectLst>
            <a:outerShdw blurRad="114300" dist="38100" dir="5400000" algn="bl" rotWithShape="0">
              <a:srgbClr val="8FB2CF">
                <a:alpha val="28000"/>
              </a:srgbClr>
            </a:outerShdw>
          </a:effectLst>
        </p:spPr>
        <p:txBody>
          <a:bodyPr/>
          <a:lstStyle/>
          <a:p>
            <a:endParaRPr lang="en-HU"/>
          </a:p>
        </p:txBody>
      </p:sp>
      <p:sp>
        <p:nvSpPr>
          <p:cNvPr id="11" name="Text 9"/>
          <p:cNvSpPr/>
          <p:nvPr/>
        </p:nvSpPr>
        <p:spPr>
          <a:xfrm>
            <a:off x="6016752" y="1965960"/>
            <a:ext cx="2194560" cy="822960"/>
          </a:xfrm>
          <a:prstGeom prst="rect">
            <a:avLst/>
          </a:prstGeom>
          <a:noFill/>
          <a:ln/>
        </p:spPr>
        <p:txBody>
          <a:bodyPr wrap="square" lIns="0" tIns="0" rIns="0" bIns="0" rtlCol="0" anchor="ctr"/>
          <a:lstStyle/>
          <a:p>
            <a:pPr marL="0" indent="0" algn="ctr">
              <a:buNone/>
            </a:pPr>
            <a:r>
              <a:rPr lang="en-US" sz="5200" b="1" dirty="0">
                <a:solidFill>
                  <a:srgbClr val="EF6F58"/>
                </a:solidFill>
                <a:latin typeface="Trebuchet MS" pitchFamily="34" charset="0"/>
                <a:ea typeface="Trebuchet MS" pitchFamily="34" charset="-122"/>
                <a:cs typeface="Trebuchet MS" pitchFamily="34" charset="-120"/>
              </a:rPr>
              <a:t>&lt; 2 ms</a:t>
            </a:r>
            <a:endParaRPr lang="en-US" sz="5200" dirty="0"/>
          </a:p>
        </p:txBody>
      </p:sp>
      <p:sp>
        <p:nvSpPr>
          <p:cNvPr id="12" name="Text 10"/>
          <p:cNvSpPr/>
          <p:nvPr/>
        </p:nvSpPr>
        <p:spPr>
          <a:xfrm>
            <a:off x="6062472" y="2926080"/>
            <a:ext cx="2103120" cy="457200"/>
          </a:xfrm>
          <a:prstGeom prst="rect">
            <a:avLst/>
          </a:prstGeom>
          <a:noFill/>
          <a:ln/>
        </p:spPr>
        <p:txBody>
          <a:bodyPr wrap="square" lIns="0" tIns="0" rIns="0" bIns="0" rtlCol="0" anchor="ctr"/>
          <a:lstStyle/>
          <a:p>
            <a:pPr marL="0" indent="0" algn="ctr">
              <a:buNone/>
            </a:pPr>
            <a:r>
              <a:rPr lang="en-US" sz="1400" b="1" dirty="0">
                <a:solidFill>
                  <a:srgbClr val="2A3B4D"/>
                </a:solidFill>
                <a:latin typeface="Calibri" pitchFamily="34" charset="0"/>
                <a:ea typeface="Calibri" pitchFamily="34" charset="-122"/>
                <a:cs typeface="Calibri" pitchFamily="34" charset="-120"/>
              </a:rPr>
              <a:t>Latency between zones</a:t>
            </a:r>
            <a:endParaRPr lang="en-US" sz="1400" dirty="0"/>
          </a:p>
        </p:txBody>
      </p:sp>
      <p:sp>
        <p:nvSpPr>
          <p:cNvPr id="13" name="Text 11"/>
          <p:cNvSpPr/>
          <p:nvPr/>
        </p:nvSpPr>
        <p:spPr>
          <a:xfrm>
            <a:off x="658368" y="3794760"/>
            <a:ext cx="7827264" cy="548640"/>
          </a:xfrm>
          <a:prstGeom prst="rect">
            <a:avLst/>
          </a:prstGeom>
          <a:noFill/>
          <a:ln/>
        </p:spPr>
        <p:txBody>
          <a:bodyPr wrap="square" lIns="0" tIns="0" rIns="0" bIns="0" rtlCol="0" anchor="ctr"/>
          <a:lstStyle/>
          <a:p>
            <a:pPr marL="0" indent="0" algn="ctr">
              <a:lnSpc>
                <a:spcPts val="1600"/>
              </a:lnSpc>
              <a:buNone/>
            </a:pPr>
            <a:r>
              <a:rPr lang="en-US" sz="1250" i="1" dirty="0">
                <a:solidFill>
                  <a:srgbClr val="6E8298"/>
                </a:solidFill>
                <a:latin typeface="Calibri" pitchFamily="34" charset="0"/>
                <a:ea typeface="Calibri" pitchFamily="34" charset="-122"/>
                <a:cs typeface="Calibri" pitchFamily="34" charset="-120"/>
              </a:rPr>
              <a:t>One of the largest cloud footprints in the world — and it keeps growing. Figures are approximate as Azure expands.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REGIONS &amp; AVAILABILITY ZONES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Two words you'll see on day one</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417320"/>
            <a:ext cx="3886200" cy="3063240"/>
          </a:xfrm>
          <a:prstGeom prst="roundRect">
            <a:avLst>
              <a:gd name="adj" fmla="val 328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777240" y="1645920"/>
            <a:ext cx="731520" cy="731520"/>
          </a:xfrm>
          <a:prstGeom prst="roundRect">
            <a:avLst>
              <a:gd name="adj" fmla="val 175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pin icon"/>
          <p:cNvPicPr>
            <a:picLocks noChangeAspect="1"/>
          </p:cNvPicPr>
          <p:nvPr/>
        </p:nvPicPr>
        <p:blipFill>
          <a:blip r:embed="rId3"/>
          <a:stretch>
            <a:fillRect/>
          </a:stretch>
        </p:blipFill>
        <p:spPr>
          <a:xfrm>
            <a:off x="886968" y="1778161"/>
            <a:ext cx="512064" cy="467038"/>
          </a:xfrm>
          <a:prstGeom prst="rect">
            <a:avLst/>
          </a:prstGeom>
        </p:spPr>
      </p:pic>
      <p:sp>
        <p:nvSpPr>
          <p:cNvPr id="7" name="Text 4"/>
          <p:cNvSpPr/>
          <p:nvPr/>
        </p:nvSpPr>
        <p:spPr>
          <a:xfrm>
            <a:off x="1645920" y="1691640"/>
            <a:ext cx="2560320" cy="457200"/>
          </a:xfrm>
          <a:prstGeom prst="rect">
            <a:avLst/>
          </a:prstGeom>
          <a:noFill/>
          <a:ln/>
        </p:spPr>
        <p:txBody>
          <a:bodyPr wrap="square" lIns="0" tIns="0" rIns="0" bIns="0" rtlCol="0" anchor="ctr"/>
          <a:lstStyle/>
          <a:p>
            <a:pPr marL="0" indent="0">
              <a:buNone/>
            </a:pPr>
            <a:r>
              <a:rPr lang="en-US" sz="2000" b="1" dirty="0">
                <a:solidFill>
                  <a:srgbClr val="2E7CC4"/>
                </a:solidFill>
                <a:latin typeface="Trebuchet MS" pitchFamily="34" charset="0"/>
                <a:ea typeface="Trebuchet MS" pitchFamily="34" charset="-122"/>
                <a:cs typeface="Trebuchet MS" pitchFamily="34" charset="-120"/>
              </a:rPr>
              <a:t>Region</a:t>
            </a:r>
            <a:endParaRPr lang="en-US" sz="2000" dirty="0"/>
          </a:p>
        </p:txBody>
      </p:sp>
      <p:sp>
        <p:nvSpPr>
          <p:cNvPr id="8" name="Text 5"/>
          <p:cNvSpPr/>
          <p:nvPr/>
        </p:nvSpPr>
        <p:spPr>
          <a:xfrm>
            <a:off x="777240" y="2514600"/>
            <a:ext cx="3474720" cy="914400"/>
          </a:xfrm>
          <a:prstGeom prst="rect">
            <a:avLst/>
          </a:prstGeom>
          <a:noFill/>
          <a:ln/>
        </p:spPr>
        <p:txBody>
          <a:bodyPr wrap="square" lIns="0" tIns="0" rIns="0" bIns="0" rtlCol="0" anchor="t"/>
          <a:lstStyle/>
          <a:p>
            <a:pPr marL="0" indent="0">
              <a:lnSpc>
                <a:spcPts val="1800"/>
              </a:lnSpc>
              <a:buNone/>
            </a:pPr>
            <a:r>
              <a:rPr lang="en-US" sz="1350" dirty="0">
                <a:solidFill>
                  <a:srgbClr val="2A3B4D"/>
                </a:solidFill>
                <a:latin typeface="Calibri" pitchFamily="34" charset="0"/>
                <a:ea typeface="Calibri" pitchFamily="34" charset="-122"/>
                <a:cs typeface="Calibri" pitchFamily="34" charset="-120"/>
              </a:rPr>
              <a:t>A geographic area — such as West Europe — where Azure runs datacenters and where you choose to place your resources.</a:t>
            </a:r>
            <a:endParaRPr lang="en-US" sz="1350" dirty="0"/>
          </a:p>
        </p:txBody>
      </p:sp>
      <p:sp>
        <p:nvSpPr>
          <p:cNvPr id="9" name="Text 6"/>
          <p:cNvSpPr/>
          <p:nvPr/>
        </p:nvSpPr>
        <p:spPr>
          <a:xfrm>
            <a:off x="777240" y="3611880"/>
            <a:ext cx="3474720" cy="731520"/>
          </a:xfrm>
          <a:prstGeom prst="rect">
            <a:avLst/>
          </a:prstGeom>
          <a:noFill/>
          <a:ln/>
        </p:spPr>
        <p:txBody>
          <a:bodyPr wrap="square" lIns="0" tIns="0" rIns="0" bIns="0" rtlCol="0" anchor="t"/>
          <a:lstStyle/>
          <a:p>
            <a:pPr marL="0" indent="0">
              <a:lnSpc>
                <a:spcPts val="1500"/>
              </a:lnSpc>
              <a:buNone/>
            </a:pPr>
            <a:r>
              <a:rPr lang="en-US" sz="1200" i="1" dirty="0">
                <a:solidFill>
                  <a:srgbClr val="6E8298"/>
                </a:solidFill>
                <a:latin typeface="Calibri" pitchFamily="34" charset="0"/>
                <a:ea typeface="Calibri" pitchFamily="34" charset="-122"/>
                <a:cs typeface="Calibri" pitchFamily="34" charset="-120"/>
              </a:rPr>
              <a:t>You pick a region close to your users or required by rules.</a:t>
            </a:r>
            <a:endParaRPr lang="en-US" sz="1200" dirty="0"/>
          </a:p>
        </p:txBody>
      </p:sp>
      <p:sp>
        <p:nvSpPr>
          <p:cNvPr id="10" name="card">
            <a:extLst>
              <a:ext uri="{C183D7F6-B498-43B3-948B-1728B52AA6E4}">
                <adec:decorative xmlns:adec="http://schemas.microsoft.com/office/drawing/2017/decorative" val="1"/>
              </a:ext>
            </a:extLst>
          </p:cNvPr>
          <p:cNvSpPr/>
          <p:nvPr/>
        </p:nvSpPr>
        <p:spPr>
          <a:xfrm>
            <a:off x="4690872" y="1417320"/>
            <a:ext cx="3886200" cy="3063240"/>
          </a:xfrm>
          <a:prstGeom prst="roundRect">
            <a:avLst>
              <a:gd name="adj" fmla="val 328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1" name="icon tile">
            <a:extLst>
              <a:ext uri="{C183D7F6-B498-43B3-948B-1728B52AA6E4}">
                <adec:decorative xmlns:adec="http://schemas.microsoft.com/office/drawing/2017/decorative" val="1"/>
              </a:ext>
            </a:extLst>
          </p:cNvPr>
          <p:cNvSpPr/>
          <p:nvPr/>
        </p:nvSpPr>
        <p:spPr>
          <a:xfrm>
            <a:off x="4901184" y="1645920"/>
            <a:ext cx="731520" cy="731520"/>
          </a:xfrm>
          <a:prstGeom prst="roundRect">
            <a:avLst>
              <a:gd name="adj" fmla="val 17500"/>
            </a:avLst>
          </a:prstGeom>
          <a:solidFill>
            <a:srgbClr val="E2F3EE"/>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2" name="Image 1" descr="shields icon"/>
          <p:cNvPicPr>
            <a:picLocks noChangeAspect="1"/>
          </p:cNvPicPr>
          <p:nvPr/>
        </p:nvPicPr>
        <p:blipFill>
          <a:blip r:embed="rId4"/>
          <a:stretch>
            <a:fillRect/>
          </a:stretch>
        </p:blipFill>
        <p:spPr>
          <a:xfrm>
            <a:off x="5010912" y="1755648"/>
            <a:ext cx="512064" cy="512064"/>
          </a:xfrm>
          <a:prstGeom prst="rect">
            <a:avLst/>
          </a:prstGeom>
        </p:spPr>
      </p:pic>
      <p:sp>
        <p:nvSpPr>
          <p:cNvPr id="13" name="Text 9"/>
          <p:cNvSpPr/>
          <p:nvPr/>
        </p:nvSpPr>
        <p:spPr>
          <a:xfrm>
            <a:off x="5769864" y="1691640"/>
            <a:ext cx="2651760" cy="457200"/>
          </a:xfrm>
          <a:prstGeom prst="rect">
            <a:avLst/>
          </a:prstGeom>
          <a:noFill/>
          <a:ln/>
        </p:spPr>
        <p:txBody>
          <a:bodyPr wrap="square" lIns="0" tIns="0" rIns="0" bIns="0" rtlCol="0" anchor="ctr"/>
          <a:lstStyle/>
          <a:p>
            <a:pPr marL="0" indent="0">
              <a:buNone/>
            </a:pPr>
            <a:r>
              <a:rPr lang="en-US" sz="1800" b="1" dirty="0">
                <a:solidFill>
                  <a:srgbClr val="2FA98A"/>
                </a:solidFill>
                <a:latin typeface="Trebuchet MS" pitchFamily="34" charset="0"/>
                <a:ea typeface="Trebuchet MS" pitchFamily="34" charset="-122"/>
                <a:cs typeface="Trebuchet MS" pitchFamily="34" charset="-120"/>
              </a:rPr>
              <a:t>Availability Zone</a:t>
            </a:r>
            <a:endParaRPr lang="en-US" sz="1800" dirty="0"/>
          </a:p>
        </p:txBody>
      </p:sp>
      <p:sp>
        <p:nvSpPr>
          <p:cNvPr id="14" name="Text 10"/>
          <p:cNvSpPr/>
          <p:nvPr/>
        </p:nvSpPr>
        <p:spPr>
          <a:xfrm>
            <a:off x="4901184" y="2487168"/>
            <a:ext cx="3474720" cy="960120"/>
          </a:xfrm>
          <a:prstGeom prst="rect">
            <a:avLst/>
          </a:prstGeom>
          <a:noFill/>
          <a:ln/>
        </p:spPr>
        <p:txBody>
          <a:bodyPr wrap="square" lIns="0" tIns="0" rIns="0" bIns="0" rtlCol="0" anchor="t"/>
          <a:lstStyle/>
          <a:p>
            <a:pPr marL="0" indent="0">
              <a:lnSpc>
                <a:spcPts val="1700"/>
              </a:lnSpc>
              <a:buNone/>
            </a:pPr>
            <a:r>
              <a:rPr lang="en-US" sz="1300" dirty="0">
                <a:solidFill>
                  <a:srgbClr val="2A3B4D"/>
                </a:solidFill>
                <a:latin typeface="Calibri" pitchFamily="34" charset="0"/>
                <a:ea typeface="Calibri" pitchFamily="34" charset="-122"/>
                <a:cs typeface="Calibri" pitchFamily="34" charset="-120"/>
              </a:rPr>
              <a:t>Physically separate datacenters inside a region, each with its own power, cooling and network — so one failing won't take the others down.</a:t>
            </a:r>
            <a:endParaRPr lang="en-US" sz="1300" dirty="0"/>
          </a:p>
        </p:txBody>
      </p:sp>
      <p:sp>
        <p:nvSpPr>
          <p:cNvPr id="15" name="region frame">
            <a:extLst>
              <a:ext uri="{C183D7F6-B498-43B3-948B-1728B52AA6E4}">
                <adec:decorative xmlns:adec="http://schemas.microsoft.com/office/drawing/2017/decorative" val="1"/>
              </a:ext>
            </a:extLst>
          </p:cNvPr>
          <p:cNvSpPr/>
          <p:nvPr/>
        </p:nvSpPr>
        <p:spPr>
          <a:xfrm>
            <a:off x="4901184" y="3611880"/>
            <a:ext cx="3429000" cy="731520"/>
          </a:xfrm>
          <a:prstGeom prst="roundRect">
            <a:avLst>
              <a:gd name="adj" fmla="val 11250"/>
            </a:avLst>
          </a:prstGeom>
          <a:solidFill>
            <a:srgbClr val="E6F1FB"/>
          </a:solidFill>
          <a:ln w="12700">
            <a:solidFill>
              <a:srgbClr val="2E7CC4"/>
            </a:solidFill>
            <a:prstDash val="dash"/>
          </a:ln>
        </p:spPr>
        <p:txBody>
          <a:bodyPr/>
          <a:lstStyle/>
          <a:p>
            <a:endParaRPr lang="en-HU"/>
          </a:p>
        </p:txBody>
      </p:sp>
      <p:sp>
        <p:nvSpPr>
          <p:cNvPr id="16" name="Text 12"/>
          <p:cNvSpPr/>
          <p:nvPr/>
        </p:nvSpPr>
        <p:spPr>
          <a:xfrm>
            <a:off x="4974336" y="3657600"/>
            <a:ext cx="914400" cy="219456"/>
          </a:xfrm>
          <a:prstGeom prst="rect">
            <a:avLst/>
          </a:prstGeom>
          <a:noFill/>
          <a:ln/>
        </p:spPr>
        <p:txBody>
          <a:bodyPr wrap="square" lIns="0" tIns="0" rIns="0" bIns="0" rtlCol="0" anchor="ctr"/>
          <a:lstStyle/>
          <a:p>
            <a:pPr marL="0" indent="0">
              <a:buNone/>
            </a:pPr>
            <a:r>
              <a:rPr lang="en-US" sz="900" b="1" dirty="0">
                <a:solidFill>
                  <a:srgbClr val="2E7CC4"/>
                </a:solidFill>
                <a:latin typeface="Calibri" pitchFamily="34" charset="0"/>
                <a:ea typeface="Calibri" pitchFamily="34" charset="-122"/>
                <a:cs typeface="Calibri" pitchFamily="34" charset="-120"/>
              </a:rPr>
              <a:t>Region</a:t>
            </a:r>
            <a:endParaRPr lang="en-US" sz="900" dirty="0"/>
          </a:p>
        </p:txBody>
      </p:sp>
      <p:sp>
        <p:nvSpPr>
          <p:cNvPr id="17" name="AZ">
            <a:extLst>
              <a:ext uri="{C183D7F6-B498-43B3-948B-1728B52AA6E4}">
                <adec:decorative xmlns:adec="http://schemas.microsoft.com/office/drawing/2017/decorative" val="1"/>
              </a:ext>
            </a:extLst>
          </p:cNvPr>
          <p:cNvSpPr/>
          <p:nvPr/>
        </p:nvSpPr>
        <p:spPr>
          <a:xfrm>
            <a:off x="5806440" y="3785616"/>
            <a:ext cx="457200" cy="457200"/>
          </a:xfrm>
          <a:prstGeom prst="ellipse">
            <a:avLst/>
          </a:prstGeom>
          <a:solidFill>
            <a:srgbClr val="2FA98A"/>
          </a:solidFill>
          <a:ln w="19050">
            <a:solidFill>
              <a:srgbClr val="FFFFFF"/>
            </a:solidFill>
            <a:prstDash val="solid"/>
          </a:ln>
        </p:spPr>
        <p:txBody>
          <a:bodyPr/>
          <a:lstStyle/>
          <a:p>
            <a:endParaRPr lang="en-HU"/>
          </a:p>
        </p:txBody>
      </p:sp>
      <p:sp>
        <p:nvSpPr>
          <p:cNvPr id="18" name="Text 14"/>
          <p:cNvSpPr/>
          <p:nvPr/>
        </p:nvSpPr>
        <p:spPr>
          <a:xfrm>
            <a:off x="5806440" y="3785616"/>
            <a:ext cx="45720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AZ1</a:t>
            </a:r>
            <a:endParaRPr lang="en-US" sz="950" dirty="0"/>
          </a:p>
        </p:txBody>
      </p:sp>
      <p:sp>
        <p:nvSpPr>
          <p:cNvPr id="19" name="AZ">
            <a:extLst>
              <a:ext uri="{C183D7F6-B498-43B3-948B-1728B52AA6E4}">
                <adec:decorative xmlns:adec="http://schemas.microsoft.com/office/drawing/2017/decorative" val="1"/>
              </a:ext>
            </a:extLst>
          </p:cNvPr>
          <p:cNvSpPr/>
          <p:nvPr/>
        </p:nvSpPr>
        <p:spPr>
          <a:xfrm>
            <a:off x="6675120" y="3785616"/>
            <a:ext cx="457200" cy="457200"/>
          </a:xfrm>
          <a:prstGeom prst="ellipse">
            <a:avLst/>
          </a:prstGeom>
          <a:solidFill>
            <a:srgbClr val="2FA98A"/>
          </a:solidFill>
          <a:ln w="19050">
            <a:solidFill>
              <a:srgbClr val="FFFFFF"/>
            </a:solidFill>
            <a:prstDash val="solid"/>
          </a:ln>
        </p:spPr>
        <p:txBody>
          <a:bodyPr/>
          <a:lstStyle/>
          <a:p>
            <a:endParaRPr lang="en-HU"/>
          </a:p>
        </p:txBody>
      </p:sp>
      <p:sp>
        <p:nvSpPr>
          <p:cNvPr id="20" name="Text 16"/>
          <p:cNvSpPr/>
          <p:nvPr/>
        </p:nvSpPr>
        <p:spPr>
          <a:xfrm>
            <a:off x="6675120" y="3785616"/>
            <a:ext cx="45720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AZ2</a:t>
            </a:r>
            <a:endParaRPr lang="en-US" sz="950" dirty="0"/>
          </a:p>
        </p:txBody>
      </p:sp>
      <p:sp>
        <p:nvSpPr>
          <p:cNvPr id="21" name="AZ">
            <a:extLst>
              <a:ext uri="{C183D7F6-B498-43B3-948B-1728B52AA6E4}">
                <adec:decorative xmlns:adec="http://schemas.microsoft.com/office/drawing/2017/decorative" val="1"/>
              </a:ext>
            </a:extLst>
          </p:cNvPr>
          <p:cNvSpPr/>
          <p:nvPr/>
        </p:nvSpPr>
        <p:spPr>
          <a:xfrm>
            <a:off x="7543800" y="3785616"/>
            <a:ext cx="457200" cy="457200"/>
          </a:xfrm>
          <a:prstGeom prst="ellipse">
            <a:avLst/>
          </a:prstGeom>
          <a:solidFill>
            <a:srgbClr val="2FA98A"/>
          </a:solidFill>
          <a:ln w="19050">
            <a:solidFill>
              <a:srgbClr val="FFFFFF"/>
            </a:solidFill>
            <a:prstDash val="solid"/>
          </a:ln>
        </p:spPr>
        <p:txBody>
          <a:bodyPr/>
          <a:lstStyle/>
          <a:p>
            <a:endParaRPr lang="en-HU"/>
          </a:p>
        </p:txBody>
      </p:sp>
      <p:sp>
        <p:nvSpPr>
          <p:cNvPr id="22" name="Text 18"/>
          <p:cNvSpPr/>
          <p:nvPr/>
        </p:nvSpPr>
        <p:spPr>
          <a:xfrm>
            <a:off x="7543800" y="3785616"/>
            <a:ext cx="457200" cy="45720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AZ3</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REGIONS &amp; AVAILABILITY ZONES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Why the choice matters</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508760"/>
            <a:ext cx="2670048" cy="2468880"/>
          </a:xfrm>
          <a:prstGeom prst="roundRect">
            <a:avLst>
              <a:gd name="adj" fmla="val 407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1467612" y="1764792"/>
            <a:ext cx="868680" cy="868680"/>
          </a:xfrm>
          <a:prstGeom prst="roundRect">
            <a:avLst>
              <a:gd name="adj" fmla="val 14737"/>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pin icon"/>
          <p:cNvPicPr>
            <a:picLocks noChangeAspect="1"/>
          </p:cNvPicPr>
          <p:nvPr/>
        </p:nvPicPr>
        <p:blipFill>
          <a:blip r:embed="rId3"/>
          <a:stretch>
            <a:fillRect/>
          </a:stretch>
        </p:blipFill>
        <p:spPr>
          <a:xfrm>
            <a:off x="1597914" y="1921828"/>
            <a:ext cx="608076" cy="554607"/>
          </a:xfrm>
          <a:prstGeom prst="rect">
            <a:avLst/>
          </a:prstGeom>
        </p:spPr>
      </p:pic>
      <p:sp>
        <p:nvSpPr>
          <p:cNvPr id="7" name="Text 4"/>
          <p:cNvSpPr/>
          <p:nvPr/>
        </p:nvSpPr>
        <p:spPr>
          <a:xfrm>
            <a:off x="694944" y="2770632"/>
            <a:ext cx="2414016" cy="384048"/>
          </a:xfrm>
          <a:prstGeom prst="rect">
            <a:avLst/>
          </a:prstGeom>
          <a:noFill/>
          <a:ln/>
        </p:spPr>
        <p:txBody>
          <a:bodyPr wrap="square" lIns="0" tIns="0" rIns="0" bIns="0" rtlCol="0" anchor="ctr"/>
          <a:lstStyle/>
          <a:p>
            <a:pPr marL="0" indent="0" algn="ctr">
              <a:buNone/>
            </a:pPr>
            <a:r>
              <a:rPr lang="en-US" sz="1600" b="1" dirty="0">
                <a:solidFill>
                  <a:srgbClr val="2E7CC4"/>
                </a:solidFill>
                <a:latin typeface="Trebuchet MS" pitchFamily="34" charset="0"/>
                <a:ea typeface="Trebuchet MS" pitchFamily="34" charset="-122"/>
                <a:cs typeface="Trebuchet MS" pitchFamily="34" charset="-120"/>
              </a:rPr>
              <a:t>Low latency</a:t>
            </a:r>
            <a:endParaRPr lang="en-US" sz="1600" dirty="0"/>
          </a:p>
        </p:txBody>
      </p:sp>
      <p:sp>
        <p:nvSpPr>
          <p:cNvPr id="8" name="Text 5"/>
          <p:cNvSpPr/>
          <p:nvPr/>
        </p:nvSpPr>
        <p:spPr>
          <a:xfrm>
            <a:off x="749808" y="3200400"/>
            <a:ext cx="2304288" cy="685800"/>
          </a:xfrm>
          <a:prstGeom prst="rect">
            <a:avLst/>
          </a:prstGeom>
          <a:noFill/>
          <a:ln/>
        </p:spPr>
        <p:txBody>
          <a:bodyPr wrap="square" lIns="0" tIns="0" rIns="0" bIns="0" rtlCol="0" anchor="t"/>
          <a:lstStyle/>
          <a:p>
            <a:pPr marL="0" indent="0" algn="ctr">
              <a:lnSpc>
                <a:spcPts val="1600"/>
              </a:lnSpc>
              <a:buNone/>
            </a:pPr>
            <a:r>
              <a:rPr lang="en-US" sz="1250" dirty="0">
                <a:solidFill>
                  <a:srgbClr val="2A3B4D"/>
                </a:solidFill>
                <a:latin typeface="Calibri" pitchFamily="34" charset="0"/>
                <a:ea typeface="Calibri" pitchFamily="34" charset="-122"/>
                <a:cs typeface="Calibri" pitchFamily="34" charset="-120"/>
              </a:rPr>
              <a:t>Place resources near your users so apps feel fast and responsive.</a:t>
            </a:r>
            <a:endParaRPr lang="en-US" sz="1250" dirty="0"/>
          </a:p>
        </p:txBody>
      </p:sp>
      <p:sp>
        <p:nvSpPr>
          <p:cNvPr id="9" name="card">
            <a:extLst>
              <a:ext uri="{C183D7F6-B498-43B3-948B-1728B52AA6E4}">
                <adec:decorative xmlns:adec="http://schemas.microsoft.com/office/drawing/2017/decorative" val="1"/>
              </a:ext>
            </a:extLst>
          </p:cNvPr>
          <p:cNvSpPr/>
          <p:nvPr/>
        </p:nvSpPr>
        <p:spPr>
          <a:xfrm>
            <a:off x="3456432" y="1508760"/>
            <a:ext cx="2670048" cy="2468880"/>
          </a:xfrm>
          <a:prstGeom prst="roundRect">
            <a:avLst>
              <a:gd name="adj" fmla="val 407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0" name="icon tile">
            <a:extLst>
              <a:ext uri="{C183D7F6-B498-43B3-948B-1728B52AA6E4}">
                <adec:decorative xmlns:adec="http://schemas.microsoft.com/office/drawing/2017/decorative" val="1"/>
              </a:ext>
            </a:extLst>
          </p:cNvPr>
          <p:cNvSpPr/>
          <p:nvPr/>
        </p:nvSpPr>
        <p:spPr>
          <a:xfrm>
            <a:off x="4357116" y="1764792"/>
            <a:ext cx="868680" cy="868680"/>
          </a:xfrm>
          <a:prstGeom prst="roundRect">
            <a:avLst>
              <a:gd name="adj" fmla="val 14737"/>
            </a:avLst>
          </a:prstGeom>
          <a:solidFill>
            <a:srgbClr val="FBE7E1"/>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1" name="Image 1" descr="private icon"/>
          <p:cNvPicPr>
            <a:picLocks noChangeAspect="1"/>
          </p:cNvPicPr>
          <p:nvPr/>
        </p:nvPicPr>
        <p:blipFill>
          <a:blip r:embed="rId4"/>
          <a:stretch>
            <a:fillRect/>
          </a:stretch>
        </p:blipFill>
        <p:spPr>
          <a:xfrm>
            <a:off x="4487418" y="1895094"/>
            <a:ext cx="608076" cy="608076"/>
          </a:xfrm>
          <a:prstGeom prst="rect">
            <a:avLst/>
          </a:prstGeom>
        </p:spPr>
      </p:pic>
      <p:sp>
        <p:nvSpPr>
          <p:cNvPr id="12" name="Text 8"/>
          <p:cNvSpPr/>
          <p:nvPr/>
        </p:nvSpPr>
        <p:spPr>
          <a:xfrm>
            <a:off x="3584448" y="2770632"/>
            <a:ext cx="2414016" cy="384048"/>
          </a:xfrm>
          <a:prstGeom prst="rect">
            <a:avLst/>
          </a:prstGeom>
          <a:noFill/>
          <a:ln/>
        </p:spPr>
        <p:txBody>
          <a:bodyPr wrap="square" lIns="0" tIns="0" rIns="0" bIns="0" rtlCol="0" anchor="ctr"/>
          <a:lstStyle/>
          <a:p>
            <a:pPr marL="0" indent="0" algn="ctr">
              <a:buNone/>
            </a:pPr>
            <a:r>
              <a:rPr lang="en-US" sz="1600" b="1" dirty="0">
                <a:solidFill>
                  <a:srgbClr val="EF6F58"/>
                </a:solidFill>
                <a:latin typeface="Trebuchet MS" pitchFamily="34" charset="0"/>
                <a:ea typeface="Trebuchet MS" pitchFamily="34" charset="-122"/>
                <a:cs typeface="Trebuchet MS" pitchFamily="34" charset="-120"/>
              </a:rPr>
              <a:t>Compliance</a:t>
            </a:r>
            <a:endParaRPr lang="en-US" sz="1600" dirty="0"/>
          </a:p>
        </p:txBody>
      </p:sp>
      <p:sp>
        <p:nvSpPr>
          <p:cNvPr id="13" name="Text 9"/>
          <p:cNvSpPr/>
          <p:nvPr/>
        </p:nvSpPr>
        <p:spPr>
          <a:xfrm>
            <a:off x="3639312" y="3200400"/>
            <a:ext cx="2304288" cy="685800"/>
          </a:xfrm>
          <a:prstGeom prst="rect">
            <a:avLst/>
          </a:prstGeom>
          <a:noFill/>
          <a:ln/>
        </p:spPr>
        <p:txBody>
          <a:bodyPr wrap="square" lIns="0" tIns="0" rIns="0" bIns="0" rtlCol="0" anchor="t"/>
          <a:lstStyle/>
          <a:p>
            <a:pPr marL="0" indent="0" algn="ctr">
              <a:lnSpc>
                <a:spcPts val="1600"/>
              </a:lnSpc>
              <a:buNone/>
            </a:pPr>
            <a:r>
              <a:rPr lang="en-US" sz="1250" dirty="0">
                <a:solidFill>
                  <a:srgbClr val="2A3B4D"/>
                </a:solidFill>
                <a:latin typeface="Calibri" pitchFamily="34" charset="0"/>
                <a:ea typeface="Calibri" pitchFamily="34" charset="-122"/>
                <a:cs typeface="Calibri" pitchFamily="34" charset="-120"/>
              </a:rPr>
              <a:t>Keep data in a specific country to meet legal and data-residency rules.</a:t>
            </a:r>
            <a:endParaRPr lang="en-US" sz="1250" dirty="0"/>
          </a:p>
        </p:txBody>
      </p:sp>
      <p:sp>
        <p:nvSpPr>
          <p:cNvPr id="14" name="card">
            <a:extLst>
              <a:ext uri="{C183D7F6-B498-43B3-948B-1728B52AA6E4}">
                <adec:decorative xmlns:adec="http://schemas.microsoft.com/office/drawing/2017/decorative" val="1"/>
              </a:ext>
            </a:extLst>
          </p:cNvPr>
          <p:cNvSpPr/>
          <p:nvPr/>
        </p:nvSpPr>
        <p:spPr>
          <a:xfrm>
            <a:off x="6345936" y="1508760"/>
            <a:ext cx="2670048" cy="2468880"/>
          </a:xfrm>
          <a:prstGeom prst="roundRect">
            <a:avLst>
              <a:gd name="adj" fmla="val 407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5" name="icon tile">
            <a:extLst>
              <a:ext uri="{C183D7F6-B498-43B3-948B-1728B52AA6E4}">
                <adec:decorative xmlns:adec="http://schemas.microsoft.com/office/drawing/2017/decorative" val="1"/>
              </a:ext>
            </a:extLst>
          </p:cNvPr>
          <p:cNvSpPr/>
          <p:nvPr/>
        </p:nvSpPr>
        <p:spPr>
          <a:xfrm>
            <a:off x="7246620" y="1764792"/>
            <a:ext cx="868680" cy="868680"/>
          </a:xfrm>
          <a:prstGeom prst="roundRect">
            <a:avLst>
              <a:gd name="adj" fmla="val 14737"/>
            </a:avLst>
          </a:prstGeom>
          <a:solidFill>
            <a:srgbClr val="E2F3EE"/>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6" name="Image 2" descr="shields icon"/>
          <p:cNvPicPr>
            <a:picLocks noChangeAspect="1"/>
          </p:cNvPicPr>
          <p:nvPr/>
        </p:nvPicPr>
        <p:blipFill>
          <a:blip r:embed="rId5"/>
          <a:stretch>
            <a:fillRect/>
          </a:stretch>
        </p:blipFill>
        <p:spPr>
          <a:xfrm>
            <a:off x="7376922" y="1895094"/>
            <a:ext cx="608076" cy="608076"/>
          </a:xfrm>
          <a:prstGeom prst="rect">
            <a:avLst/>
          </a:prstGeom>
        </p:spPr>
      </p:pic>
      <p:sp>
        <p:nvSpPr>
          <p:cNvPr id="17" name="Text 12"/>
          <p:cNvSpPr/>
          <p:nvPr/>
        </p:nvSpPr>
        <p:spPr>
          <a:xfrm>
            <a:off x="6473952" y="2770632"/>
            <a:ext cx="2414016" cy="384048"/>
          </a:xfrm>
          <a:prstGeom prst="rect">
            <a:avLst/>
          </a:prstGeom>
          <a:noFill/>
          <a:ln/>
        </p:spPr>
        <p:txBody>
          <a:bodyPr wrap="square" lIns="0" tIns="0" rIns="0" bIns="0" rtlCol="0" anchor="ctr"/>
          <a:lstStyle/>
          <a:p>
            <a:pPr marL="0" indent="0" algn="ctr">
              <a:buNone/>
            </a:pPr>
            <a:r>
              <a:rPr lang="en-US" sz="1600" b="1" dirty="0">
                <a:solidFill>
                  <a:srgbClr val="2FA98A"/>
                </a:solidFill>
                <a:latin typeface="Trebuchet MS" pitchFamily="34" charset="0"/>
                <a:ea typeface="Trebuchet MS" pitchFamily="34" charset="-122"/>
                <a:cs typeface="Trebuchet MS" pitchFamily="34" charset="-120"/>
              </a:rPr>
              <a:t>Resilience</a:t>
            </a:r>
            <a:endParaRPr lang="en-US" sz="1600" dirty="0"/>
          </a:p>
        </p:txBody>
      </p:sp>
      <p:sp>
        <p:nvSpPr>
          <p:cNvPr id="18" name="Text 13"/>
          <p:cNvSpPr/>
          <p:nvPr/>
        </p:nvSpPr>
        <p:spPr>
          <a:xfrm>
            <a:off x="6528816" y="3200400"/>
            <a:ext cx="2304288" cy="685800"/>
          </a:xfrm>
          <a:prstGeom prst="rect">
            <a:avLst/>
          </a:prstGeom>
          <a:noFill/>
          <a:ln/>
        </p:spPr>
        <p:txBody>
          <a:bodyPr wrap="square" lIns="0" tIns="0" rIns="0" bIns="0" rtlCol="0" anchor="t"/>
          <a:lstStyle/>
          <a:p>
            <a:pPr marL="0" indent="0" algn="ctr">
              <a:lnSpc>
                <a:spcPts val="1600"/>
              </a:lnSpc>
              <a:buNone/>
            </a:pPr>
            <a:r>
              <a:rPr lang="en-US" sz="1250" dirty="0">
                <a:solidFill>
                  <a:srgbClr val="2A3B4D"/>
                </a:solidFill>
                <a:latin typeface="Calibri" pitchFamily="34" charset="0"/>
                <a:ea typeface="Calibri" pitchFamily="34" charset="-122"/>
                <a:cs typeface="Calibri" pitchFamily="34" charset="-120"/>
              </a:rPr>
              <a:t>Spread across zones or regions so an outage in one won't take you offline.</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a:solidFill>
                  <a:srgbClr val="EF6F58"/>
                </a:solidFill>
                <a:latin typeface="Trebuchet MS" pitchFamily="34" charset="0"/>
                <a:ea typeface="Trebuchet MS" pitchFamily="34" charset="-122"/>
                <a:cs typeface="Trebuchet MS" pitchFamily="34" charset="-120"/>
              </a:rPr>
              <a:t>REGIONS &amp; AVAILABILITY ZONES</a:t>
            </a:r>
            <a:endParaRPr lang="en-US" sz="125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a:solidFill>
                  <a:srgbClr val="1E5386"/>
                </a:solidFill>
                <a:latin typeface="Trebuchet MS" pitchFamily="34" charset="0"/>
                <a:ea typeface="Trebuchet MS" pitchFamily="34" charset="-122"/>
                <a:cs typeface="Trebuchet MS" pitchFamily="34" charset="-120"/>
              </a:rPr>
              <a:t>Region pairs &amp; sovereign regions</a:t>
            </a:r>
            <a:endParaRPr lang="en-US" sz="3000"/>
          </a:p>
        </p:txBody>
      </p:sp>
      <p:sp>
        <p:nvSpPr>
          <p:cNvPr id="4" name="card">
            <a:extLst>
              <a:ext uri="{C183D7F6-B498-43B3-948B-1728B52AA6E4}">
                <adec:decorative xmlns:adec="http://schemas.microsoft.com/office/drawing/2017/decorative" val="1"/>
              </a:ext>
            </a:extLst>
          </p:cNvPr>
          <p:cNvSpPr/>
          <p:nvPr/>
        </p:nvSpPr>
        <p:spPr>
          <a:xfrm>
            <a:off x="566928" y="1371600"/>
            <a:ext cx="2670048" cy="2880360"/>
          </a:xfrm>
          <a:prstGeom prst="roundRect">
            <a:avLst>
              <a:gd name="adj" fmla="val 37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1444752" y="1609344"/>
            <a:ext cx="914400" cy="914400"/>
          </a:xfrm>
          <a:prstGeom prst="roundRect">
            <a:avLst>
              <a:gd name="adj" fmla="val 14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globe icon"/>
          <p:cNvPicPr>
            <a:picLocks noChangeAspect="1"/>
          </p:cNvPicPr>
          <p:nvPr/>
        </p:nvPicPr>
        <p:blipFill>
          <a:blip r:embed="rId3"/>
          <a:stretch>
            <a:fillRect/>
          </a:stretch>
        </p:blipFill>
        <p:spPr>
          <a:xfrm>
            <a:off x="1581912" y="1771244"/>
            <a:ext cx="640080" cy="590600"/>
          </a:xfrm>
          <a:prstGeom prst="rect">
            <a:avLst/>
          </a:prstGeom>
        </p:spPr>
      </p:pic>
      <p:sp>
        <p:nvSpPr>
          <p:cNvPr id="7" name="Text 4"/>
          <p:cNvSpPr/>
          <p:nvPr/>
        </p:nvSpPr>
        <p:spPr>
          <a:xfrm>
            <a:off x="713232" y="2606040"/>
            <a:ext cx="2377440" cy="365760"/>
          </a:xfrm>
          <a:prstGeom prst="rect">
            <a:avLst/>
          </a:prstGeom>
          <a:noFill/>
          <a:ln/>
        </p:spPr>
        <p:txBody>
          <a:bodyPr wrap="square" lIns="0" tIns="0" rIns="0" bIns="0" rtlCol="0" anchor="ctr"/>
          <a:lstStyle/>
          <a:p>
            <a:pPr marL="0" indent="0" algn="ctr">
              <a:buNone/>
            </a:pPr>
            <a:r>
              <a:rPr lang="en-US" sz="1800" b="1">
                <a:solidFill>
                  <a:srgbClr val="2E7CC4"/>
                </a:solidFill>
                <a:latin typeface="Trebuchet MS" pitchFamily="34" charset="0"/>
                <a:ea typeface="Trebuchet MS" pitchFamily="34" charset="-122"/>
                <a:cs typeface="Trebuchet MS" pitchFamily="34" charset="-120"/>
              </a:rPr>
              <a:t>Region pairs</a:t>
            </a:r>
            <a:endParaRPr lang="en-US" sz="1800"/>
          </a:p>
        </p:txBody>
      </p:sp>
      <p:sp>
        <p:nvSpPr>
          <p:cNvPr id="8" name="Text 5"/>
          <p:cNvSpPr/>
          <p:nvPr/>
        </p:nvSpPr>
        <p:spPr>
          <a:xfrm>
            <a:off x="749808" y="3035808"/>
            <a:ext cx="2304288" cy="914400"/>
          </a:xfrm>
          <a:prstGeom prst="rect">
            <a:avLst/>
          </a:prstGeom>
          <a:noFill/>
          <a:ln/>
        </p:spPr>
        <p:txBody>
          <a:bodyPr wrap="square" lIns="0" tIns="0" rIns="0" bIns="0" rtlCol="0" anchor="t"/>
          <a:lstStyle/>
          <a:p>
            <a:pPr marL="0" indent="0" algn="ctr">
              <a:lnSpc>
                <a:spcPts val="1500"/>
              </a:lnSpc>
              <a:buNone/>
            </a:pPr>
            <a:r>
              <a:rPr lang="en-US" sz="1200">
                <a:solidFill>
                  <a:srgbClr val="2A3B4D"/>
                </a:solidFill>
                <a:latin typeface="Calibri" pitchFamily="34" charset="0"/>
                <a:ea typeface="Calibri" pitchFamily="34" charset="-122"/>
                <a:cs typeface="Calibri" pitchFamily="34" charset="-120"/>
              </a:rPr>
              <a:t>Many regions link to a partner region in the same geography for geo-replication and disaster recovery.</a:t>
            </a:r>
            <a:endParaRPr lang="en-US" sz="1200"/>
          </a:p>
        </p:txBody>
      </p:sp>
      <p:sp>
        <p:nvSpPr>
          <p:cNvPr id="9" name="best-for">
            <a:extLst>
              <a:ext uri="{C183D7F6-B498-43B3-948B-1728B52AA6E4}">
                <adec:decorative xmlns:adec="http://schemas.microsoft.com/office/drawing/2017/decorative" val="1"/>
              </a:ext>
            </a:extLst>
          </p:cNvPr>
          <p:cNvSpPr/>
          <p:nvPr/>
        </p:nvSpPr>
        <p:spPr>
          <a:xfrm>
            <a:off x="749808" y="3749040"/>
            <a:ext cx="2304288" cy="384048"/>
          </a:xfrm>
          <a:prstGeom prst="roundRect">
            <a:avLst>
              <a:gd name="adj" fmla="val 23810"/>
            </a:avLst>
          </a:prstGeom>
          <a:solidFill>
            <a:srgbClr val="E6F1FB"/>
          </a:solidFill>
          <a:ln/>
        </p:spPr>
        <p:txBody>
          <a:bodyPr/>
          <a:lstStyle/>
          <a:p>
            <a:endParaRPr lang="en-HU"/>
          </a:p>
        </p:txBody>
      </p:sp>
      <p:sp>
        <p:nvSpPr>
          <p:cNvPr id="10" name="Text 7"/>
          <p:cNvSpPr/>
          <p:nvPr/>
        </p:nvSpPr>
        <p:spPr>
          <a:xfrm>
            <a:off x="749808" y="3749040"/>
            <a:ext cx="2304288" cy="384048"/>
          </a:xfrm>
          <a:prstGeom prst="rect">
            <a:avLst/>
          </a:prstGeom>
          <a:noFill/>
          <a:ln/>
        </p:spPr>
        <p:txBody>
          <a:bodyPr wrap="square" lIns="0" tIns="0" rIns="0" bIns="0" rtlCol="0" anchor="ctr"/>
          <a:lstStyle/>
          <a:p>
            <a:pPr marL="0" indent="0" algn="ctr">
              <a:buNone/>
            </a:pPr>
            <a:r>
              <a:rPr lang="en-US" sz="1050" b="1">
                <a:solidFill>
                  <a:srgbClr val="2E7CC4"/>
                </a:solidFill>
                <a:latin typeface="Calibri" pitchFamily="34" charset="0"/>
                <a:ea typeface="Calibri" pitchFamily="34" charset="-122"/>
                <a:cs typeface="Calibri" pitchFamily="34" charset="-120"/>
              </a:rPr>
              <a:t>Geo-replication &amp; DR</a:t>
            </a:r>
            <a:endParaRPr lang="en-US" sz="1050"/>
          </a:p>
        </p:txBody>
      </p:sp>
      <p:sp>
        <p:nvSpPr>
          <p:cNvPr id="11" name="card">
            <a:extLst>
              <a:ext uri="{C183D7F6-B498-43B3-948B-1728B52AA6E4}">
                <adec:decorative xmlns:adec="http://schemas.microsoft.com/office/drawing/2017/decorative" val="1"/>
              </a:ext>
            </a:extLst>
          </p:cNvPr>
          <p:cNvSpPr/>
          <p:nvPr/>
        </p:nvSpPr>
        <p:spPr>
          <a:xfrm>
            <a:off x="3456432" y="1371600"/>
            <a:ext cx="2670048" cy="2880360"/>
          </a:xfrm>
          <a:prstGeom prst="roundRect">
            <a:avLst>
              <a:gd name="adj" fmla="val 37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2" name="icon tile">
            <a:extLst>
              <a:ext uri="{C183D7F6-B498-43B3-948B-1728B52AA6E4}">
                <adec:decorative xmlns:adec="http://schemas.microsoft.com/office/drawing/2017/decorative" val="1"/>
              </a:ext>
            </a:extLst>
          </p:cNvPr>
          <p:cNvSpPr/>
          <p:nvPr/>
        </p:nvSpPr>
        <p:spPr>
          <a:xfrm>
            <a:off x="4334256" y="1609344"/>
            <a:ext cx="914400" cy="914400"/>
          </a:xfrm>
          <a:prstGeom prst="roundRect">
            <a:avLst>
              <a:gd name="adj" fmla="val 14000"/>
            </a:avLst>
          </a:prstGeom>
          <a:solidFill>
            <a:srgbClr val="FBE7E1"/>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3" name="Image 1" descr="shields icon"/>
          <p:cNvPicPr>
            <a:picLocks noChangeAspect="1"/>
          </p:cNvPicPr>
          <p:nvPr/>
        </p:nvPicPr>
        <p:blipFill>
          <a:blip r:embed="rId4"/>
          <a:stretch>
            <a:fillRect/>
          </a:stretch>
        </p:blipFill>
        <p:spPr>
          <a:xfrm>
            <a:off x="4471416" y="1746504"/>
            <a:ext cx="640080" cy="640080"/>
          </a:xfrm>
          <a:prstGeom prst="rect">
            <a:avLst/>
          </a:prstGeom>
        </p:spPr>
      </p:pic>
      <p:sp>
        <p:nvSpPr>
          <p:cNvPr id="14" name="Text 10"/>
          <p:cNvSpPr/>
          <p:nvPr/>
        </p:nvSpPr>
        <p:spPr>
          <a:xfrm>
            <a:off x="3602736" y="2606040"/>
            <a:ext cx="2377440" cy="365760"/>
          </a:xfrm>
          <a:prstGeom prst="rect">
            <a:avLst/>
          </a:prstGeom>
          <a:noFill/>
          <a:ln/>
        </p:spPr>
        <p:txBody>
          <a:bodyPr wrap="square" lIns="0" tIns="0" rIns="0" bIns="0" rtlCol="0" anchor="ctr"/>
          <a:lstStyle/>
          <a:p>
            <a:pPr marL="0" indent="0" algn="ctr">
              <a:buNone/>
            </a:pPr>
            <a:r>
              <a:rPr lang="en-US" sz="1800" b="1">
                <a:solidFill>
                  <a:srgbClr val="EF6F58"/>
                </a:solidFill>
                <a:latin typeface="Trebuchet MS" pitchFamily="34" charset="0"/>
                <a:ea typeface="Trebuchet MS" pitchFamily="34" charset="-122"/>
                <a:cs typeface="Trebuchet MS" pitchFamily="34" charset="-120"/>
              </a:rPr>
              <a:t>Not always paired</a:t>
            </a:r>
            <a:endParaRPr lang="en-US" sz="1800"/>
          </a:p>
        </p:txBody>
      </p:sp>
      <p:sp>
        <p:nvSpPr>
          <p:cNvPr id="15" name="Text 11"/>
          <p:cNvSpPr/>
          <p:nvPr/>
        </p:nvSpPr>
        <p:spPr>
          <a:xfrm>
            <a:off x="3639312" y="3035808"/>
            <a:ext cx="2304288" cy="914400"/>
          </a:xfrm>
          <a:prstGeom prst="rect">
            <a:avLst/>
          </a:prstGeom>
          <a:noFill/>
          <a:ln/>
        </p:spPr>
        <p:txBody>
          <a:bodyPr wrap="square" lIns="0" tIns="0" rIns="0" bIns="0" rtlCol="0" anchor="t"/>
          <a:lstStyle/>
          <a:p>
            <a:pPr marL="0" indent="0" algn="ctr">
              <a:lnSpc>
                <a:spcPts val="1500"/>
              </a:lnSpc>
              <a:buNone/>
            </a:pPr>
            <a:r>
              <a:rPr lang="en-US" sz="1200">
                <a:solidFill>
                  <a:srgbClr val="2A3B4D"/>
                </a:solidFill>
                <a:latin typeface="Calibri" pitchFamily="34" charset="0"/>
                <a:ea typeface="Calibri" pitchFamily="34" charset="-122"/>
                <a:cs typeface="Calibri" pitchFamily="34" charset="-120"/>
              </a:rPr>
              <a:t>Many newer regions skip pairing and rely on availability zones for redundancy instead.</a:t>
            </a:r>
            <a:endParaRPr lang="en-US" sz="1200"/>
          </a:p>
        </p:txBody>
      </p:sp>
      <p:sp>
        <p:nvSpPr>
          <p:cNvPr id="16" name="best-for">
            <a:extLst>
              <a:ext uri="{C183D7F6-B498-43B3-948B-1728B52AA6E4}">
                <adec:decorative xmlns:adec="http://schemas.microsoft.com/office/drawing/2017/decorative" val="1"/>
              </a:ext>
            </a:extLst>
          </p:cNvPr>
          <p:cNvSpPr/>
          <p:nvPr/>
        </p:nvSpPr>
        <p:spPr>
          <a:xfrm>
            <a:off x="3639312" y="3749040"/>
            <a:ext cx="2304288" cy="384048"/>
          </a:xfrm>
          <a:prstGeom prst="roundRect">
            <a:avLst>
              <a:gd name="adj" fmla="val 23810"/>
            </a:avLst>
          </a:prstGeom>
          <a:solidFill>
            <a:srgbClr val="FBE7E1"/>
          </a:solidFill>
          <a:ln/>
        </p:spPr>
        <p:txBody>
          <a:bodyPr/>
          <a:lstStyle/>
          <a:p>
            <a:endParaRPr lang="en-HU"/>
          </a:p>
        </p:txBody>
      </p:sp>
      <p:sp>
        <p:nvSpPr>
          <p:cNvPr id="17" name="Text 13"/>
          <p:cNvSpPr/>
          <p:nvPr/>
        </p:nvSpPr>
        <p:spPr>
          <a:xfrm>
            <a:off x="3639312" y="3749040"/>
            <a:ext cx="2304288" cy="384048"/>
          </a:xfrm>
          <a:prstGeom prst="rect">
            <a:avLst/>
          </a:prstGeom>
          <a:noFill/>
          <a:ln/>
        </p:spPr>
        <p:txBody>
          <a:bodyPr wrap="square" lIns="0" tIns="0" rIns="0" bIns="0" rtlCol="0" anchor="ctr"/>
          <a:lstStyle/>
          <a:p>
            <a:pPr marL="0" indent="0" algn="ctr">
              <a:buNone/>
            </a:pPr>
            <a:r>
              <a:rPr lang="en-US" sz="1050" b="1">
                <a:solidFill>
                  <a:srgbClr val="EF6F58"/>
                </a:solidFill>
                <a:latin typeface="Calibri" pitchFamily="34" charset="0"/>
                <a:ea typeface="Calibri" pitchFamily="34" charset="-122"/>
                <a:cs typeface="Calibri" pitchFamily="34" charset="-120"/>
              </a:rPr>
              <a:t>Zones as backup</a:t>
            </a:r>
            <a:endParaRPr lang="en-US" sz="1050"/>
          </a:p>
        </p:txBody>
      </p:sp>
      <p:sp>
        <p:nvSpPr>
          <p:cNvPr id="18" name="card">
            <a:extLst>
              <a:ext uri="{C183D7F6-B498-43B3-948B-1728B52AA6E4}">
                <adec:decorative xmlns:adec="http://schemas.microsoft.com/office/drawing/2017/decorative" val="1"/>
              </a:ext>
            </a:extLst>
          </p:cNvPr>
          <p:cNvSpPr/>
          <p:nvPr/>
        </p:nvSpPr>
        <p:spPr>
          <a:xfrm>
            <a:off x="6345936" y="1371600"/>
            <a:ext cx="2670048" cy="2880360"/>
          </a:xfrm>
          <a:prstGeom prst="roundRect">
            <a:avLst>
              <a:gd name="adj" fmla="val 37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9" name="icon tile">
            <a:extLst>
              <a:ext uri="{C183D7F6-B498-43B3-948B-1728B52AA6E4}">
                <adec:decorative xmlns:adec="http://schemas.microsoft.com/office/drawing/2017/decorative" val="1"/>
              </a:ext>
            </a:extLst>
          </p:cNvPr>
          <p:cNvSpPr/>
          <p:nvPr/>
        </p:nvSpPr>
        <p:spPr>
          <a:xfrm>
            <a:off x="7223760" y="1609344"/>
            <a:ext cx="914400" cy="914400"/>
          </a:xfrm>
          <a:prstGeom prst="roundRect">
            <a:avLst>
              <a:gd name="adj" fmla="val 14000"/>
            </a:avLst>
          </a:prstGeom>
          <a:solidFill>
            <a:srgbClr val="E2F3EE"/>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0" name="Image 2" descr="private icon"/>
          <p:cNvPicPr>
            <a:picLocks noChangeAspect="1"/>
          </p:cNvPicPr>
          <p:nvPr/>
        </p:nvPicPr>
        <p:blipFill>
          <a:blip r:embed="rId5"/>
          <a:stretch>
            <a:fillRect/>
          </a:stretch>
        </p:blipFill>
        <p:spPr>
          <a:xfrm>
            <a:off x="7360920" y="1746504"/>
            <a:ext cx="640080" cy="640080"/>
          </a:xfrm>
          <a:prstGeom prst="rect">
            <a:avLst/>
          </a:prstGeom>
        </p:spPr>
      </p:pic>
      <p:sp>
        <p:nvSpPr>
          <p:cNvPr id="21" name="Text 16"/>
          <p:cNvSpPr/>
          <p:nvPr/>
        </p:nvSpPr>
        <p:spPr>
          <a:xfrm>
            <a:off x="6492240" y="2606040"/>
            <a:ext cx="2377440" cy="365760"/>
          </a:xfrm>
          <a:prstGeom prst="rect">
            <a:avLst/>
          </a:prstGeom>
          <a:noFill/>
          <a:ln/>
        </p:spPr>
        <p:txBody>
          <a:bodyPr wrap="square" lIns="0" tIns="0" rIns="0" bIns="0" rtlCol="0" anchor="ctr"/>
          <a:lstStyle/>
          <a:p>
            <a:pPr marL="0" indent="0" algn="ctr">
              <a:buNone/>
            </a:pPr>
            <a:r>
              <a:rPr lang="en-US" sz="1800" b="1">
                <a:solidFill>
                  <a:srgbClr val="2FA98A"/>
                </a:solidFill>
                <a:latin typeface="Trebuchet MS" pitchFamily="34" charset="0"/>
                <a:ea typeface="Trebuchet MS" pitchFamily="34" charset="-122"/>
                <a:cs typeface="Trebuchet MS" pitchFamily="34" charset="-120"/>
              </a:rPr>
              <a:t>Sovereign regions</a:t>
            </a:r>
            <a:endParaRPr lang="en-US" sz="1800"/>
          </a:p>
        </p:txBody>
      </p:sp>
      <p:sp>
        <p:nvSpPr>
          <p:cNvPr id="22" name="Text 17"/>
          <p:cNvSpPr/>
          <p:nvPr/>
        </p:nvSpPr>
        <p:spPr>
          <a:xfrm>
            <a:off x="6528816" y="3035808"/>
            <a:ext cx="2304288" cy="914400"/>
          </a:xfrm>
          <a:prstGeom prst="rect">
            <a:avLst/>
          </a:prstGeom>
          <a:noFill/>
          <a:ln/>
        </p:spPr>
        <p:txBody>
          <a:bodyPr wrap="square" lIns="0" tIns="0" rIns="0" bIns="0" rtlCol="0" anchor="t"/>
          <a:lstStyle/>
          <a:p>
            <a:pPr marL="0" indent="0" algn="ctr">
              <a:lnSpc>
                <a:spcPts val="1500"/>
              </a:lnSpc>
              <a:buNone/>
            </a:pPr>
            <a:r>
              <a:rPr lang="en-US" sz="1200">
                <a:solidFill>
                  <a:srgbClr val="2A3B4D"/>
                </a:solidFill>
                <a:latin typeface="Calibri" pitchFamily="34" charset="0"/>
                <a:ea typeface="Calibri" pitchFamily="34" charset="-122"/>
                <a:cs typeface="Calibri" pitchFamily="34" charset="-120"/>
              </a:rPr>
              <a:t>Isolated clouds like Azure Government and Azure China (run by 21Vianet) for data-residency rules.</a:t>
            </a:r>
            <a:endParaRPr lang="en-US" sz="1200"/>
          </a:p>
        </p:txBody>
      </p:sp>
      <p:sp>
        <p:nvSpPr>
          <p:cNvPr id="23" name="best-for">
            <a:extLst>
              <a:ext uri="{C183D7F6-B498-43B3-948B-1728B52AA6E4}">
                <adec:decorative xmlns:adec="http://schemas.microsoft.com/office/drawing/2017/decorative" val="1"/>
              </a:ext>
            </a:extLst>
          </p:cNvPr>
          <p:cNvSpPr/>
          <p:nvPr/>
        </p:nvSpPr>
        <p:spPr>
          <a:xfrm>
            <a:off x="6528816" y="3749040"/>
            <a:ext cx="2304288" cy="384048"/>
          </a:xfrm>
          <a:prstGeom prst="roundRect">
            <a:avLst>
              <a:gd name="adj" fmla="val 23810"/>
            </a:avLst>
          </a:prstGeom>
          <a:solidFill>
            <a:srgbClr val="E2F3EE"/>
          </a:solidFill>
          <a:ln/>
        </p:spPr>
        <p:txBody>
          <a:bodyPr/>
          <a:lstStyle/>
          <a:p>
            <a:endParaRPr lang="en-HU"/>
          </a:p>
        </p:txBody>
      </p:sp>
      <p:sp>
        <p:nvSpPr>
          <p:cNvPr id="24" name="Text 19"/>
          <p:cNvSpPr/>
          <p:nvPr/>
        </p:nvSpPr>
        <p:spPr>
          <a:xfrm>
            <a:off x="6528816" y="3749040"/>
            <a:ext cx="2304288" cy="384048"/>
          </a:xfrm>
          <a:prstGeom prst="rect">
            <a:avLst/>
          </a:prstGeom>
          <a:noFill/>
          <a:ln/>
        </p:spPr>
        <p:txBody>
          <a:bodyPr wrap="square" lIns="0" tIns="0" rIns="0" bIns="0" rtlCol="0" anchor="ctr"/>
          <a:lstStyle/>
          <a:p>
            <a:pPr marL="0" indent="0" algn="ctr">
              <a:buNone/>
            </a:pPr>
            <a:r>
              <a:rPr lang="en-US" sz="1050" b="1">
                <a:solidFill>
                  <a:srgbClr val="2FA98A"/>
                </a:solidFill>
                <a:latin typeface="Calibri" pitchFamily="34" charset="0"/>
                <a:ea typeface="Calibri" pitchFamily="34" charset="-122"/>
                <a:cs typeface="Calibri" pitchFamily="34" charset="-120"/>
              </a:rPr>
              <a:t>Data sovereignty</a:t>
            </a:r>
            <a:endParaRPr lang="en-US" sz="10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1371600"/>
            <a:ext cx="2194560" cy="2194560"/>
          </a:xfrm>
          <a:prstGeom prst="rect">
            <a:avLst/>
          </a:prstGeom>
          <a:noFill/>
          <a:ln/>
        </p:spPr>
        <p:txBody>
          <a:bodyPr wrap="square" lIns="0" tIns="0" rIns="0" bIns="0" rtlCol="0" anchor="ctr"/>
          <a:lstStyle/>
          <a:p>
            <a:pPr marL="0" indent="0" algn="l">
              <a:buNone/>
            </a:pPr>
            <a:r>
              <a:rPr lang="en-US" sz="15000" b="1" dirty="0">
                <a:solidFill>
                  <a:srgbClr val="F08A72"/>
                </a:solidFill>
                <a:latin typeface="Trebuchet MS" pitchFamily="34" charset="0"/>
                <a:ea typeface="Trebuchet MS" pitchFamily="34" charset="-122"/>
                <a:cs typeface="Trebuchet MS" pitchFamily="34" charset="-120"/>
              </a:rPr>
              <a:t>04</a:t>
            </a:r>
            <a:endParaRPr lang="en-US" sz="15000" dirty="0"/>
          </a:p>
        </p:txBody>
      </p:sp>
      <p:sp>
        <p:nvSpPr>
          <p:cNvPr id="3" name="icon tile">
            <a:extLst>
              <a:ext uri="{C183D7F6-B498-43B3-948B-1728B52AA6E4}">
                <adec:decorative xmlns:adec="http://schemas.microsoft.com/office/drawing/2017/decorative" val="1"/>
              </a:ext>
            </a:extLst>
          </p:cNvPr>
          <p:cNvSpPr/>
          <p:nvPr/>
        </p:nvSpPr>
        <p:spPr>
          <a:xfrm>
            <a:off x="7360920" y="685800"/>
            <a:ext cx="1097280" cy="1097280"/>
          </a:xfrm>
          <a:prstGeom prst="roundRect">
            <a:avLst>
              <a:gd name="adj" fmla="val 116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4" name="Image 0" descr="vm icon"/>
          <p:cNvPicPr>
            <a:picLocks noChangeAspect="1"/>
          </p:cNvPicPr>
          <p:nvPr/>
        </p:nvPicPr>
        <p:blipFill>
          <a:blip r:embed="rId3"/>
          <a:stretch>
            <a:fillRect/>
          </a:stretch>
        </p:blipFill>
        <p:spPr>
          <a:xfrm>
            <a:off x="7525512" y="924142"/>
            <a:ext cx="768096" cy="620595"/>
          </a:xfrm>
          <a:prstGeom prst="rect">
            <a:avLst/>
          </a:prstGeom>
        </p:spPr>
      </p:pic>
      <p:sp>
        <p:nvSpPr>
          <p:cNvPr id="5" name="Text 2"/>
          <p:cNvSpPr/>
          <p:nvPr/>
        </p:nvSpPr>
        <p:spPr>
          <a:xfrm>
            <a:off x="1755648" y="1572768"/>
            <a:ext cx="5486400" cy="274320"/>
          </a:xfrm>
          <a:prstGeom prst="rect">
            <a:avLst/>
          </a:prstGeom>
          <a:noFill/>
          <a:ln/>
        </p:spPr>
        <p:txBody>
          <a:bodyPr wrap="square" lIns="0" tIns="0" rIns="0" bIns="0" rtlCol="0" anchor="ctr"/>
          <a:lstStyle/>
          <a:p>
            <a:pPr marL="0" indent="0">
              <a:buNone/>
            </a:pPr>
            <a:r>
              <a:rPr lang="en-US" sz="1300" b="1" kern="0" spc="300" dirty="0">
                <a:solidFill>
                  <a:srgbClr val="F08A72"/>
                </a:solidFill>
                <a:latin typeface="Trebuchet MS" pitchFamily="34" charset="0"/>
                <a:ea typeface="Trebuchet MS" pitchFamily="34" charset="-122"/>
                <a:cs typeface="Trebuchet MS" pitchFamily="34" charset="-120"/>
              </a:rPr>
              <a:t>PART 04</a:t>
            </a:r>
            <a:endParaRPr lang="en-US" sz="1300" dirty="0"/>
          </a:p>
        </p:txBody>
      </p:sp>
      <p:sp>
        <p:nvSpPr>
          <p:cNvPr id="6" name="Text 0"/>
          <p:cNvSpPr>
            <a:spLocks noGrp="1"/>
          </p:cNvSpPr>
          <p:nvPr>
            <p:ph type="title" idx="100" hasCustomPrompt="1"/>
          </p:nvPr>
        </p:nvSpPr>
        <p:spPr>
          <a:xfrm>
            <a:off x="1737360" y="1965960"/>
            <a:ext cx="6766560" cy="914400"/>
          </a:xfrm>
          <a:prstGeom prst="rect">
            <a:avLst/>
          </a:prstGeom>
          <a:noFill/>
          <a:ln/>
        </p:spPr>
        <p:txBody>
          <a:bodyPr wrap="square" lIns="0" tIns="0" rIns="0" bIns="0" rtlCol="0"/>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Running &amp; Paying for Workloads</a:t>
            </a:r>
            <a:endParaRPr lang="en-US" sz="3400" dirty="0"/>
          </a:p>
        </p:txBody>
      </p:sp>
      <p:sp>
        <p:nvSpPr>
          <p:cNvPr id="7" name="chip">
            <a:extLst>
              <a:ext uri="{C183D7F6-B498-43B3-948B-1728B52AA6E4}">
                <adec:decorative xmlns:adec="http://schemas.microsoft.com/office/drawing/2017/decorative" val="1"/>
              </a:ext>
            </a:extLst>
          </p:cNvPr>
          <p:cNvSpPr/>
          <p:nvPr/>
        </p:nvSpPr>
        <p:spPr>
          <a:xfrm>
            <a:off x="1755648" y="3063240"/>
            <a:ext cx="1655064"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8" name="Text 5"/>
          <p:cNvSpPr/>
          <p:nvPr/>
        </p:nvSpPr>
        <p:spPr>
          <a:xfrm>
            <a:off x="1755648" y="3063240"/>
            <a:ext cx="1655064"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Compute options</a:t>
            </a:r>
            <a:endParaRPr lang="en-US" sz="1200" dirty="0"/>
          </a:p>
        </p:txBody>
      </p:sp>
      <p:sp>
        <p:nvSpPr>
          <p:cNvPr id="9" name="chip">
            <a:extLst>
              <a:ext uri="{C183D7F6-B498-43B3-948B-1728B52AA6E4}">
                <adec:decorative xmlns:adec="http://schemas.microsoft.com/office/drawing/2017/decorative" val="1"/>
              </a:ext>
            </a:extLst>
          </p:cNvPr>
          <p:cNvSpPr/>
          <p:nvPr/>
        </p:nvSpPr>
        <p:spPr>
          <a:xfrm>
            <a:off x="3611880" y="3063240"/>
            <a:ext cx="1744675"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10" name="Text 7"/>
          <p:cNvSpPr/>
          <p:nvPr/>
        </p:nvSpPr>
        <p:spPr>
          <a:xfrm>
            <a:off x="3611880" y="3063240"/>
            <a:ext cx="1744675"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Choosing compute</a:t>
            </a:r>
            <a:endParaRPr lang="en-US" sz="1200" dirty="0"/>
          </a:p>
        </p:txBody>
      </p:sp>
      <p:sp>
        <p:nvSpPr>
          <p:cNvPr id="11" name="chip">
            <a:extLst>
              <a:ext uri="{C183D7F6-B498-43B3-948B-1728B52AA6E4}">
                <adec:decorative xmlns:adec="http://schemas.microsoft.com/office/drawing/2017/decorative" val="1"/>
              </a:ext>
            </a:extLst>
          </p:cNvPr>
          <p:cNvSpPr/>
          <p:nvPr/>
        </p:nvSpPr>
        <p:spPr>
          <a:xfrm>
            <a:off x="5557723" y="3063240"/>
            <a:ext cx="1296619"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12" name="Text 9"/>
          <p:cNvSpPr/>
          <p:nvPr/>
        </p:nvSpPr>
        <p:spPr>
          <a:xfrm>
            <a:off x="5557723" y="3063240"/>
            <a:ext cx="1296619"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Cloud costs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COMPUTE FUNDAMENTALS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Four ways to run your code</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371600"/>
            <a:ext cx="1975104" cy="2788920"/>
          </a:xfrm>
          <a:prstGeom prst="roundRect">
            <a:avLst>
              <a:gd name="adj" fmla="val 5093"/>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1143000" y="1591056"/>
            <a:ext cx="822960" cy="822960"/>
          </a:xfrm>
          <a:prstGeom prst="roundRect">
            <a:avLst>
              <a:gd name="adj" fmla="val 15556"/>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vm icon"/>
          <p:cNvPicPr>
            <a:picLocks noChangeAspect="1"/>
          </p:cNvPicPr>
          <p:nvPr/>
        </p:nvPicPr>
        <p:blipFill>
          <a:blip r:embed="rId3"/>
          <a:stretch>
            <a:fillRect/>
          </a:stretch>
        </p:blipFill>
        <p:spPr>
          <a:xfrm>
            <a:off x="1266444" y="1769813"/>
            <a:ext cx="576072" cy="465447"/>
          </a:xfrm>
          <a:prstGeom prst="rect">
            <a:avLst/>
          </a:prstGeom>
        </p:spPr>
      </p:pic>
      <p:sp>
        <p:nvSpPr>
          <p:cNvPr id="7" name="Text 4"/>
          <p:cNvSpPr/>
          <p:nvPr/>
        </p:nvSpPr>
        <p:spPr>
          <a:xfrm>
            <a:off x="658368" y="2487168"/>
            <a:ext cx="1792224" cy="457200"/>
          </a:xfrm>
          <a:prstGeom prst="rect">
            <a:avLst/>
          </a:prstGeom>
          <a:noFill/>
          <a:ln/>
        </p:spPr>
        <p:txBody>
          <a:bodyPr wrap="square" lIns="0" tIns="0" rIns="0" bIns="0" rtlCol="0" anchor="ctr"/>
          <a:lstStyle/>
          <a:p>
            <a:pPr marL="0" indent="0" algn="ctr">
              <a:lnSpc>
                <a:spcPts val="1500"/>
              </a:lnSpc>
              <a:buNone/>
            </a:pPr>
            <a:r>
              <a:rPr lang="en-US" sz="1350" b="1" dirty="0">
                <a:solidFill>
                  <a:srgbClr val="2E7CC4"/>
                </a:solidFill>
                <a:latin typeface="Trebuchet MS" pitchFamily="34" charset="0"/>
                <a:ea typeface="Trebuchet MS" pitchFamily="34" charset="-122"/>
                <a:cs typeface="Trebuchet MS" pitchFamily="34" charset="-120"/>
              </a:rPr>
              <a:t>Virtual Machines</a:t>
            </a:r>
            <a:endParaRPr lang="en-US" sz="1350" dirty="0"/>
          </a:p>
        </p:txBody>
      </p:sp>
      <p:sp>
        <p:nvSpPr>
          <p:cNvPr id="8" name="analogy pill">
            <a:extLst>
              <a:ext uri="{C183D7F6-B498-43B3-948B-1728B52AA6E4}">
                <adec:decorative xmlns:adec="http://schemas.microsoft.com/office/drawing/2017/decorative" val="1"/>
              </a:ext>
            </a:extLst>
          </p:cNvPr>
          <p:cNvSpPr/>
          <p:nvPr/>
        </p:nvSpPr>
        <p:spPr>
          <a:xfrm>
            <a:off x="822960" y="2971800"/>
            <a:ext cx="1463040" cy="310896"/>
          </a:xfrm>
          <a:prstGeom prst="roundRect">
            <a:avLst>
              <a:gd name="adj" fmla="val 50000"/>
            </a:avLst>
          </a:prstGeom>
          <a:solidFill>
            <a:srgbClr val="E6F1FB"/>
          </a:solidFill>
          <a:ln/>
        </p:spPr>
        <p:txBody>
          <a:bodyPr/>
          <a:lstStyle/>
          <a:p>
            <a:endParaRPr lang="en-HU"/>
          </a:p>
        </p:txBody>
      </p:sp>
      <p:sp>
        <p:nvSpPr>
          <p:cNvPr id="9" name="Text 6"/>
          <p:cNvSpPr/>
          <p:nvPr/>
        </p:nvSpPr>
        <p:spPr>
          <a:xfrm>
            <a:off x="822960" y="2971800"/>
            <a:ext cx="1463040" cy="310896"/>
          </a:xfrm>
          <a:prstGeom prst="rect">
            <a:avLst/>
          </a:prstGeom>
          <a:noFill/>
          <a:ln/>
        </p:spPr>
        <p:txBody>
          <a:bodyPr wrap="square" lIns="0" tIns="0" rIns="0" bIns="0" rtlCol="0" anchor="ctr"/>
          <a:lstStyle/>
          <a:p>
            <a:pPr marL="0" indent="0" algn="ctr">
              <a:buNone/>
            </a:pPr>
            <a:r>
              <a:rPr lang="en-US" sz="1050" b="1" i="1" dirty="0">
                <a:solidFill>
                  <a:srgbClr val="2E7CC4"/>
                </a:solidFill>
                <a:latin typeface="Calibri" pitchFamily="34" charset="0"/>
                <a:ea typeface="Calibri" pitchFamily="34" charset="-122"/>
                <a:cs typeface="Calibri" pitchFamily="34" charset="-120"/>
              </a:rPr>
              <a:t>“Buy a house”</a:t>
            </a:r>
            <a:endParaRPr lang="en-US" sz="1050" dirty="0"/>
          </a:p>
        </p:txBody>
      </p:sp>
      <p:sp>
        <p:nvSpPr>
          <p:cNvPr id="10" name="Text 7"/>
          <p:cNvSpPr/>
          <p:nvPr/>
        </p:nvSpPr>
        <p:spPr>
          <a:xfrm>
            <a:off x="713232" y="3364992"/>
            <a:ext cx="1682496" cy="731520"/>
          </a:xfrm>
          <a:prstGeom prst="rect">
            <a:avLst/>
          </a:prstGeom>
          <a:noFill/>
          <a:ln/>
        </p:spPr>
        <p:txBody>
          <a:bodyPr wrap="square" lIns="0" tIns="0" rIns="0" bIns="0" rtlCol="0" anchor="t"/>
          <a:lstStyle/>
          <a:p>
            <a:pPr marL="0" indent="0" algn="ctr">
              <a:lnSpc>
                <a:spcPts val="1400"/>
              </a:lnSpc>
              <a:buNone/>
            </a:pPr>
            <a:r>
              <a:rPr lang="en-US" sz="1150" dirty="0">
                <a:solidFill>
                  <a:srgbClr val="2A3B4D"/>
                </a:solidFill>
                <a:latin typeface="Calibri" pitchFamily="34" charset="0"/>
                <a:ea typeface="Calibri" pitchFamily="34" charset="-122"/>
                <a:cs typeface="Calibri" pitchFamily="34" charset="-120"/>
              </a:rPr>
              <a:t>Full control of the machine and OS — you patch and maintain it.</a:t>
            </a:r>
            <a:endParaRPr lang="en-US" sz="1150" dirty="0"/>
          </a:p>
        </p:txBody>
      </p:sp>
      <p:sp>
        <p:nvSpPr>
          <p:cNvPr id="11" name="card">
            <a:extLst>
              <a:ext uri="{C183D7F6-B498-43B3-948B-1728B52AA6E4}">
                <adec:decorative xmlns:adec="http://schemas.microsoft.com/office/drawing/2017/decorative" val="1"/>
              </a:ext>
            </a:extLst>
          </p:cNvPr>
          <p:cNvSpPr/>
          <p:nvPr/>
        </p:nvSpPr>
        <p:spPr>
          <a:xfrm>
            <a:off x="2743200" y="1371600"/>
            <a:ext cx="1975104" cy="2788920"/>
          </a:xfrm>
          <a:prstGeom prst="roundRect">
            <a:avLst>
              <a:gd name="adj" fmla="val 5093"/>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2" name="icon tile">
            <a:extLst>
              <a:ext uri="{C183D7F6-B498-43B3-948B-1728B52AA6E4}">
                <adec:decorative xmlns:adec="http://schemas.microsoft.com/office/drawing/2017/decorative" val="1"/>
              </a:ext>
            </a:extLst>
          </p:cNvPr>
          <p:cNvSpPr/>
          <p:nvPr/>
        </p:nvSpPr>
        <p:spPr>
          <a:xfrm>
            <a:off x="3319272" y="1591056"/>
            <a:ext cx="822960" cy="822960"/>
          </a:xfrm>
          <a:prstGeom prst="roundRect">
            <a:avLst>
              <a:gd name="adj" fmla="val 15556"/>
            </a:avLst>
          </a:prstGeom>
          <a:solidFill>
            <a:srgbClr val="E2F3EE"/>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3" name="Image 1" descr="appwin icon"/>
          <p:cNvPicPr>
            <a:picLocks noChangeAspect="1"/>
          </p:cNvPicPr>
          <p:nvPr/>
        </p:nvPicPr>
        <p:blipFill>
          <a:blip r:embed="rId4"/>
          <a:stretch>
            <a:fillRect/>
          </a:stretch>
        </p:blipFill>
        <p:spPr>
          <a:xfrm>
            <a:off x="3442716" y="1768815"/>
            <a:ext cx="576072" cy="467441"/>
          </a:xfrm>
          <a:prstGeom prst="rect">
            <a:avLst/>
          </a:prstGeom>
        </p:spPr>
      </p:pic>
      <p:sp>
        <p:nvSpPr>
          <p:cNvPr id="14" name="Text 10"/>
          <p:cNvSpPr/>
          <p:nvPr/>
        </p:nvSpPr>
        <p:spPr>
          <a:xfrm>
            <a:off x="2834640" y="2487168"/>
            <a:ext cx="1792224" cy="457200"/>
          </a:xfrm>
          <a:prstGeom prst="rect">
            <a:avLst/>
          </a:prstGeom>
          <a:noFill/>
          <a:ln/>
        </p:spPr>
        <p:txBody>
          <a:bodyPr wrap="square" lIns="0" tIns="0" rIns="0" bIns="0" rtlCol="0" anchor="ctr"/>
          <a:lstStyle/>
          <a:p>
            <a:pPr marL="0" indent="0" algn="ctr">
              <a:lnSpc>
                <a:spcPts val="1500"/>
              </a:lnSpc>
              <a:buNone/>
            </a:pPr>
            <a:r>
              <a:rPr lang="en-US" sz="1350" b="1" dirty="0">
                <a:solidFill>
                  <a:srgbClr val="2FA98A"/>
                </a:solidFill>
                <a:latin typeface="Trebuchet MS" pitchFamily="34" charset="0"/>
                <a:ea typeface="Trebuchet MS" pitchFamily="34" charset="-122"/>
                <a:cs typeface="Trebuchet MS" pitchFamily="34" charset="-120"/>
              </a:rPr>
              <a:t>App Service</a:t>
            </a:r>
            <a:endParaRPr lang="en-US" sz="1350" dirty="0"/>
          </a:p>
        </p:txBody>
      </p:sp>
      <p:sp>
        <p:nvSpPr>
          <p:cNvPr id="15" name="analogy pill">
            <a:extLst>
              <a:ext uri="{C183D7F6-B498-43B3-948B-1728B52AA6E4}">
                <adec:decorative xmlns:adec="http://schemas.microsoft.com/office/drawing/2017/decorative" val="1"/>
              </a:ext>
            </a:extLst>
          </p:cNvPr>
          <p:cNvSpPr/>
          <p:nvPr/>
        </p:nvSpPr>
        <p:spPr>
          <a:xfrm>
            <a:off x="2999232" y="2971800"/>
            <a:ext cx="1463040" cy="310896"/>
          </a:xfrm>
          <a:prstGeom prst="roundRect">
            <a:avLst>
              <a:gd name="adj" fmla="val 50000"/>
            </a:avLst>
          </a:prstGeom>
          <a:solidFill>
            <a:srgbClr val="E2F3EE"/>
          </a:solidFill>
          <a:ln/>
        </p:spPr>
        <p:txBody>
          <a:bodyPr/>
          <a:lstStyle/>
          <a:p>
            <a:endParaRPr lang="en-HU"/>
          </a:p>
        </p:txBody>
      </p:sp>
      <p:sp>
        <p:nvSpPr>
          <p:cNvPr id="16" name="Text 12"/>
          <p:cNvSpPr/>
          <p:nvPr/>
        </p:nvSpPr>
        <p:spPr>
          <a:xfrm>
            <a:off x="2999232" y="2971800"/>
            <a:ext cx="1463040" cy="310896"/>
          </a:xfrm>
          <a:prstGeom prst="rect">
            <a:avLst/>
          </a:prstGeom>
          <a:noFill/>
          <a:ln/>
        </p:spPr>
        <p:txBody>
          <a:bodyPr wrap="square" lIns="0" tIns="0" rIns="0" bIns="0" rtlCol="0" anchor="ctr"/>
          <a:lstStyle/>
          <a:p>
            <a:pPr marL="0" indent="0" algn="ctr">
              <a:buNone/>
            </a:pPr>
            <a:r>
              <a:rPr lang="en-US" sz="1050" b="1" i="1" dirty="0">
                <a:solidFill>
                  <a:srgbClr val="2FA98A"/>
                </a:solidFill>
                <a:latin typeface="Calibri" pitchFamily="34" charset="0"/>
                <a:ea typeface="Calibri" pitchFamily="34" charset="-122"/>
                <a:cs typeface="Calibri" pitchFamily="34" charset="-120"/>
              </a:rPr>
              <a:t>“Rent an apartment”</a:t>
            </a:r>
            <a:endParaRPr lang="en-US" sz="1050" dirty="0"/>
          </a:p>
        </p:txBody>
      </p:sp>
      <p:sp>
        <p:nvSpPr>
          <p:cNvPr id="17" name="Text 13"/>
          <p:cNvSpPr/>
          <p:nvPr/>
        </p:nvSpPr>
        <p:spPr>
          <a:xfrm>
            <a:off x="2889504" y="3364992"/>
            <a:ext cx="1682496" cy="731520"/>
          </a:xfrm>
          <a:prstGeom prst="rect">
            <a:avLst/>
          </a:prstGeom>
          <a:noFill/>
          <a:ln/>
        </p:spPr>
        <p:txBody>
          <a:bodyPr wrap="square" lIns="0" tIns="0" rIns="0" bIns="0" rtlCol="0" anchor="t"/>
          <a:lstStyle/>
          <a:p>
            <a:pPr marL="0" indent="0" algn="ctr">
              <a:lnSpc>
                <a:spcPts val="1400"/>
              </a:lnSpc>
              <a:buNone/>
            </a:pPr>
            <a:r>
              <a:rPr lang="en-US" sz="1150" dirty="0">
                <a:solidFill>
                  <a:srgbClr val="2A3B4D"/>
                </a:solidFill>
                <a:latin typeface="Calibri" pitchFamily="34" charset="0"/>
                <a:ea typeface="Calibri" pitchFamily="34" charset="-122"/>
                <a:cs typeface="Calibri" pitchFamily="34" charset="-120"/>
              </a:rPr>
              <a:t>Just deploy your web app or API; Azure runs the servers.</a:t>
            </a:r>
            <a:endParaRPr lang="en-US" sz="1150" dirty="0"/>
          </a:p>
        </p:txBody>
      </p:sp>
      <p:sp>
        <p:nvSpPr>
          <p:cNvPr id="18" name="card">
            <a:extLst>
              <a:ext uri="{C183D7F6-B498-43B3-948B-1728B52AA6E4}">
                <adec:decorative xmlns:adec="http://schemas.microsoft.com/office/drawing/2017/decorative" val="1"/>
              </a:ext>
            </a:extLst>
          </p:cNvPr>
          <p:cNvSpPr/>
          <p:nvPr/>
        </p:nvSpPr>
        <p:spPr>
          <a:xfrm>
            <a:off x="4919472" y="1371600"/>
            <a:ext cx="1975104" cy="2788920"/>
          </a:xfrm>
          <a:prstGeom prst="roundRect">
            <a:avLst>
              <a:gd name="adj" fmla="val 5093"/>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9" name="icon tile">
            <a:extLst>
              <a:ext uri="{C183D7F6-B498-43B3-948B-1728B52AA6E4}">
                <adec:decorative xmlns:adec="http://schemas.microsoft.com/office/drawing/2017/decorative" val="1"/>
              </a:ext>
            </a:extLst>
          </p:cNvPr>
          <p:cNvSpPr/>
          <p:nvPr/>
        </p:nvSpPr>
        <p:spPr>
          <a:xfrm>
            <a:off x="5495544" y="1591056"/>
            <a:ext cx="822960" cy="822960"/>
          </a:xfrm>
          <a:prstGeom prst="roundRect">
            <a:avLst>
              <a:gd name="adj" fmla="val 15556"/>
            </a:avLst>
          </a:prstGeom>
          <a:solidFill>
            <a:srgbClr val="FAEFD8"/>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0" name="Image 2" descr="func icon"/>
          <p:cNvPicPr>
            <a:picLocks noChangeAspect="1"/>
          </p:cNvPicPr>
          <p:nvPr/>
        </p:nvPicPr>
        <p:blipFill>
          <a:blip r:embed="rId5"/>
          <a:stretch>
            <a:fillRect/>
          </a:stretch>
        </p:blipFill>
        <p:spPr>
          <a:xfrm>
            <a:off x="5618988" y="1717917"/>
            <a:ext cx="576072" cy="569237"/>
          </a:xfrm>
          <a:prstGeom prst="rect">
            <a:avLst/>
          </a:prstGeom>
        </p:spPr>
      </p:pic>
      <p:sp>
        <p:nvSpPr>
          <p:cNvPr id="21" name="Text 16"/>
          <p:cNvSpPr/>
          <p:nvPr/>
        </p:nvSpPr>
        <p:spPr>
          <a:xfrm>
            <a:off x="5010912" y="2487168"/>
            <a:ext cx="1792224" cy="457200"/>
          </a:xfrm>
          <a:prstGeom prst="rect">
            <a:avLst/>
          </a:prstGeom>
          <a:noFill/>
          <a:ln/>
        </p:spPr>
        <p:txBody>
          <a:bodyPr wrap="square" lIns="0" tIns="0" rIns="0" bIns="0" rtlCol="0" anchor="ctr"/>
          <a:lstStyle/>
          <a:p>
            <a:pPr marL="0" indent="0" algn="ctr">
              <a:lnSpc>
                <a:spcPts val="1500"/>
              </a:lnSpc>
              <a:buNone/>
            </a:pPr>
            <a:r>
              <a:rPr lang="en-US" sz="1350" b="1" dirty="0">
                <a:solidFill>
                  <a:srgbClr val="E4A031"/>
                </a:solidFill>
                <a:latin typeface="Trebuchet MS" pitchFamily="34" charset="0"/>
                <a:ea typeface="Trebuchet MS" pitchFamily="34" charset="-122"/>
                <a:cs typeface="Trebuchet MS" pitchFamily="34" charset="-120"/>
              </a:rPr>
              <a:t>Functions</a:t>
            </a:r>
            <a:endParaRPr lang="en-US" sz="1350" dirty="0"/>
          </a:p>
        </p:txBody>
      </p:sp>
      <p:sp>
        <p:nvSpPr>
          <p:cNvPr id="22" name="analogy pill">
            <a:extLst>
              <a:ext uri="{C183D7F6-B498-43B3-948B-1728B52AA6E4}">
                <adec:decorative xmlns:adec="http://schemas.microsoft.com/office/drawing/2017/decorative" val="1"/>
              </a:ext>
            </a:extLst>
          </p:cNvPr>
          <p:cNvSpPr/>
          <p:nvPr/>
        </p:nvSpPr>
        <p:spPr>
          <a:xfrm>
            <a:off x="5175504" y="2971800"/>
            <a:ext cx="1463040" cy="310896"/>
          </a:xfrm>
          <a:prstGeom prst="roundRect">
            <a:avLst>
              <a:gd name="adj" fmla="val 50000"/>
            </a:avLst>
          </a:prstGeom>
          <a:solidFill>
            <a:srgbClr val="FAEFD8"/>
          </a:solidFill>
          <a:ln/>
        </p:spPr>
        <p:txBody>
          <a:bodyPr/>
          <a:lstStyle/>
          <a:p>
            <a:endParaRPr lang="en-HU"/>
          </a:p>
        </p:txBody>
      </p:sp>
      <p:sp>
        <p:nvSpPr>
          <p:cNvPr id="23" name="Text 18"/>
          <p:cNvSpPr/>
          <p:nvPr/>
        </p:nvSpPr>
        <p:spPr>
          <a:xfrm>
            <a:off x="5175504" y="2971800"/>
            <a:ext cx="1463040" cy="310896"/>
          </a:xfrm>
          <a:prstGeom prst="rect">
            <a:avLst/>
          </a:prstGeom>
          <a:noFill/>
          <a:ln/>
        </p:spPr>
        <p:txBody>
          <a:bodyPr wrap="square" lIns="0" tIns="0" rIns="0" bIns="0" rtlCol="0" anchor="ctr"/>
          <a:lstStyle/>
          <a:p>
            <a:pPr marL="0" indent="0" algn="ctr">
              <a:buNone/>
            </a:pPr>
            <a:r>
              <a:rPr lang="en-US" sz="1050" b="1" i="1" dirty="0">
                <a:solidFill>
                  <a:srgbClr val="E4A031"/>
                </a:solidFill>
                <a:latin typeface="Calibri" pitchFamily="34" charset="0"/>
                <a:ea typeface="Calibri" pitchFamily="34" charset="-122"/>
                <a:cs typeface="Calibri" pitchFamily="34" charset="-120"/>
              </a:rPr>
              <a:t>“Pay per visit”</a:t>
            </a:r>
            <a:endParaRPr lang="en-US" sz="1050" dirty="0"/>
          </a:p>
        </p:txBody>
      </p:sp>
      <p:sp>
        <p:nvSpPr>
          <p:cNvPr id="24" name="Text 19"/>
          <p:cNvSpPr/>
          <p:nvPr/>
        </p:nvSpPr>
        <p:spPr>
          <a:xfrm>
            <a:off x="5065776" y="3364992"/>
            <a:ext cx="1682496" cy="731520"/>
          </a:xfrm>
          <a:prstGeom prst="rect">
            <a:avLst/>
          </a:prstGeom>
          <a:noFill/>
          <a:ln/>
        </p:spPr>
        <p:txBody>
          <a:bodyPr wrap="square" lIns="0" tIns="0" rIns="0" bIns="0" rtlCol="0" anchor="t"/>
          <a:lstStyle/>
          <a:p>
            <a:pPr marL="0" indent="0" algn="ctr">
              <a:lnSpc>
                <a:spcPts val="1400"/>
              </a:lnSpc>
              <a:buNone/>
            </a:pPr>
            <a:r>
              <a:rPr lang="en-US" sz="1150" dirty="0">
                <a:solidFill>
                  <a:srgbClr val="2A3B4D"/>
                </a:solidFill>
                <a:latin typeface="Calibri" pitchFamily="34" charset="0"/>
                <a:ea typeface="Calibri" pitchFamily="34" charset="-122"/>
                <a:cs typeface="Calibri" pitchFamily="34" charset="-120"/>
              </a:rPr>
              <a:t>Tiny code that runs only when triggered — pay per execution.</a:t>
            </a:r>
            <a:endParaRPr lang="en-US" sz="1150" dirty="0"/>
          </a:p>
        </p:txBody>
      </p:sp>
      <p:sp>
        <p:nvSpPr>
          <p:cNvPr id="25" name="card">
            <a:extLst>
              <a:ext uri="{C183D7F6-B498-43B3-948B-1728B52AA6E4}">
                <adec:decorative xmlns:adec="http://schemas.microsoft.com/office/drawing/2017/decorative" val="1"/>
              </a:ext>
            </a:extLst>
          </p:cNvPr>
          <p:cNvSpPr/>
          <p:nvPr/>
        </p:nvSpPr>
        <p:spPr>
          <a:xfrm>
            <a:off x="7095744" y="1371600"/>
            <a:ext cx="1975104" cy="2788920"/>
          </a:xfrm>
          <a:prstGeom prst="roundRect">
            <a:avLst>
              <a:gd name="adj" fmla="val 5093"/>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6" name="icon tile">
            <a:extLst>
              <a:ext uri="{C183D7F6-B498-43B3-948B-1728B52AA6E4}">
                <adec:decorative xmlns:adec="http://schemas.microsoft.com/office/drawing/2017/decorative" val="1"/>
              </a:ext>
            </a:extLst>
          </p:cNvPr>
          <p:cNvSpPr/>
          <p:nvPr/>
        </p:nvSpPr>
        <p:spPr>
          <a:xfrm>
            <a:off x="7671816" y="1591056"/>
            <a:ext cx="822960" cy="822960"/>
          </a:xfrm>
          <a:prstGeom prst="roundRect">
            <a:avLst>
              <a:gd name="adj" fmla="val 15556"/>
            </a:avLst>
          </a:prstGeom>
          <a:solidFill>
            <a:srgbClr val="FBE7E1"/>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7" name="Image 3" descr="container icon"/>
          <p:cNvPicPr>
            <a:picLocks noChangeAspect="1"/>
          </p:cNvPicPr>
          <p:nvPr/>
        </p:nvPicPr>
        <p:blipFill>
          <a:blip r:embed="rId6"/>
          <a:stretch>
            <a:fillRect/>
          </a:stretch>
        </p:blipFill>
        <p:spPr>
          <a:xfrm>
            <a:off x="7795260" y="1714500"/>
            <a:ext cx="576072" cy="576072"/>
          </a:xfrm>
          <a:prstGeom prst="rect">
            <a:avLst/>
          </a:prstGeom>
        </p:spPr>
      </p:pic>
      <p:sp>
        <p:nvSpPr>
          <p:cNvPr id="28" name="Text 22"/>
          <p:cNvSpPr/>
          <p:nvPr/>
        </p:nvSpPr>
        <p:spPr>
          <a:xfrm>
            <a:off x="7187184" y="2487168"/>
            <a:ext cx="1792224" cy="457200"/>
          </a:xfrm>
          <a:prstGeom prst="rect">
            <a:avLst/>
          </a:prstGeom>
          <a:noFill/>
          <a:ln/>
        </p:spPr>
        <p:txBody>
          <a:bodyPr wrap="square" lIns="0" tIns="0" rIns="0" bIns="0" rtlCol="0" anchor="ctr"/>
          <a:lstStyle/>
          <a:p>
            <a:pPr marL="0" indent="0" algn="ctr">
              <a:lnSpc>
                <a:spcPts val="1500"/>
              </a:lnSpc>
              <a:buNone/>
            </a:pPr>
            <a:r>
              <a:rPr lang="en-US" sz="1350" b="1" dirty="0">
                <a:solidFill>
                  <a:srgbClr val="EF6F58"/>
                </a:solidFill>
                <a:latin typeface="Trebuchet MS" pitchFamily="34" charset="0"/>
                <a:ea typeface="Trebuchet MS" pitchFamily="34" charset="-122"/>
                <a:cs typeface="Trebuchet MS" pitchFamily="34" charset="-120"/>
              </a:rPr>
              <a:t>Containers</a:t>
            </a:r>
            <a:endParaRPr lang="en-US" sz="1350" dirty="0"/>
          </a:p>
        </p:txBody>
      </p:sp>
      <p:sp>
        <p:nvSpPr>
          <p:cNvPr id="29" name="analogy pill">
            <a:extLst>
              <a:ext uri="{C183D7F6-B498-43B3-948B-1728B52AA6E4}">
                <adec:decorative xmlns:adec="http://schemas.microsoft.com/office/drawing/2017/decorative" val="1"/>
              </a:ext>
            </a:extLst>
          </p:cNvPr>
          <p:cNvSpPr/>
          <p:nvPr/>
        </p:nvSpPr>
        <p:spPr>
          <a:xfrm>
            <a:off x="7351776" y="2971800"/>
            <a:ext cx="1463040" cy="310896"/>
          </a:xfrm>
          <a:prstGeom prst="roundRect">
            <a:avLst>
              <a:gd name="adj" fmla="val 50000"/>
            </a:avLst>
          </a:prstGeom>
          <a:solidFill>
            <a:srgbClr val="FBE7E1"/>
          </a:solidFill>
          <a:ln/>
        </p:spPr>
        <p:txBody>
          <a:bodyPr/>
          <a:lstStyle/>
          <a:p>
            <a:endParaRPr lang="en-HU"/>
          </a:p>
        </p:txBody>
      </p:sp>
      <p:sp>
        <p:nvSpPr>
          <p:cNvPr id="30" name="Text 24"/>
          <p:cNvSpPr/>
          <p:nvPr/>
        </p:nvSpPr>
        <p:spPr>
          <a:xfrm>
            <a:off x="7351776" y="2971800"/>
            <a:ext cx="1463040" cy="310896"/>
          </a:xfrm>
          <a:prstGeom prst="rect">
            <a:avLst/>
          </a:prstGeom>
          <a:noFill/>
          <a:ln/>
        </p:spPr>
        <p:txBody>
          <a:bodyPr wrap="square" lIns="0" tIns="0" rIns="0" bIns="0" rtlCol="0" anchor="ctr"/>
          <a:lstStyle/>
          <a:p>
            <a:pPr marL="0" indent="0" algn="ctr">
              <a:buNone/>
            </a:pPr>
            <a:r>
              <a:rPr lang="en-US" sz="1050" b="1" i="1" dirty="0">
                <a:solidFill>
                  <a:srgbClr val="EF6F58"/>
                </a:solidFill>
                <a:latin typeface="Calibri" pitchFamily="34" charset="0"/>
                <a:ea typeface="Calibri" pitchFamily="34" charset="-122"/>
                <a:cs typeface="Calibri" pitchFamily="34" charset="-120"/>
              </a:rPr>
              <a:t>“Modular home”</a:t>
            </a:r>
            <a:endParaRPr lang="en-US" sz="1050" dirty="0"/>
          </a:p>
        </p:txBody>
      </p:sp>
      <p:sp>
        <p:nvSpPr>
          <p:cNvPr id="31" name="Text 25"/>
          <p:cNvSpPr/>
          <p:nvPr/>
        </p:nvSpPr>
        <p:spPr>
          <a:xfrm>
            <a:off x="7242048" y="3364992"/>
            <a:ext cx="1682496" cy="731520"/>
          </a:xfrm>
          <a:prstGeom prst="rect">
            <a:avLst/>
          </a:prstGeom>
          <a:noFill/>
          <a:ln/>
        </p:spPr>
        <p:txBody>
          <a:bodyPr wrap="square" lIns="0" tIns="0" rIns="0" bIns="0" rtlCol="0" anchor="t"/>
          <a:lstStyle/>
          <a:p>
            <a:pPr marL="0" indent="0" algn="ctr">
              <a:lnSpc>
                <a:spcPts val="1400"/>
              </a:lnSpc>
              <a:buNone/>
            </a:pPr>
            <a:r>
              <a:rPr lang="en-US" sz="1150" dirty="0">
                <a:solidFill>
                  <a:srgbClr val="2A3B4D"/>
                </a:solidFill>
                <a:latin typeface="Calibri" pitchFamily="34" charset="0"/>
                <a:ea typeface="Calibri" pitchFamily="34" charset="-122"/>
                <a:cs typeface="Calibri" pitchFamily="34" charset="-120"/>
              </a:rPr>
              <a:t>Package apps to run anywhere and scale piece by piece.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COMPUTE FUNDAMENTALS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A quick rule of thumb</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371600"/>
            <a:ext cx="8010144" cy="749808"/>
          </a:xfrm>
          <a:prstGeom prst="roundRect">
            <a:avLst>
              <a:gd name="adj" fmla="val 13415"/>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731520" y="1490472"/>
            <a:ext cx="512064" cy="512064"/>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vm icon"/>
          <p:cNvPicPr>
            <a:picLocks noChangeAspect="1"/>
          </p:cNvPicPr>
          <p:nvPr/>
        </p:nvPicPr>
        <p:blipFill>
          <a:blip r:embed="rId3"/>
          <a:stretch>
            <a:fillRect/>
          </a:stretch>
        </p:blipFill>
        <p:spPr>
          <a:xfrm>
            <a:off x="808330" y="1601698"/>
            <a:ext cx="358445" cy="289611"/>
          </a:xfrm>
          <a:prstGeom prst="rect">
            <a:avLst/>
          </a:prstGeom>
        </p:spPr>
      </p:pic>
      <p:sp>
        <p:nvSpPr>
          <p:cNvPr id="7" name="Text 4"/>
          <p:cNvSpPr/>
          <p:nvPr/>
        </p:nvSpPr>
        <p:spPr>
          <a:xfrm>
            <a:off x="1435608" y="1371600"/>
            <a:ext cx="4480560" cy="749808"/>
          </a:xfrm>
          <a:prstGeom prst="rect">
            <a:avLst/>
          </a:prstGeom>
          <a:noFill/>
          <a:ln/>
        </p:spPr>
        <p:txBody>
          <a:bodyPr wrap="square" lIns="0" tIns="0" rIns="0" bIns="0" rtlCol="0" anchor="ctr"/>
          <a:lstStyle/>
          <a:p>
            <a:pPr marL="0" indent="0">
              <a:buNone/>
            </a:pPr>
            <a:r>
              <a:rPr lang="en-US" sz="1400" dirty="0">
                <a:solidFill>
                  <a:srgbClr val="2A3B4D"/>
                </a:solidFill>
                <a:latin typeface="Calibri" pitchFamily="34" charset="0"/>
                <a:ea typeface="Calibri" pitchFamily="34" charset="-122"/>
                <a:cs typeface="Calibri" pitchFamily="34" charset="-120"/>
              </a:rPr>
              <a:t>Need full control of the operating system?</a:t>
            </a:r>
            <a:endParaRPr lang="en-US" sz="1400" dirty="0"/>
          </a:p>
        </p:txBody>
      </p:sp>
      <p:sp>
        <p:nvSpPr>
          <p:cNvPr id="8" name="Text 5"/>
          <p:cNvSpPr/>
          <p:nvPr/>
        </p:nvSpPr>
        <p:spPr>
          <a:xfrm>
            <a:off x="5824728" y="1371600"/>
            <a:ext cx="457200" cy="749808"/>
          </a:xfrm>
          <a:prstGeom prst="rect">
            <a:avLst/>
          </a:prstGeom>
          <a:noFill/>
          <a:ln/>
        </p:spPr>
        <p:txBody>
          <a:bodyPr wrap="square" lIns="0" tIns="0" rIns="0" bIns="0" rtlCol="0" anchor="ctr"/>
          <a:lstStyle/>
          <a:p>
            <a:pPr marL="0" indent="0" algn="ctr">
              <a:buNone/>
            </a:pPr>
            <a:r>
              <a:rPr lang="en-US" sz="2000" b="1" dirty="0">
                <a:solidFill>
                  <a:srgbClr val="6E8298"/>
                </a:solidFill>
                <a:latin typeface="Trebuchet MS" pitchFamily="34" charset="0"/>
                <a:ea typeface="Trebuchet MS" pitchFamily="34" charset="-122"/>
                <a:cs typeface="Trebuchet MS" pitchFamily="34" charset="-120"/>
              </a:rPr>
              <a:t>→</a:t>
            </a:r>
            <a:endParaRPr lang="en-US" sz="2000" dirty="0"/>
          </a:p>
        </p:txBody>
      </p:sp>
      <p:sp>
        <p:nvSpPr>
          <p:cNvPr id="9" name="answer">
            <a:extLst>
              <a:ext uri="{C183D7F6-B498-43B3-948B-1728B52AA6E4}">
                <adec:decorative xmlns:adec="http://schemas.microsoft.com/office/drawing/2017/decorative" val="1"/>
              </a:ext>
            </a:extLst>
          </p:cNvPr>
          <p:cNvSpPr/>
          <p:nvPr/>
        </p:nvSpPr>
        <p:spPr>
          <a:xfrm>
            <a:off x="6428232" y="1527048"/>
            <a:ext cx="1965960" cy="438912"/>
          </a:xfrm>
          <a:prstGeom prst="roundRect">
            <a:avLst>
              <a:gd name="adj" fmla="val 50000"/>
            </a:avLst>
          </a:prstGeom>
          <a:solidFill>
            <a:srgbClr val="2E7CC4"/>
          </a:solidFill>
          <a:ln/>
        </p:spPr>
        <p:txBody>
          <a:bodyPr/>
          <a:lstStyle/>
          <a:p>
            <a:endParaRPr lang="en-HU"/>
          </a:p>
        </p:txBody>
      </p:sp>
      <p:sp>
        <p:nvSpPr>
          <p:cNvPr id="10" name="Text 7"/>
          <p:cNvSpPr/>
          <p:nvPr/>
        </p:nvSpPr>
        <p:spPr>
          <a:xfrm>
            <a:off x="6428232" y="1527048"/>
            <a:ext cx="196596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Trebuchet MS" pitchFamily="34" charset="0"/>
                <a:ea typeface="Trebuchet MS" pitchFamily="34" charset="-122"/>
                <a:cs typeface="Trebuchet MS" pitchFamily="34" charset="-120"/>
              </a:rPr>
              <a:t>Virtual Machines</a:t>
            </a:r>
            <a:endParaRPr lang="en-US" sz="1250" dirty="0"/>
          </a:p>
        </p:txBody>
      </p:sp>
      <p:sp>
        <p:nvSpPr>
          <p:cNvPr id="11" name="card">
            <a:extLst>
              <a:ext uri="{C183D7F6-B498-43B3-948B-1728B52AA6E4}">
                <adec:decorative xmlns:adec="http://schemas.microsoft.com/office/drawing/2017/decorative" val="1"/>
              </a:ext>
            </a:extLst>
          </p:cNvPr>
          <p:cNvSpPr/>
          <p:nvPr/>
        </p:nvSpPr>
        <p:spPr>
          <a:xfrm>
            <a:off x="566928" y="2249424"/>
            <a:ext cx="8010144" cy="749808"/>
          </a:xfrm>
          <a:prstGeom prst="roundRect">
            <a:avLst>
              <a:gd name="adj" fmla="val 13415"/>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2" name="icon tile">
            <a:extLst>
              <a:ext uri="{C183D7F6-B498-43B3-948B-1728B52AA6E4}">
                <adec:decorative xmlns:adec="http://schemas.microsoft.com/office/drawing/2017/decorative" val="1"/>
              </a:ext>
            </a:extLst>
          </p:cNvPr>
          <p:cNvSpPr/>
          <p:nvPr/>
        </p:nvSpPr>
        <p:spPr>
          <a:xfrm>
            <a:off x="731520" y="2368296"/>
            <a:ext cx="512064" cy="512064"/>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3" name="Image 1" descr="appwin icon"/>
          <p:cNvPicPr>
            <a:picLocks noChangeAspect="1"/>
          </p:cNvPicPr>
          <p:nvPr/>
        </p:nvPicPr>
        <p:blipFill>
          <a:blip r:embed="rId4"/>
          <a:stretch>
            <a:fillRect/>
          </a:stretch>
        </p:blipFill>
        <p:spPr>
          <a:xfrm>
            <a:off x="808330" y="2478902"/>
            <a:ext cx="358445" cy="290852"/>
          </a:xfrm>
          <a:prstGeom prst="rect">
            <a:avLst/>
          </a:prstGeom>
        </p:spPr>
      </p:pic>
      <p:sp>
        <p:nvSpPr>
          <p:cNvPr id="14" name="Text 10"/>
          <p:cNvSpPr/>
          <p:nvPr/>
        </p:nvSpPr>
        <p:spPr>
          <a:xfrm>
            <a:off x="1435608" y="2249424"/>
            <a:ext cx="4480560" cy="749808"/>
          </a:xfrm>
          <a:prstGeom prst="rect">
            <a:avLst/>
          </a:prstGeom>
          <a:noFill/>
          <a:ln/>
        </p:spPr>
        <p:txBody>
          <a:bodyPr wrap="square" lIns="0" tIns="0" rIns="0" bIns="0" rtlCol="0" anchor="ctr"/>
          <a:lstStyle/>
          <a:p>
            <a:pPr marL="0" indent="0">
              <a:buNone/>
            </a:pPr>
            <a:r>
              <a:rPr lang="en-US" sz="1400" dirty="0">
                <a:solidFill>
                  <a:srgbClr val="2A3B4D"/>
                </a:solidFill>
                <a:latin typeface="Calibri" pitchFamily="34" charset="0"/>
                <a:ea typeface="Calibri" pitchFamily="34" charset="-122"/>
                <a:cs typeface="Calibri" pitchFamily="34" charset="-120"/>
              </a:rPr>
              <a:t>Just hosting a website or API?</a:t>
            </a:r>
            <a:endParaRPr lang="en-US" sz="1400" dirty="0"/>
          </a:p>
        </p:txBody>
      </p:sp>
      <p:sp>
        <p:nvSpPr>
          <p:cNvPr id="15" name="Text 11"/>
          <p:cNvSpPr/>
          <p:nvPr/>
        </p:nvSpPr>
        <p:spPr>
          <a:xfrm>
            <a:off x="5824728" y="2249424"/>
            <a:ext cx="457200" cy="749808"/>
          </a:xfrm>
          <a:prstGeom prst="rect">
            <a:avLst/>
          </a:prstGeom>
          <a:noFill/>
          <a:ln/>
        </p:spPr>
        <p:txBody>
          <a:bodyPr wrap="square" lIns="0" tIns="0" rIns="0" bIns="0" rtlCol="0" anchor="ctr"/>
          <a:lstStyle/>
          <a:p>
            <a:pPr marL="0" indent="0" algn="ctr">
              <a:buNone/>
            </a:pPr>
            <a:r>
              <a:rPr lang="en-US" sz="2000" b="1" dirty="0">
                <a:solidFill>
                  <a:srgbClr val="6E8298"/>
                </a:solidFill>
                <a:latin typeface="Trebuchet MS" pitchFamily="34" charset="0"/>
                <a:ea typeface="Trebuchet MS" pitchFamily="34" charset="-122"/>
                <a:cs typeface="Trebuchet MS" pitchFamily="34" charset="-120"/>
              </a:rPr>
              <a:t>→</a:t>
            </a:r>
            <a:endParaRPr lang="en-US" sz="2000" dirty="0"/>
          </a:p>
        </p:txBody>
      </p:sp>
      <p:sp>
        <p:nvSpPr>
          <p:cNvPr id="16" name="answer">
            <a:extLst>
              <a:ext uri="{C183D7F6-B498-43B3-948B-1728B52AA6E4}">
                <adec:decorative xmlns:adec="http://schemas.microsoft.com/office/drawing/2017/decorative" val="1"/>
              </a:ext>
            </a:extLst>
          </p:cNvPr>
          <p:cNvSpPr/>
          <p:nvPr/>
        </p:nvSpPr>
        <p:spPr>
          <a:xfrm>
            <a:off x="6428232" y="2404872"/>
            <a:ext cx="1965960" cy="438912"/>
          </a:xfrm>
          <a:prstGeom prst="roundRect">
            <a:avLst>
              <a:gd name="adj" fmla="val 50000"/>
            </a:avLst>
          </a:prstGeom>
          <a:solidFill>
            <a:srgbClr val="2FA98A"/>
          </a:solidFill>
          <a:ln/>
        </p:spPr>
        <p:txBody>
          <a:bodyPr/>
          <a:lstStyle/>
          <a:p>
            <a:endParaRPr lang="en-HU"/>
          </a:p>
        </p:txBody>
      </p:sp>
      <p:sp>
        <p:nvSpPr>
          <p:cNvPr id="17" name="Text 13"/>
          <p:cNvSpPr/>
          <p:nvPr/>
        </p:nvSpPr>
        <p:spPr>
          <a:xfrm>
            <a:off x="6428232" y="2404872"/>
            <a:ext cx="196596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Trebuchet MS" pitchFamily="34" charset="0"/>
                <a:ea typeface="Trebuchet MS" pitchFamily="34" charset="-122"/>
                <a:cs typeface="Trebuchet MS" pitchFamily="34" charset="-120"/>
              </a:rPr>
              <a:t>App Service</a:t>
            </a:r>
            <a:endParaRPr lang="en-US" sz="1250" dirty="0"/>
          </a:p>
        </p:txBody>
      </p:sp>
      <p:sp>
        <p:nvSpPr>
          <p:cNvPr id="18" name="card">
            <a:extLst>
              <a:ext uri="{C183D7F6-B498-43B3-948B-1728B52AA6E4}">
                <adec:decorative xmlns:adec="http://schemas.microsoft.com/office/drawing/2017/decorative" val="1"/>
              </a:ext>
            </a:extLst>
          </p:cNvPr>
          <p:cNvSpPr/>
          <p:nvPr/>
        </p:nvSpPr>
        <p:spPr>
          <a:xfrm>
            <a:off x="566928" y="3127248"/>
            <a:ext cx="8010144" cy="749808"/>
          </a:xfrm>
          <a:prstGeom prst="roundRect">
            <a:avLst>
              <a:gd name="adj" fmla="val 13415"/>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9" name="icon tile">
            <a:extLst>
              <a:ext uri="{C183D7F6-B498-43B3-948B-1728B52AA6E4}">
                <adec:decorative xmlns:adec="http://schemas.microsoft.com/office/drawing/2017/decorative" val="1"/>
              </a:ext>
            </a:extLst>
          </p:cNvPr>
          <p:cNvSpPr/>
          <p:nvPr/>
        </p:nvSpPr>
        <p:spPr>
          <a:xfrm>
            <a:off x="731520" y="3246120"/>
            <a:ext cx="512064" cy="512064"/>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0" name="Image 2" descr="func icon"/>
          <p:cNvPicPr>
            <a:picLocks noChangeAspect="1"/>
          </p:cNvPicPr>
          <p:nvPr/>
        </p:nvPicPr>
        <p:blipFill>
          <a:blip r:embed="rId5"/>
          <a:stretch>
            <a:fillRect/>
          </a:stretch>
        </p:blipFill>
        <p:spPr>
          <a:xfrm>
            <a:off x="808330" y="3325056"/>
            <a:ext cx="358445" cy="354192"/>
          </a:xfrm>
          <a:prstGeom prst="rect">
            <a:avLst/>
          </a:prstGeom>
        </p:spPr>
      </p:pic>
      <p:sp>
        <p:nvSpPr>
          <p:cNvPr id="21" name="Text 16"/>
          <p:cNvSpPr/>
          <p:nvPr/>
        </p:nvSpPr>
        <p:spPr>
          <a:xfrm>
            <a:off x="1435608" y="3127248"/>
            <a:ext cx="4480560" cy="749808"/>
          </a:xfrm>
          <a:prstGeom prst="rect">
            <a:avLst/>
          </a:prstGeom>
          <a:noFill/>
          <a:ln/>
        </p:spPr>
        <p:txBody>
          <a:bodyPr wrap="square" lIns="0" tIns="0" rIns="0" bIns="0" rtlCol="0" anchor="ctr"/>
          <a:lstStyle/>
          <a:p>
            <a:pPr marL="0" indent="0">
              <a:buNone/>
            </a:pPr>
            <a:r>
              <a:rPr lang="en-US" sz="1400" dirty="0">
                <a:solidFill>
                  <a:srgbClr val="2A3B4D"/>
                </a:solidFill>
                <a:latin typeface="Calibri" pitchFamily="34" charset="0"/>
                <a:ea typeface="Calibri" pitchFamily="34" charset="-122"/>
                <a:cs typeface="Calibri" pitchFamily="34" charset="-120"/>
              </a:rPr>
              <a:t>Short, event-driven tasks?</a:t>
            </a:r>
            <a:endParaRPr lang="en-US" sz="1400" dirty="0"/>
          </a:p>
        </p:txBody>
      </p:sp>
      <p:sp>
        <p:nvSpPr>
          <p:cNvPr id="22" name="Text 17"/>
          <p:cNvSpPr/>
          <p:nvPr/>
        </p:nvSpPr>
        <p:spPr>
          <a:xfrm>
            <a:off x="5824728" y="3127248"/>
            <a:ext cx="457200" cy="749808"/>
          </a:xfrm>
          <a:prstGeom prst="rect">
            <a:avLst/>
          </a:prstGeom>
          <a:noFill/>
          <a:ln/>
        </p:spPr>
        <p:txBody>
          <a:bodyPr wrap="square" lIns="0" tIns="0" rIns="0" bIns="0" rtlCol="0" anchor="ctr"/>
          <a:lstStyle/>
          <a:p>
            <a:pPr marL="0" indent="0" algn="ctr">
              <a:buNone/>
            </a:pPr>
            <a:r>
              <a:rPr lang="en-US" sz="2000" b="1" dirty="0">
                <a:solidFill>
                  <a:srgbClr val="6E8298"/>
                </a:solidFill>
                <a:latin typeface="Trebuchet MS" pitchFamily="34" charset="0"/>
                <a:ea typeface="Trebuchet MS" pitchFamily="34" charset="-122"/>
                <a:cs typeface="Trebuchet MS" pitchFamily="34" charset="-120"/>
              </a:rPr>
              <a:t>→</a:t>
            </a:r>
            <a:endParaRPr lang="en-US" sz="2000" dirty="0"/>
          </a:p>
        </p:txBody>
      </p:sp>
      <p:sp>
        <p:nvSpPr>
          <p:cNvPr id="23" name="answer">
            <a:extLst>
              <a:ext uri="{C183D7F6-B498-43B3-948B-1728B52AA6E4}">
                <adec:decorative xmlns:adec="http://schemas.microsoft.com/office/drawing/2017/decorative" val="1"/>
              </a:ext>
            </a:extLst>
          </p:cNvPr>
          <p:cNvSpPr/>
          <p:nvPr/>
        </p:nvSpPr>
        <p:spPr>
          <a:xfrm>
            <a:off x="6428232" y="3282696"/>
            <a:ext cx="1965960" cy="438912"/>
          </a:xfrm>
          <a:prstGeom prst="roundRect">
            <a:avLst>
              <a:gd name="adj" fmla="val 50000"/>
            </a:avLst>
          </a:prstGeom>
          <a:solidFill>
            <a:srgbClr val="E4A031"/>
          </a:solidFill>
          <a:ln/>
        </p:spPr>
        <p:txBody>
          <a:bodyPr/>
          <a:lstStyle/>
          <a:p>
            <a:endParaRPr lang="en-HU"/>
          </a:p>
        </p:txBody>
      </p:sp>
      <p:sp>
        <p:nvSpPr>
          <p:cNvPr id="24" name="Text 19"/>
          <p:cNvSpPr/>
          <p:nvPr/>
        </p:nvSpPr>
        <p:spPr>
          <a:xfrm>
            <a:off x="6428232" y="3282696"/>
            <a:ext cx="196596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Trebuchet MS" pitchFamily="34" charset="0"/>
                <a:ea typeface="Trebuchet MS" pitchFamily="34" charset="-122"/>
                <a:cs typeface="Trebuchet MS" pitchFamily="34" charset="-120"/>
              </a:rPr>
              <a:t>Azure Functions</a:t>
            </a:r>
            <a:endParaRPr lang="en-US" sz="1250" dirty="0"/>
          </a:p>
        </p:txBody>
      </p:sp>
      <p:sp>
        <p:nvSpPr>
          <p:cNvPr id="25" name="card">
            <a:extLst>
              <a:ext uri="{C183D7F6-B498-43B3-948B-1728B52AA6E4}">
                <adec:decorative xmlns:adec="http://schemas.microsoft.com/office/drawing/2017/decorative" val="1"/>
              </a:ext>
            </a:extLst>
          </p:cNvPr>
          <p:cNvSpPr/>
          <p:nvPr/>
        </p:nvSpPr>
        <p:spPr>
          <a:xfrm>
            <a:off x="566928" y="4005072"/>
            <a:ext cx="8010144" cy="749808"/>
          </a:xfrm>
          <a:prstGeom prst="roundRect">
            <a:avLst>
              <a:gd name="adj" fmla="val 13415"/>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6" name="icon tile">
            <a:extLst>
              <a:ext uri="{C183D7F6-B498-43B3-948B-1728B52AA6E4}">
                <adec:decorative xmlns:adec="http://schemas.microsoft.com/office/drawing/2017/decorative" val="1"/>
              </a:ext>
            </a:extLst>
          </p:cNvPr>
          <p:cNvSpPr/>
          <p:nvPr/>
        </p:nvSpPr>
        <p:spPr>
          <a:xfrm>
            <a:off x="731520" y="4123944"/>
            <a:ext cx="512064" cy="512064"/>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7" name="Image 3" descr="container icon"/>
          <p:cNvPicPr>
            <a:picLocks noChangeAspect="1"/>
          </p:cNvPicPr>
          <p:nvPr/>
        </p:nvPicPr>
        <p:blipFill>
          <a:blip r:embed="rId6"/>
          <a:stretch>
            <a:fillRect/>
          </a:stretch>
        </p:blipFill>
        <p:spPr>
          <a:xfrm>
            <a:off x="808330" y="4200754"/>
            <a:ext cx="358445" cy="358445"/>
          </a:xfrm>
          <a:prstGeom prst="rect">
            <a:avLst/>
          </a:prstGeom>
        </p:spPr>
      </p:pic>
      <p:sp>
        <p:nvSpPr>
          <p:cNvPr id="28" name="Text 22"/>
          <p:cNvSpPr/>
          <p:nvPr/>
        </p:nvSpPr>
        <p:spPr>
          <a:xfrm>
            <a:off x="1435608" y="4005072"/>
            <a:ext cx="4480560" cy="749808"/>
          </a:xfrm>
          <a:prstGeom prst="rect">
            <a:avLst/>
          </a:prstGeom>
          <a:noFill/>
          <a:ln/>
        </p:spPr>
        <p:txBody>
          <a:bodyPr wrap="square" lIns="0" tIns="0" rIns="0" bIns="0" rtlCol="0" anchor="ctr"/>
          <a:lstStyle/>
          <a:p>
            <a:pPr marL="0" indent="0">
              <a:buNone/>
            </a:pPr>
            <a:r>
              <a:rPr lang="en-US" sz="1400" dirty="0">
                <a:solidFill>
                  <a:srgbClr val="2A3B4D"/>
                </a:solidFill>
                <a:latin typeface="Calibri" pitchFamily="34" charset="0"/>
                <a:ea typeface="Calibri" pitchFamily="34" charset="-122"/>
                <a:cs typeface="Calibri" pitchFamily="34" charset="-120"/>
              </a:rPr>
              <a:t>Portable microservices that scale?</a:t>
            </a:r>
            <a:endParaRPr lang="en-US" sz="1400" dirty="0"/>
          </a:p>
        </p:txBody>
      </p:sp>
      <p:sp>
        <p:nvSpPr>
          <p:cNvPr id="29" name="Text 23"/>
          <p:cNvSpPr/>
          <p:nvPr/>
        </p:nvSpPr>
        <p:spPr>
          <a:xfrm>
            <a:off x="5824728" y="4005072"/>
            <a:ext cx="457200" cy="749808"/>
          </a:xfrm>
          <a:prstGeom prst="rect">
            <a:avLst/>
          </a:prstGeom>
          <a:noFill/>
          <a:ln/>
        </p:spPr>
        <p:txBody>
          <a:bodyPr wrap="square" lIns="0" tIns="0" rIns="0" bIns="0" rtlCol="0" anchor="ctr"/>
          <a:lstStyle/>
          <a:p>
            <a:pPr marL="0" indent="0" algn="ctr">
              <a:buNone/>
            </a:pPr>
            <a:r>
              <a:rPr lang="en-US" sz="2000" b="1" dirty="0">
                <a:solidFill>
                  <a:srgbClr val="6E8298"/>
                </a:solidFill>
                <a:latin typeface="Trebuchet MS" pitchFamily="34" charset="0"/>
                <a:ea typeface="Trebuchet MS" pitchFamily="34" charset="-122"/>
                <a:cs typeface="Trebuchet MS" pitchFamily="34" charset="-120"/>
              </a:rPr>
              <a:t>→</a:t>
            </a:r>
            <a:endParaRPr lang="en-US" sz="2000" dirty="0"/>
          </a:p>
        </p:txBody>
      </p:sp>
      <p:sp>
        <p:nvSpPr>
          <p:cNvPr id="30" name="answer">
            <a:extLst>
              <a:ext uri="{C183D7F6-B498-43B3-948B-1728B52AA6E4}">
                <adec:decorative xmlns:adec="http://schemas.microsoft.com/office/drawing/2017/decorative" val="1"/>
              </a:ext>
            </a:extLst>
          </p:cNvPr>
          <p:cNvSpPr/>
          <p:nvPr/>
        </p:nvSpPr>
        <p:spPr>
          <a:xfrm>
            <a:off x="6428232" y="4160520"/>
            <a:ext cx="1965960" cy="438912"/>
          </a:xfrm>
          <a:prstGeom prst="roundRect">
            <a:avLst>
              <a:gd name="adj" fmla="val 50000"/>
            </a:avLst>
          </a:prstGeom>
          <a:solidFill>
            <a:srgbClr val="EF6F58"/>
          </a:solidFill>
          <a:ln/>
        </p:spPr>
        <p:txBody>
          <a:bodyPr/>
          <a:lstStyle/>
          <a:p>
            <a:endParaRPr lang="en-HU"/>
          </a:p>
        </p:txBody>
      </p:sp>
      <p:sp>
        <p:nvSpPr>
          <p:cNvPr id="31" name="Text 25"/>
          <p:cNvSpPr/>
          <p:nvPr/>
        </p:nvSpPr>
        <p:spPr>
          <a:xfrm>
            <a:off x="6428232" y="4160520"/>
            <a:ext cx="1965960" cy="438912"/>
          </a:xfrm>
          <a:prstGeom prst="rect">
            <a:avLst/>
          </a:prstGeom>
          <a:noFill/>
          <a:ln/>
        </p:spPr>
        <p:txBody>
          <a:bodyPr wrap="square" lIns="0" tIns="0" rIns="0" bIns="0" rtlCol="0" anchor="ctr"/>
          <a:lstStyle/>
          <a:p>
            <a:pPr marL="0" indent="0" algn="ctr">
              <a:buNone/>
            </a:pPr>
            <a:r>
              <a:rPr lang="en-US" sz="1250" b="1" dirty="0">
                <a:solidFill>
                  <a:srgbClr val="FFFFFF"/>
                </a:solidFill>
                <a:latin typeface="Trebuchet MS" pitchFamily="34" charset="0"/>
                <a:ea typeface="Trebuchet MS" pitchFamily="34" charset="-122"/>
                <a:cs typeface="Trebuchet MS" pitchFamily="34" charset="-120"/>
              </a:rPr>
              <a:t>Containers / AKS</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CLOUD COST CONCEPTS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From CapEx to OpEx</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371600"/>
            <a:ext cx="3886200" cy="2514600"/>
          </a:xfrm>
          <a:prstGeom prst="roundRect">
            <a:avLst>
              <a:gd name="adj" fmla="val 4000"/>
            </a:avLst>
          </a:prstGeom>
          <a:solidFill>
            <a:srgbClr val="EEF1F4"/>
          </a:solidFill>
          <a:ln w="12700">
            <a:solidFill>
              <a:srgbClr val="FFFFFF"/>
            </a:solidFill>
            <a:prstDash val="solid"/>
          </a:ln>
          <a:effectLst>
            <a:outerShdw blurRad="114300" dist="38100" dir="5400000" algn="bl" rotWithShape="0">
              <a:srgbClr val="8FB2CF">
                <a:alpha val="28000"/>
              </a:srgbClr>
            </a:outerShdw>
          </a:effectLst>
        </p:spPr>
        <p:txBody>
          <a:bodyPr/>
          <a:lstStyle/>
          <a:p>
            <a:endParaRPr lang="en-HU"/>
          </a:p>
        </p:txBody>
      </p:sp>
      <p:sp>
        <p:nvSpPr>
          <p:cNvPr id="5" name="Text 3"/>
          <p:cNvSpPr/>
          <p:nvPr/>
        </p:nvSpPr>
        <p:spPr>
          <a:xfrm>
            <a:off x="795528" y="1554480"/>
            <a:ext cx="3429000" cy="457200"/>
          </a:xfrm>
          <a:prstGeom prst="rect">
            <a:avLst/>
          </a:prstGeom>
          <a:noFill/>
          <a:ln/>
        </p:spPr>
        <p:txBody>
          <a:bodyPr wrap="square" lIns="0" tIns="0" rIns="0" bIns="0" rtlCol="0" anchor="ctr"/>
          <a:lstStyle/>
          <a:p>
            <a:pPr marL="0" indent="0">
              <a:buNone/>
            </a:pPr>
            <a:r>
              <a:rPr lang="en-US" sz="2400" b="1" dirty="0">
                <a:solidFill>
                  <a:srgbClr val="5C6B7A"/>
                </a:solidFill>
                <a:latin typeface="Trebuchet MS" pitchFamily="34" charset="0"/>
                <a:ea typeface="Trebuchet MS" pitchFamily="34" charset="-122"/>
                <a:cs typeface="Trebuchet MS" pitchFamily="34" charset="-120"/>
              </a:rPr>
              <a:t>CapEx</a:t>
            </a:r>
            <a:endParaRPr lang="en-US" sz="2400" dirty="0"/>
          </a:p>
        </p:txBody>
      </p:sp>
      <p:sp>
        <p:nvSpPr>
          <p:cNvPr id="6" name="Text 4"/>
          <p:cNvSpPr/>
          <p:nvPr/>
        </p:nvSpPr>
        <p:spPr>
          <a:xfrm>
            <a:off x="813816" y="2029968"/>
            <a:ext cx="3429000" cy="274320"/>
          </a:xfrm>
          <a:prstGeom prst="rect">
            <a:avLst/>
          </a:prstGeom>
          <a:noFill/>
          <a:ln/>
        </p:spPr>
        <p:txBody>
          <a:bodyPr wrap="square" lIns="0" tIns="0" rIns="0" bIns="0" rtlCol="0" anchor="ctr"/>
          <a:lstStyle/>
          <a:p>
            <a:pPr marL="0" indent="0">
              <a:buNone/>
            </a:pPr>
            <a:r>
              <a:rPr lang="en-US" sz="1150" b="1" dirty="0">
                <a:solidFill>
                  <a:srgbClr val="5C6B7A"/>
                </a:solidFill>
                <a:latin typeface="Calibri" pitchFamily="34" charset="0"/>
                <a:ea typeface="Calibri" pitchFamily="34" charset="-122"/>
                <a:cs typeface="Calibri" pitchFamily="34" charset="-120"/>
              </a:rPr>
              <a:t>Capital Expenditure  ·  Traditional IT</a:t>
            </a:r>
            <a:endParaRPr lang="en-US" sz="1150" dirty="0"/>
          </a:p>
        </p:txBody>
      </p:sp>
      <p:sp>
        <p:nvSpPr>
          <p:cNvPr id="7" name="Text 5"/>
          <p:cNvSpPr/>
          <p:nvPr/>
        </p:nvSpPr>
        <p:spPr>
          <a:xfrm>
            <a:off x="841248" y="2395728"/>
            <a:ext cx="3383280" cy="14173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2A3B4D"/>
                </a:solidFill>
                <a:latin typeface="Calibri" pitchFamily="34" charset="0"/>
                <a:ea typeface="Calibri" pitchFamily="34" charset="-122"/>
                <a:cs typeface="Calibri" pitchFamily="34" charset="-120"/>
              </a:rPr>
              <a:t>Big upfront purchase of hardware you own</a:t>
            </a:r>
            <a:endParaRPr lang="en-US" sz="1300" dirty="0"/>
          </a:p>
          <a:p>
            <a:pPr marL="177800" indent="-177800">
              <a:spcAft>
                <a:spcPts val="700"/>
              </a:spcAft>
              <a:buSzPct val="100000"/>
              <a:buChar char="•"/>
            </a:pPr>
            <a:r>
              <a:rPr lang="en-US" sz="1300" dirty="0">
                <a:solidFill>
                  <a:srgbClr val="2A3B4D"/>
                </a:solidFill>
                <a:latin typeface="Calibri" pitchFamily="34" charset="0"/>
                <a:ea typeface="Calibri" pitchFamily="34" charset="-122"/>
                <a:cs typeface="Calibri" pitchFamily="34" charset="-120"/>
              </a:rPr>
              <a:t>Plan capacity years in advance</a:t>
            </a:r>
            <a:endParaRPr lang="en-US" sz="1300" dirty="0"/>
          </a:p>
          <a:p>
            <a:pPr marL="177800" indent="-177800">
              <a:spcAft>
                <a:spcPts val="700"/>
              </a:spcAft>
              <a:buSzPct val="100000"/>
              <a:buChar char="•"/>
            </a:pPr>
            <a:r>
              <a:rPr lang="en-US" sz="1300" dirty="0">
                <a:solidFill>
                  <a:srgbClr val="2A3B4D"/>
                </a:solidFill>
                <a:latin typeface="Calibri" pitchFamily="34" charset="0"/>
                <a:ea typeface="Calibri" pitchFamily="34" charset="-122"/>
                <a:cs typeface="Calibri" pitchFamily="34" charset="-120"/>
              </a:rPr>
              <a:t>Idle equipment is wasted money</a:t>
            </a:r>
            <a:endParaRPr lang="en-US" sz="1300" dirty="0"/>
          </a:p>
        </p:txBody>
      </p:sp>
      <p:sp>
        <p:nvSpPr>
          <p:cNvPr id="8" name="card">
            <a:extLst>
              <a:ext uri="{C183D7F6-B498-43B3-948B-1728B52AA6E4}">
                <adec:decorative xmlns:adec="http://schemas.microsoft.com/office/drawing/2017/decorative" val="1"/>
              </a:ext>
            </a:extLst>
          </p:cNvPr>
          <p:cNvSpPr/>
          <p:nvPr/>
        </p:nvSpPr>
        <p:spPr>
          <a:xfrm>
            <a:off x="4690872" y="1371600"/>
            <a:ext cx="3886200" cy="2514600"/>
          </a:xfrm>
          <a:prstGeom prst="roundRect">
            <a:avLst>
              <a:gd name="adj" fmla="val 4000"/>
            </a:avLst>
          </a:prstGeom>
          <a:solidFill>
            <a:srgbClr val="E6F1FB"/>
          </a:solidFill>
          <a:ln w="12700">
            <a:solidFill>
              <a:srgbClr val="FFFFFF"/>
            </a:solidFill>
            <a:prstDash val="solid"/>
          </a:ln>
          <a:effectLst>
            <a:outerShdw blurRad="114300" dist="38100" dir="5400000" algn="bl" rotWithShape="0">
              <a:srgbClr val="8FB2CF">
                <a:alpha val="28000"/>
              </a:srgbClr>
            </a:outerShdw>
          </a:effectLst>
        </p:spPr>
        <p:txBody>
          <a:bodyPr/>
          <a:lstStyle/>
          <a:p>
            <a:endParaRPr lang="en-HU"/>
          </a:p>
        </p:txBody>
      </p:sp>
      <p:sp>
        <p:nvSpPr>
          <p:cNvPr id="9" name="Text 7"/>
          <p:cNvSpPr/>
          <p:nvPr/>
        </p:nvSpPr>
        <p:spPr>
          <a:xfrm>
            <a:off x="4919472" y="1554480"/>
            <a:ext cx="3429000" cy="457200"/>
          </a:xfrm>
          <a:prstGeom prst="rect">
            <a:avLst/>
          </a:prstGeom>
          <a:noFill/>
          <a:ln/>
        </p:spPr>
        <p:txBody>
          <a:bodyPr wrap="square" lIns="0" tIns="0" rIns="0" bIns="0" rtlCol="0" anchor="ctr"/>
          <a:lstStyle/>
          <a:p>
            <a:pPr marL="0" indent="0">
              <a:buNone/>
            </a:pPr>
            <a:r>
              <a:rPr lang="en-US" sz="2400" b="1" dirty="0">
                <a:solidFill>
                  <a:srgbClr val="2E7CC4"/>
                </a:solidFill>
                <a:latin typeface="Trebuchet MS" pitchFamily="34" charset="0"/>
                <a:ea typeface="Trebuchet MS" pitchFamily="34" charset="-122"/>
                <a:cs typeface="Trebuchet MS" pitchFamily="34" charset="-120"/>
              </a:rPr>
              <a:t>OpEx</a:t>
            </a:r>
            <a:endParaRPr lang="en-US" sz="2400" dirty="0"/>
          </a:p>
        </p:txBody>
      </p:sp>
      <p:sp>
        <p:nvSpPr>
          <p:cNvPr id="10" name="Text 8"/>
          <p:cNvSpPr/>
          <p:nvPr/>
        </p:nvSpPr>
        <p:spPr>
          <a:xfrm>
            <a:off x="4937760" y="2029968"/>
            <a:ext cx="3429000" cy="27432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Operational Expenditure  ·  The cloud way</a:t>
            </a:r>
            <a:endParaRPr lang="en-US" sz="1150" dirty="0"/>
          </a:p>
        </p:txBody>
      </p:sp>
      <p:sp>
        <p:nvSpPr>
          <p:cNvPr id="11" name="Text 9"/>
          <p:cNvSpPr/>
          <p:nvPr/>
        </p:nvSpPr>
        <p:spPr>
          <a:xfrm>
            <a:off x="4965192" y="2395728"/>
            <a:ext cx="3383280" cy="141732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2A3B4D"/>
                </a:solidFill>
                <a:latin typeface="Calibri" pitchFamily="34" charset="0"/>
                <a:ea typeface="Calibri" pitchFamily="34" charset="-122"/>
                <a:cs typeface="Calibri" pitchFamily="34" charset="-120"/>
              </a:rPr>
              <a:t>Pay for what you use, billed monthly</a:t>
            </a:r>
            <a:endParaRPr lang="en-US" sz="1300" dirty="0"/>
          </a:p>
          <a:p>
            <a:pPr marL="177800" indent="-177800">
              <a:spcAft>
                <a:spcPts val="700"/>
              </a:spcAft>
              <a:buSzPct val="100000"/>
              <a:buChar char="•"/>
            </a:pPr>
            <a:r>
              <a:rPr lang="en-US" sz="1300" dirty="0">
                <a:solidFill>
                  <a:srgbClr val="2A3B4D"/>
                </a:solidFill>
                <a:latin typeface="Calibri" pitchFamily="34" charset="0"/>
                <a:ea typeface="Calibri" pitchFamily="34" charset="-122"/>
                <a:cs typeface="Calibri" pitchFamily="34" charset="-120"/>
              </a:rPr>
              <a:t>No upfront hardware to buy</a:t>
            </a:r>
            <a:endParaRPr lang="en-US" sz="1300" dirty="0"/>
          </a:p>
          <a:p>
            <a:pPr marL="177800" indent="-177800">
              <a:spcAft>
                <a:spcPts val="700"/>
              </a:spcAft>
              <a:buSzPct val="100000"/>
              <a:buChar char="•"/>
            </a:pPr>
            <a:r>
              <a:rPr lang="en-US" sz="1300" dirty="0">
                <a:solidFill>
                  <a:srgbClr val="2A3B4D"/>
                </a:solidFill>
                <a:latin typeface="Calibri" pitchFamily="34" charset="0"/>
                <a:ea typeface="Calibri" pitchFamily="34" charset="-122"/>
                <a:cs typeface="Calibri" pitchFamily="34" charset="-120"/>
              </a:rPr>
              <a:t>Scale spending up or down with demand</a:t>
            </a:r>
            <a:endParaRPr lang="en-US" sz="1300" dirty="0"/>
          </a:p>
        </p:txBody>
      </p:sp>
      <p:sp>
        <p:nvSpPr>
          <p:cNvPr id="12" name="takeaway">
            <a:extLst>
              <a:ext uri="{C183D7F6-B498-43B3-948B-1728B52AA6E4}">
                <adec:decorative xmlns:adec="http://schemas.microsoft.com/office/drawing/2017/decorative" val="1"/>
              </a:ext>
            </a:extLst>
          </p:cNvPr>
          <p:cNvSpPr/>
          <p:nvPr/>
        </p:nvSpPr>
        <p:spPr>
          <a:xfrm>
            <a:off x="566928" y="4114800"/>
            <a:ext cx="8010144" cy="566928"/>
          </a:xfrm>
          <a:prstGeom prst="roundRect">
            <a:avLst>
              <a:gd name="adj" fmla="val 22581"/>
            </a:avLst>
          </a:prstGeom>
          <a:solidFill>
            <a:srgbClr val="E2F3EE"/>
          </a:solidFill>
          <a:ln w="12700">
            <a:solidFill>
              <a:srgbClr val="BFE3D8"/>
            </a:solidFill>
            <a:prstDash val="solid"/>
          </a:ln>
        </p:spPr>
        <p:txBody>
          <a:bodyPr/>
          <a:lstStyle/>
          <a:p>
            <a:endParaRPr lang="en-HU"/>
          </a:p>
        </p:txBody>
      </p:sp>
      <p:sp>
        <p:nvSpPr>
          <p:cNvPr id="13" name="Text 11"/>
          <p:cNvSpPr/>
          <p:nvPr/>
        </p:nvSpPr>
        <p:spPr>
          <a:xfrm>
            <a:off x="822960" y="4114800"/>
            <a:ext cx="7498080" cy="566928"/>
          </a:xfrm>
          <a:prstGeom prst="rect">
            <a:avLst/>
          </a:prstGeom>
          <a:noFill/>
          <a:ln/>
        </p:spPr>
        <p:txBody>
          <a:bodyPr wrap="square" lIns="0" tIns="0" rIns="0" bIns="0" rtlCol="0" anchor="ctr"/>
          <a:lstStyle/>
          <a:p>
            <a:pPr marL="0" indent="0">
              <a:buNone/>
            </a:pPr>
            <a:r>
              <a:rPr lang="en-US" sz="1300" b="1" dirty="0">
                <a:solidFill>
                  <a:srgbClr val="2FA98A"/>
                </a:solidFill>
                <a:latin typeface="Calibri" pitchFamily="34" charset="0"/>
                <a:ea typeface="Calibri" pitchFamily="34" charset="-122"/>
                <a:cs typeface="Calibri" pitchFamily="34" charset="-120"/>
              </a:rPr>
              <a:t>Bottom line   </a:t>
            </a:r>
            <a:r>
              <a:rPr lang="en-US" sz="1300" dirty="0">
                <a:solidFill>
                  <a:srgbClr val="2A3B4D"/>
                </a:solidFill>
                <a:latin typeface="Calibri" pitchFamily="34" charset="0"/>
                <a:ea typeface="Calibri" pitchFamily="34" charset="-122"/>
                <a:cs typeface="Calibri" pitchFamily="34" charset="-120"/>
              </a:rPr>
              <a:t>the cloud turns a one-time investment into a flexible, usage-based bill.</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CLOUD COST CONCEPTS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How you pay for compute</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371600"/>
            <a:ext cx="2670048" cy="2880360"/>
          </a:xfrm>
          <a:prstGeom prst="roundRect">
            <a:avLst>
              <a:gd name="adj" fmla="val 37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header">
            <a:extLst>
              <a:ext uri="{C183D7F6-B498-43B3-948B-1728B52AA6E4}">
                <adec:decorative xmlns:adec="http://schemas.microsoft.com/office/drawing/2017/decorative" val="1"/>
              </a:ext>
            </a:extLst>
          </p:cNvPr>
          <p:cNvSpPr/>
          <p:nvPr/>
        </p:nvSpPr>
        <p:spPr>
          <a:xfrm>
            <a:off x="566928" y="1371600"/>
            <a:ext cx="2670048" cy="548640"/>
          </a:xfrm>
          <a:prstGeom prst="roundRect">
            <a:avLst>
              <a:gd name="adj" fmla="val 18333"/>
            </a:avLst>
          </a:prstGeom>
          <a:solidFill>
            <a:srgbClr val="2E7CC4"/>
          </a:solidFill>
          <a:ln/>
        </p:spPr>
        <p:txBody>
          <a:bodyPr/>
          <a:lstStyle/>
          <a:p>
            <a:endParaRPr lang="en-HU"/>
          </a:p>
        </p:txBody>
      </p:sp>
      <p:sp>
        <p:nvSpPr>
          <p:cNvPr id="6" name="header base">
            <a:extLst>
              <a:ext uri="{C183D7F6-B498-43B3-948B-1728B52AA6E4}">
                <adec:decorative xmlns:adec="http://schemas.microsoft.com/office/drawing/2017/decorative" val="1"/>
              </a:ext>
            </a:extLst>
          </p:cNvPr>
          <p:cNvSpPr/>
          <p:nvPr/>
        </p:nvSpPr>
        <p:spPr>
          <a:xfrm>
            <a:off x="566928" y="1645920"/>
            <a:ext cx="2670048" cy="274320"/>
          </a:xfrm>
          <a:prstGeom prst="rect">
            <a:avLst/>
          </a:prstGeom>
          <a:solidFill>
            <a:srgbClr val="2E7CC4"/>
          </a:solidFill>
          <a:ln/>
        </p:spPr>
        <p:txBody>
          <a:bodyPr/>
          <a:lstStyle/>
          <a:p>
            <a:endParaRPr lang="en-HU"/>
          </a:p>
        </p:txBody>
      </p:sp>
      <p:sp>
        <p:nvSpPr>
          <p:cNvPr id="7" name="Text 5"/>
          <p:cNvSpPr/>
          <p:nvPr/>
        </p:nvSpPr>
        <p:spPr>
          <a:xfrm>
            <a:off x="694944" y="1371600"/>
            <a:ext cx="2414016"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Pay-as-you-go</a:t>
            </a:r>
            <a:endParaRPr lang="en-US" sz="1500" dirty="0"/>
          </a:p>
        </p:txBody>
      </p:sp>
      <p:sp>
        <p:nvSpPr>
          <p:cNvPr id="8" name="Text 6"/>
          <p:cNvSpPr/>
          <p:nvPr/>
        </p:nvSpPr>
        <p:spPr>
          <a:xfrm>
            <a:off x="749808" y="2057400"/>
            <a:ext cx="2304288" cy="685800"/>
          </a:xfrm>
          <a:prstGeom prst="rect">
            <a:avLst/>
          </a:prstGeom>
          <a:noFill/>
          <a:ln/>
        </p:spPr>
        <p:txBody>
          <a:bodyPr wrap="square" lIns="0" tIns="0" rIns="0" bIns="0" rtlCol="0" anchor="t"/>
          <a:lstStyle/>
          <a:p>
            <a:pPr marL="0" indent="0" algn="ctr">
              <a:lnSpc>
                <a:spcPts val="1600"/>
              </a:lnSpc>
              <a:buNone/>
            </a:pPr>
            <a:r>
              <a:rPr lang="en-US" sz="1250" dirty="0">
                <a:solidFill>
                  <a:srgbClr val="2A3B4D"/>
                </a:solidFill>
                <a:latin typeface="Calibri" pitchFamily="34" charset="0"/>
                <a:ea typeface="Calibri" pitchFamily="34" charset="-122"/>
                <a:cs typeface="Calibri" pitchFamily="34" charset="-120"/>
              </a:rPr>
              <a:t>No commitment; pay per second or hour.</a:t>
            </a:r>
            <a:endParaRPr lang="en-US" sz="1250" dirty="0"/>
          </a:p>
        </p:txBody>
      </p:sp>
      <p:sp>
        <p:nvSpPr>
          <p:cNvPr id="9" name="Text 7"/>
          <p:cNvSpPr/>
          <p:nvPr/>
        </p:nvSpPr>
        <p:spPr>
          <a:xfrm>
            <a:off x="749808" y="2788920"/>
            <a:ext cx="2304288" cy="457200"/>
          </a:xfrm>
          <a:prstGeom prst="rect">
            <a:avLst/>
          </a:prstGeom>
          <a:noFill/>
          <a:ln/>
        </p:spPr>
        <p:txBody>
          <a:bodyPr wrap="square" lIns="0" tIns="0" rIns="0" bIns="0" rtlCol="0" anchor="ctr"/>
          <a:lstStyle/>
          <a:p>
            <a:pPr marL="0" indent="0" algn="ctr">
              <a:buNone/>
            </a:pPr>
            <a:r>
              <a:rPr lang="en-US" sz="2000" b="1" dirty="0">
                <a:solidFill>
                  <a:srgbClr val="2E7CC4"/>
                </a:solidFill>
                <a:latin typeface="Trebuchet MS" pitchFamily="34" charset="0"/>
                <a:ea typeface="Trebuchet MS" pitchFamily="34" charset="-122"/>
                <a:cs typeface="Trebuchet MS" pitchFamily="34" charset="-120"/>
              </a:rPr>
              <a:t>Most flexible</a:t>
            </a:r>
            <a:endParaRPr lang="en-US" sz="2000" dirty="0"/>
          </a:p>
        </p:txBody>
      </p:sp>
      <p:sp>
        <p:nvSpPr>
          <p:cNvPr id="10" name="use">
            <a:extLst>
              <a:ext uri="{C183D7F6-B498-43B3-948B-1728B52AA6E4}">
                <adec:decorative xmlns:adec="http://schemas.microsoft.com/office/drawing/2017/decorative" val="1"/>
              </a:ext>
            </a:extLst>
          </p:cNvPr>
          <p:cNvSpPr/>
          <p:nvPr/>
        </p:nvSpPr>
        <p:spPr>
          <a:xfrm>
            <a:off x="749808" y="3584448"/>
            <a:ext cx="2304288" cy="530352"/>
          </a:xfrm>
          <a:prstGeom prst="roundRect">
            <a:avLst>
              <a:gd name="adj" fmla="val 17241"/>
            </a:avLst>
          </a:prstGeom>
          <a:solidFill>
            <a:srgbClr val="E6F1FB"/>
          </a:solidFill>
          <a:ln/>
        </p:spPr>
        <p:txBody>
          <a:bodyPr/>
          <a:lstStyle/>
          <a:p>
            <a:endParaRPr lang="en-HU"/>
          </a:p>
        </p:txBody>
      </p:sp>
      <p:sp>
        <p:nvSpPr>
          <p:cNvPr id="11" name="Text 9"/>
          <p:cNvSpPr/>
          <p:nvPr/>
        </p:nvSpPr>
        <p:spPr>
          <a:xfrm>
            <a:off x="822960" y="3584448"/>
            <a:ext cx="2157984" cy="530352"/>
          </a:xfrm>
          <a:prstGeom prst="rect">
            <a:avLst/>
          </a:prstGeom>
          <a:noFill/>
          <a:ln/>
        </p:spPr>
        <p:txBody>
          <a:bodyPr wrap="square" lIns="0" tIns="0" rIns="0" bIns="0" rtlCol="0" anchor="ctr"/>
          <a:lstStyle/>
          <a:p>
            <a:pPr marL="0" indent="0" algn="ctr">
              <a:lnSpc>
                <a:spcPts val="1400"/>
              </a:lnSpc>
              <a:buNone/>
            </a:pPr>
            <a:r>
              <a:rPr lang="en-US" sz="1100" dirty="0">
                <a:solidFill>
                  <a:srgbClr val="2A3B4D"/>
                </a:solidFill>
                <a:latin typeface="Calibri" pitchFamily="34" charset="0"/>
                <a:ea typeface="Calibri" pitchFamily="34" charset="-122"/>
                <a:cs typeface="Calibri" pitchFamily="34" charset="-120"/>
              </a:rPr>
              <a:t>Great for spiky or short-term work</a:t>
            </a:r>
            <a:endParaRPr lang="en-US" sz="1100" dirty="0"/>
          </a:p>
        </p:txBody>
      </p:sp>
      <p:sp>
        <p:nvSpPr>
          <p:cNvPr id="12" name="card">
            <a:extLst>
              <a:ext uri="{C183D7F6-B498-43B3-948B-1728B52AA6E4}">
                <adec:decorative xmlns:adec="http://schemas.microsoft.com/office/drawing/2017/decorative" val="1"/>
              </a:ext>
            </a:extLst>
          </p:cNvPr>
          <p:cNvSpPr/>
          <p:nvPr/>
        </p:nvSpPr>
        <p:spPr>
          <a:xfrm>
            <a:off x="3456432" y="1371600"/>
            <a:ext cx="2670048" cy="2880360"/>
          </a:xfrm>
          <a:prstGeom prst="roundRect">
            <a:avLst>
              <a:gd name="adj" fmla="val 37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3" name="header">
            <a:extLst>
              <a:ext uri="{C183D7F6-B498-43B3-948B-1728B52AA6E4}">
                <adec:decorative xmlns:adec="http://schemas.microsoft.com/office/drawing/2017/decorative" val="1"/>
              </a:ext>
            </a:extLst>
          </p:cNvPr>
          <p:cNvSpPr/>
          <p:nvPr/>
        </p:nvSpPr>
        <p:spPr>
          <a:xfrm>
            <a:off x="3456432" y="1371600"/>
            <a:ext cx="2670048" cy="548640"/>
          </a:xfrm>
          <a:prstGeom prst="roundRect">
            <a:avLst>
              <a:gd name="adj" fmla="val 18333"/>
            </a:avLst>
          </a:prstGeom>
          <a:solidFill>
            <a:srgbClr val="2FA98A"/>
          </a:solidFill>
          <a:ln/>
        </p:spPr>
        <p:txBody>
          <a:bodyPr/>
          <a:lstStyle/>
          <a:p>
            <a:endParaRPr lang="en-HU"/>
          </a:p>
        </p:txBody>
      </p:sp>
      <p:sp>
        <p:nvSpPr>
          <p:cNvPr id="14" name="header base">
            <a:extLst>
              <a:ext uri="{C183D7F6-B498-43B3-948B-1728B52AA6E4}">
                <adec:decorative xmlns:adec="http://schemas.microsoft.com/office/drawing/2017/decorative" val="1"/>
              </a:ext>
            </a:extLst>
          </p:cNvPr>
          <p:cNvSpPr/>
          <p:nvPr/>
        </p:nvSpPr>
        <p:spPr>
          <a:xfrm>
            <a:off x="3456432" y="1645920"/>
            <a:ext cx="2670048" cy="274320"/>
          </a:xfrm>
          <a:prstGeom prst="rect">
            <a:avLst/>
          </a:prstGeom>
          <a:solidFill>
            <a:srgbClr val="2FA98A"/>
          </a:solidFill>
          <a:ln/>
        </p:spPr>
        <p:txBody>
          <a:bodyPr/>
          <a:lstStyle/>
          <a:p>
            <a:endParaRPr lang="en-HU"/>
          </a:p>
        </p:txBody>
      </p:sp>
      <p:sp>
        <p:nvSpPr>
          <p:cNvPr id="15" name="Text 13"/>
          <p:cNvSpPr/>
          <p:nvPr/>
        </p:nvSpPr>
        <p:spPr>
          <a:xfrm>
            <a:off x="3584448" y="1371600"/>
            <a:ext cx="2414016"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Reserved Instances</a:t>
            </a:r>
            <a:endParaRPr lang="en-US" sz="1500" dirty="0"/>
          </a:p>
        </p:txBody>
      </p:sp>
      <p:sp>
        <p:nvSpPr>
          <p:cNvPr id="16" name="Text 14"/>
          <p:cNvSpPr/>
          <p:nvPr/>
        </p:nvSpPr>
        <p:spPr>
          <a:xfrm>
            <a:off x="3639312" y="2057400"/>
            <a:ext cx="2304288" cy="685800"/>
          </a:xfrm>
          <a:prstGeom prst="rect">
            <a:avLst/>
          </a:prstGeom>
          <a:noFill/>
          <a:ln/>
        </p:spPr>
        <p:txBody>
          <a:bodyPr wrap="square" lIns="0" tIns="0" rIns="0" bIns="0" rtlCol="0" anchor="t"/>
          <a:lstStyle/>
          <a:p>
            <a:pPr marL="0" indent="0" algn="ctr">
              <a:lnSpc>
                <a:spcPts val="1600"/>
              </a:lnSpc>
              <a:buNone/>
            </a:pPr>
            <a:r>
              <a:rPr lang="en-US" sz="1250" dirty="0">
                <a:solidFill>
                  <a:srgbClr val="2A3B4D"/>
                </a:solidFill>
                <a:latin typeface="Calibri" pitchFamily="34" charset="0"/>
                <a:ea typeface="Calibri" pitchFamily="34" charset="-122"/>
                <a:cs typeface="Calibri" pitchFamily="34" charset="-120"/>
              </a:rPr>
              <a:t>Commit to 1 or 3 years for steady workloads.</a:t>
            </a:r>
            <a:endParaRPr lang="en-US" sz="1250" dirty="0"/>
          </a:p>
        </p:txBody>
      </p:sp>
      <p:sp>
        <p:nvSpPr>
          <p:cNvPr id="17" name="Text 15"/>
          <p:cNvSpPr/>
          <p:nvPr/>
        </p:nvSpPr>
        <p:spPr>
          <a:xfrm>
            <a:off x="3639312" y="2788920"/>
            <a:ext cx="2304288" cy="457200"/>
          </a:xfrm>
          <a:prstGeom prst="rect">
            <a:avLst/>
          </a:prstGeom>
          <a:noFill/>
          <a:ln/>
        </p:spPr>
        <p:txBody>
          <a:bodyPr wrap="square" lIns="0" tIns="0" rIns="0" bIns="0" rtlCol="0" anchor="ctr"/>
          <a:lstStyle/>
          <a:p>
            <a:pPr marL="0" indent="0" algn="ctr">
              <a:buNone/>
            </a:pPr>
            <a:r>
              <a:rPr lang="en-US" sz="2000" b="1" dirty="0">
                <a:solidFill>
                  <a:srgbClr val="2FA98A"/>
                </a:solidFill>
                <a:latin typeface="Trebuchet MS" pitchFamily="34" charset="0"/>
                <a:ea typeface="Trebuchet MS" pitchFamily="34" charset="-122"/>
                <a:cs typeface="Trebuchet MS" pitchFamily="34" charset="-120"/>
              </a:rPr>
              <a:t>Save up to 72%</a:t>
            </a:r>
            <a:endParaRPr lang="en-US" sz="2000" dirty="0"/>
          </a:p>
        </p:txBody>
      </p:sp>
      <p:sp>
        <p:nvSpPr>
          <p:cNvPr id="18" name="Text 16"/>
          <p:cNvSpPr/>
          <p:nvPr/>
        </p:nvSpPr>
        <p:spPr>
          <a:xfrm>
            <a:off x="3639312" y="3218688"/>
            <a:ext cx="2304288" cy="228600"/>
          </a:xfrm>
          <a:prstGeom prst="rect">
            <a:avLst/>
          </a:prstGeom>
          <a:noFill/>
          <a:ln/>
        </p:spPr>
        <p:txBody>
          <a:bodyPr wrap="square" lIns="0" tIns="0" rIns="0" bIns="0" rtlCol="0" anchor="ctr"/>
          <a:lstStyle/>
          <a:p>
            <a:pPr marL="0" indent="0" algn="ctr">
              <a:buNone/>
            </a:pPr>
            <a:r>
              <a:rPr lang="en-US" sz="950" i="1" dirty="0">
                <a:solidFill>
                  <a:srgbClr val="6E8298"/>
                </a:solidFill>
                <a:latin typeface="Calibri" pitchFamily="34" charset="0"/>
                <a:ea typeface="Calibri" pitchFamily="34" charset="-122"/>
                <a:cs typeface="Calibri" pitchFamily="34" charset="-120"/>
              </a:rPr>
              <a:t>vs pay-as-you-go</a:t>
            </a:r>
            <a:endParaRPr lang="en-US" sz="950" dirty="0"/>
          </a:p>
        </p:txBody>
      </p:sp>
      <p:sp>
        <p:nvSpPr>
          <p:cNvPr id="19" name="use">
            <a:extLst>
              <a:ext uri="{C183D7F6-B498-43B3-948B-1728B52AA6E4}">
                <adec:decorative xmlns:adec="http://schemas.microsoft.com/office/drawing/2017/decorative" val="1"/>
              </a:ext>
            </a:extLst>
          </p:cNvPr>
          <p:cNvSpPr/>
          <p:nvPr/>
        </p:nvSpPr>
        <p:spPr>
          <a:xfrm>
            <a:off x="3639312" y="3584448"/>
            <a:ext cx="2304288" cy="530352"/>
          </a:xfrm>
          <a:prstGeom prst="roundRect">
            <a:avLst>
              <a:gd name="adj" fmla="val 17241"/>
            </a:avLst>
          </a:prstGeom>
          <a:solidFill>
            <a:srgbClr val="E2F3EE"/>
          </a:solidFill>
          <a:ln/>
        </p:spPr>
        <p:txBody>
          <a:bodyPr/>
          <a:lstStyle/>
          <a:p>
            <a:endParaRPr lang="en-HU"/>
          </a:p>
        </p:txBody>
      </p:sp>
      <p:sp>
        <p:nvSpPr>
          <p:cNvPr id="20" name="Text 18"/>
          <p:cNvSpPr/>
          <p:nvPr/>
        </p:nvSpPr>
        <p:spPr>
          <a:xfrm>
            <a:off x="3712464" y="3584448"/>
            <a:ext cx="2157984" cy="530352"/>
          </a:xfrm>
          <a:prstGeom prst="rect">
            <a:avLst/>
          </a:prstGeom>
          <a:noFill/>
          <a:ln/>
        </p:spPr>
        <p:txBody>
          <a:bodyPr wrap="square" lIns="0" tIns="0" rIns="0" bIns="0" rtlCol="0" anchor="ctr"/>
          <a:lstStyle/>
          <a:p>
            <a:pPr marL="0" indent="0" algn="ctr">
              <a:lnSpc>
                <a:spcPts val="1400"/>
              </a:lnSpc>
              <a:buNone/>
            </a:pPr>
            <a:r>
              <a:rPr lang="en-US" sz="1100" dirty="0">
                <a:solidFill>
                  <a:srgbClr val="2A3B4D"/>
                </a:solidFill>
                <a:latin typeface="Calibri" pitchFamily="34" charset="0"/>
                <a:ea typeface="Calibri" pitchFamily="34" charset="-122"/>
                <a:cs typeface="Calibri" pitchFamily="34" charset="-120"/>
              </a:rPr>
              <a:t>Best for predictable, always-on apps</a:t>
            </a:r>
            <a:endParaRPr lang="en-US" sz="1100" dirty="0"/>
          </a:p>
        </p:txBody>
      </p:sp>
      <p:sp>
        <p:nvSpPr>
          <p:cNvPr id="21" name="card">
            <a:extLst>
              <a:ext uri="{C183D7F6-B498-43B3-948B-1728B52AA6E4}">
                <adec:decorative xmlns:adec="http://schemas.microsoft.com/office/drawing/2017/decorative" val="1"/>
              </a:ext>
            </a:extLst>
          </p:cNvPr>
          <p:cNvSpPr/>
          <p:nvPr/>
        </p:nvSpPr>
        <p:spPr>
          <a:xfrm>
            <a:off x="6345936" y="1371600"/>
            <a:ext cx="2670048" cy="2880360"/>
          </a:xfrm>
          <a:prstGeom prst="roundRect">
            <a:avLst>
              <a:gd name="adj" fmla="val 37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2" name="header">
            <a:extLst>
              <a:ext uri="{C183D7F6-B498-43B3-948B-1728B52AA6E4}">
                <adec:decorative xmlns:adec="http://schemas.microsoft.com/office/drawing/2017/decorative" val="1"/>
              </a:ext>
            </a:extLst>
          </p:cNvPr>
          <p:cNvSpPr/>
          <p:nvPr/>
        </p:nvSpPr>
        <p:spPr>
          <a:xfrm>
            <a:off x="6345936" y="1371600"/>
            <a:ext cx="2670048" cy="548640"/>
          </a:xfrm>
          <a:prstGeom prst="roundRect">
            <a:avLst>
              <a:gd name="adj" fmla="val 18333"/>
            </a:avLst>
          </a:prstGeom>
          <a:solidFill>
            <a:srgbClr val="EF6F58"/>
          </a:solidFill>
          <a:ln/>
        </p:spPr>
        <p:txBody>
          <a:bodyPr/>
          <a:lstStyle/>
          <a:p>
            <a:endParaRPr lang="en-HU"/>
          </a:p>
        </p:txBody>
      </p:sp>
      <p:sp>
        <p:nvSpPr>
          <p:cNvPr id="23" name="header base">
            <a:extLst>
              <a:ext uri="{C183D7F6-B498-43B3-948B-1728B52AA6E4}">
                <adec:decorative xmlns:adec="http://schemas.microsoft.com/office/drawing/2017/decorative" val="1"/>
              </a:ext>
            </a:extLst>
          </p:cNvPr>
          <p:cNvSpPr/>
          <p:nvPr/>
        </p:nvSpPr>
        <p:spPr>
          <a:xfrm>
            <a:off x="6345936" y="1645920"/>
            <a:ext cx="2670048" cy="274320"/>
          </a:xfrm>
          <a:prstGeom prst="rect">
            <a:avLst/>
          </a:prstGeom>
          <a:solidFill>
            <a:srgbClr val="EF6F58"/>
          </a:solidFill>
          <a:ln/>
        </p:spPr>
        <p:txBody>
          <a:bodyPr/>
          <a:lstStyle/>
          <a:p>
            <a:endParaRPr lang="en-HU"/>
          </a:p>
        </p:txBody>
      </p:sp>
      <p:sp>
        <p:nvSpPr>
          <p:cNvPr id="24" name="Text 22"/>
          <p:cNvSpPr/>
          <p:nvPr/>
        </p:nvSpPr>
        <p:spPr>
          <a:xfrm>
            <a:off x="6473952" y="1371600"/>
            <a:ext cx="2414016"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Savings Plans</a:t>
            </a:r>
            <a:endParaRPr lang="en-US" sz="1500" dirty="0"/>
          </a:p>
        </p:txBody>
      </p:sp>
      <p:sp>
        <p:nvSpPr>
          <p:cNvPr id="25" name="Text 23"/>
          <p:cNvSpPr/>
          <p:nvPr/>
        </p:nvSpPr>
        <p:spPr>
          <a:xfrm>
            <a:off x="6528816" y="2057400"/>
            <a:ext cx="2304288" cy="685800"/>
          </a:xfrm>
          <a:prstGeom prst="rect">
            <a:avLst/>
          </a:prstGeom>
          <a:noFill/>
          <a:ln/>
        </p:spPr>
        <p:txBody>
          <a:bodyPr wrap="square" lIns="0" tIns="0" rIns="0" bIns="0" rtlCol="0" anchor="t"/>
          <a:lstStyle/>
          <a:p>
            <a:pPr marL="0" indent="0" algn="ctr">
              <a:lnSpc>
                <a:spcPts val="1600"/>
              </a:lnSpc>
              <a:buNone/>
            </a:pPr>
            <a:r>
              <a:rPr lang="en-US" sz="1250" dirty="0">
                <a:solidFill>
                  <a:srgbClr val="2A3B4D"/>
                </a:solidFill>
                <a:latin typeface="Calibri" pitchFamily="34" charset="0"/>
                <a:ea typeface="Calibri" pitchFamily="34" charset="-122"/>
                <a:cs typeface="Calibri" pitchFamily="34" charset="-120"/>
              </a:rPr>
              <a:t>Commit to an hourly spend across services.</a:t>
            </a:r>
            <a:endParaRPr lang="en-US" sz="1250" dirty="0"/>
          </a:p>
        </p:txBody>
      </p:sp>
      <p:sp>
        <p:nvSpPr>
          <p:cNvPr id="26" name="Text 24"/>
          <p:cNvSpPr/>
          <p:nvPr/>
        </p:nvSpPr>
        <p:spPr>
          <a:xfrm>
            <a:off x="6528816" y="2788920"/>
            <a:ext cx="2304288" cy="457200"/>
          </a:xfrm>
          <a:prstGeom prst="rect">
            <a:avLst/>
          </a:prstGeom>
          <a:noFill/>
          <a:ln/>
        </p:spPr>
        <p:txBody>
          <a:bodyPr wrap="square" lIns="0" tIns="0" rIns="0" bIns="0" rtlCol="0" anchor="ctr"/>
          <a:lstStyle/>
          <a:p>
            <a:pPr marL="0" indent="0" algn="ctr">
              <a:buNone/>
            </a:pPr>
            <a:r>
              <a:rPr lang="en-US" sz="2000" b="1" dirty="0">
                <a:solidFill>
                  <a:srgbClr val="EF6F58"/>
                </a:solidFill>
                <a:latin typeface="Trebuchet MS" pitchFamily="34" charset="0"/>
                <a:ea typeface="Trebuchet MS" pitchFamily="34" charset="-122"/>
                <a:cs typeface="Trebuchet MS" pitchFamily="34" charset="-120"/>
              </a:rPr>
              <a:t>Save up to 65%</a:t>
            </a:r>
            <a:endParaRPr lang="en-US" sz="2000" dirty="0"/>
          </a:p>
        </p:txBody>
      </p:sp>
      <p:sp>
        <p:nvSpPr>
          <p:cNvPr id="27" name="Text 25"/>
          <p:cNvSpPr/>
          <p:nvPr/>
        </p:nvSpPr>
        <p:spPr>
          <a:xfrm>
            <a:off x="6528816" y="3218688"/>
            <a:ext cx="2304288" cy="228600"/>
          </a:xfrm>
          <a:prstGeom prst="rect">
            <a:avLst/>
          </a:prstGeom>
          <a:noFill/>
          <a:ln/>
        </p:spPr>
        <p:txBody>
          <a:bodyPr wrap="square" lIns="0" tIns="0" rIns="0" bIns="0" rtlCol="0" anchor="ctr"/>
          <a:lstStyle/>
          <a:p>
            <a:pPr marL="0" indent="0" algn="ctr">
              <a:buNone/>
            </a:pPr>
            <a:r>
              <a:rPr lang="en-US" sz="950" i="1" dirty="0">
                <a:solidFill>
                  <a:srgbClr val="6E8298"/>
                </a:solidFill>
                <a:latin typeface="Calibri" pitchFamily="34" charset="0"/>
                <a:ea typeface="Calibri" pitchFamily="34" charset="-122"/>
                <a:cs typeface="Calibri" pitchFamily="34" charset="-120"/>
              </a:rPr>
              <a:t>vs pay-as-you-go</a:t>
            </a:r>
            <a:endParaRPr lang="en-US" sz="950" dirty="0"/>
          </a:p>
        </p:txBody>
      </p:sp>
      <p:sp>
        <p:nvSpPr>
          <p:cNvPr id="28" name="use">
            <a:extLst>
              <a:ext uri="{C183D7F6-B498-43B3-948B-1728B52AA6E4}">
                <adec:decorative xmlns:adec="http://schemas.microsoft.com/office/drawing/2017/decorative" val="1"/>
              </a:ext>
            </a:extLst>
          </p:cNvPr>
          <p:cNvSpPr/>
          <p:nvPr/>
        </p:nvSpPr>
        <p:spPr>
          <a:xfrm>
            <a:off x="6528816" y="3584448"/>
            <a:ext cx="2304288" cy="530352"/>
          </a:xfrm>
          <a:prstGeom prst="roundRect">
            <a:avLst>
              <a:gd name="adj" fmla="val 17241"/>
            </a:avLst>
          </a:prstGeom>
          <a:solidFill>
            <a:srgbClr val="FBE7E1"/>
          </a:solidFill>
          <a:ln/>
        </p:spPr>
        <p:txBody>
          <a:bodyPr/>
          <a:lstStyle/>
          <a:p>
            <a:endParaRPr lang="en-HU"/>
          </a:p>
        </p:txBody>
      </p:sp>
      <p:sp>
        <p:nvSpPr>
          <p:cNvPr id="29" name="Text 27"/>
          <p:cNvSpPr/>
          <p:nvPr/>
        </p:nvSpPr>
        <p:spPr>
          <a:xfrm>
            <a:off x="6601968" y="3584448"/>
            <a:ext cx="2157984" cy="530352"/>
          </a:xfrm>
          <a:prstGeom prst="rect">
            <a:avLst/>
          </a:prstGeom>
          <a:noFill/>
          <a:ln/>
        </p:spPr>
        <p:txBody>
          <a:bodyPr wrap="square" lIns="0" tIns="0" rIns="0" bIns="0" rtlCol="0" anchor="ctr"/>
          <a:lstStyle/>
          <a:p>
            <a:pPr marL="0" indent="0" algn="ctr">
              <a:lnSpc>
                <a:spcPts val="1400"/>
              </a:lnSpc>
              <a:buNone/>
            </a:pPr>
            <a:r>
              <a:rPr lang="en-US" sz="1100" dirty="0">
                <a:solidFill>
                  <a:srgbClr val="2A3B4D"/>
                </a:solidFill>
                <a:latin typeface="Calibri" pitchFamily="34" charset="0"/>
                <a:ea typeface="Calibri" pitchFamily="34" charset="-122"/>
                <a:cs typeface="Calibri" pitchFamily="34" charset="-120"/>
              </a:rPr>
              <a:t>Flexible discount without locking a size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CLOUD COST CONCEPTS</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Tools to keep costs in check</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508760"/>
            <a:ext cx="1947672" cy="2331720"/>
          </a:xfrm>
          <a:prstGeom prst="roundRect">
            <a:avLst>
              <a:gd name="adj" fmla="val 431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1129284" y="1746504"/>
            <a:ext cx="822960" cy="822960"/>
          </a:xfrm>
          <a:prstGeom prst="roundRect">
            <a:avLst>
              <a:gd name="adj" fmla="val 15556"/>
            </a:avLst>
          </a:prstGeom>
          <a:solidFill>
            <a:srgbClr val="FBE7E1"/>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calc icon"/>
          <p:cNvPicPr>
            <a:picLocks noChangeAspect="1"/>
          </p:cNvPicPr>
          <p:nvPr/>
        </p:nvPicPr>
        <p:blipFill>
          <a:blip r:embed="rId3"/>
          <a:stretch>
            <a:fillRect/>
          </a:stretch>
        </p:blipFill>
        <p:spPr>
          <a:xfrm>
            <a:off x="1282713" y="1869948"/>
            <a:ext cx="516102" cy="576072"/>
          </a:xfrm>
          <a:prstGeom prst="rect">
            <a:avLst/>
          </a:prstGeom>
        </p:spPr>
      </p:pic>
      <p:sp>
        <p:nvSpPr>
          <p:cNvPr id="7" name="Text 4"/>
          <p:cNvSpPr/>
          <p:nvPr/>
        </p:nvSpPr>
        <p:spPr>
          <a:xfrm>
            <a:off x="566928" y="2679192"/>
            <a:ext cx="1947672" cy="384048"/>
          </a:xfrm>
          <a:prstGeom prst="rect">
            <a:avLst/>
          </a:prstGeom>
          <a:noFill/>
          <a:ln/>
        </p:spPr>
        <p:txBody>
          <a:bodyPr wrap="square" lIns="0" tIns="0" rIns="0" bIns="0" rtlCol="0" anchor="ctr"/>
          <a:lstStyle/>
          <a:p>
            <a:pPr marL="0" indent="0" algn="ctr">
              <a:buNone/>
            </a:pPr>
            <a:r>
              <a:rPr lang="en-US" sz="1350" b="1">
                <a:solidFill>
                  <a:srgbClr val="EF6F58"/>
                </a:solidFill>
                <a:latin typeface="Trebuchet MS" pitchFamily="34" charset="0"/>
                <a:ea typeface="Trebuchet MS" pitchFamily="34" charset="-122"/>
                <a:cs typeface="Trebuchet MS" pitchFamily="34" charset="-120"/>
              </a:rPr>
              <a:t>Pricing Calculator</a:t>
            </a:r>
            <a:endParaRPr lang="en-US" sz="1350"/>
          </a:p>
        </p:txBody>
      </p:sp>
      <p:sp>
        <p:nvSpPr>
          <p:cNvPr id="8" name="Text 5"/>
          <p:cNvSpPr/>
          <p:nvPr/>
        </p:nvSpPr>
        <p:spPr>
          <a:xfrm>
            <a:off x="566928" y="3099816"/>
            <a:ext cx="1947672" cy="640080"/>
          </a:xfrm>
          <a:prstGeom prst="rect">
            <a:avLst/>
          </a:prstGeom>
          <a:noFill/>
          <a:ln/>
        </p:spPr>
        <p:txBody>
          <a:bodyPr wrap="square" lIns="0" tIns="0" rIns="0" bIns="0" rtlCol="0" anchor="t"/>
          <a:lstStyle/>
          <a:p>
            <a:pPr marL="0" indent="0" algn="ctr">
              <a:lnSpc>
                <a:spcPts val="1400"/>
              </a:lnSpc>
              <a:buNone/>
            </a:pPr>
            <a:r>
              <a:rPr lang="en-US" sz="1150">
                <a:solidFill>
                  <a:srgbClr val="2A3B4D"/>
                </a:solidFill>
                <a:latin typeface="Calibri" pitchFamily="34" charset="0"/>
                <a:ea typeface="Calibri" pitchFamily="34" charset="-122"/>
                <a:cs typeface="Calibri" pitchFamily="34" charset="-120"/>
              </a:rPr>
              <a:t>Estimate a setup's cost before you build it.</a:t>
            </a:r>
            <a:endParaRPr lang="en-US" sz="1150"/>
          </a:p>
        </p:txBody>
      </p:sp>
      <p:sp>
        <p:nvSpPr>
          <p:cNvPr id="9" name="card">
            <a:extLst>
              <a:ext uri="{C183D7F6-B498-43B3-948B-1728B52AA6E4}">
                <adec:decorative xmlns:adec="http://schemas.microsoft.com/office/drawing/2017/decorative" val="1"/>
              </a:ext>
            </a:extLst>
          </p:cNvPr>
          <p:cNvSpPr/>
          <p:nvPr/>
        </p:nvSpPr>
        <p:spPr>
          <a:xfrm>
            <a:off x="2734056" y="1508760"/>
            <a:ext cx="1947672" cy="2331720"/>
          </a:xfrm>
          <a:prstGeom prst="roundRect">
            <a:avLst>
              <a:gd name="adj" fmla="val 431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0" name="icon tile">
            <a:extLst>
              <a:ext uri="{C183D7F6-B498-43B3-948B-1728B52AA6E4}">
                <adec:decorative xmlns:adec="http://schemas.microsoft.com/office/drawing/2017/decorative" val="1"/>
              </a:ext>
            </a:extLst>
          </p:cNvPr>
          <p:cNvSpPr/>
          <p:nvPr/>
        </p:nvSpPr>
        <p:spPr>
          <a:xfrm>
            <a:off x="3296412" y="1746504"/>
            <a:ext cx="822960" cy="822960"/>
          </a:xfrm>
          <a:prstGeom prst="roundRect">
            <a:avLst>
              <a:gd name="adj" fmla="val 15556"/>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1" name="Image 1" descr="costmgmt icon"/>
          <p:cNvPicPr>
            <a:picLocks noChangeAspect="1"/>
          </p:cNvPicPr>
          <p:nvPr/>
        </p:nvPicPr>
        <p:blipFill>
          <a:blip r:embed="rId4"/>
          <a:stretch>
            <a:fillRect/>
          </a:stretch>
        </p:blipFill>
        <p:spPr>
          <a:xfrm>
            <a:off x="3419856" y="1941365"/>
            <a:ext cx="576072" cy="433238"/>
          </a:xfrm>
          <a:prstGeom prst="rect">
            <a:avLst/>
          </a:prstGeom>
        </p:spPr>
      </p:pic>
      <p:sp>
        <p:nvSpPr>
          <p:cNvPr id="12" name="Text 8"/>
          <p:cNvSpPr/>
          <p:nvPr/>
        </p:nvSpPr>
        <p:spPr>
          <a:xfrm>
            <a:off x="2734056" y="2679192"/>
            <a:ext cx="1947672" cy="384048"/>
          </a:xfrm>
          <a:prstGeom prst="rect">
            <a:avLst/>
          </a:prstGeom>
          <a:noFill/>
          <a:ln/>
        </p:spPr>
        <p:txBody>
          <a:bodyPr wrap="square" lIns="0" tIns="0" rIns="0" bIns="0" rtlCol="0" anchor="ctr"/>
          <a:lstStyle/>
          <a:p>
            <a:pPr marL="0" indent="0" algn="ctr">
              <a:buNone/>
            </a:pPr>
            <a:r>
              <a:rPr lang="en-US" sz="1350" b="1">
                <a:solidFill>
                  <a:srgbClr val="2E7CC4"/>
                </a:solidFill>
                <a:latin typeface="Trebuchet MS" pitchFamily="34" charset="0"/>
                <a:ea typeface="Trebuchet MS" pitchFamily="34" charset="-122"/>
                <a:cs typeface="Trebuchet MS" pitchFamily="34" charset="-120"/>
              </a:rPr>
              <a:t>Cost Management</a:t>
            </a:r>
            <a:endParaRPr lang="en-US" sz="1350"/>
          </a:p>
        </p:txBody>
      </p:sp>
      <p:sp>
        <p:nvSpPr>
          <p:cNvPr id="13" name="Text 9"/>
          <p:cNvSpPr/>
          <p:nvPr/>
        </p:nvSpPr>
        <p:spPr>
          <a:xfrm>
            <a:off x="2734056" y="3099816"/>
            <a:ext cx="1947672" cy="640080"/>
          </a:xfrm>
          <a:prstGeom prst="rect">
            <a:avLst/>
          </a:prstGeom>
          <a:noFill/>
          <a:ln/>
        </p:spPr>
        <p:txBody>
          <a:bodyPr wrap="square" lIns="0" tIns="0" rIns="0" bIns="0" rtlCol="0" anchor="t"/>
          <a:lstStyle/>
          <a:p>
            <a:pPr marL="0" indent="0" algn="ctr">
              <a:lnSpc>
                <a:spcPts val="1400"/>
              </a:lnSpc>
              <a:buNone/>
            </a:pPr>
            <a:r>
              <a:rPr lang="en-US" sz="1150">
                <a:solidFill>
                  <a:srgbClr val="2A3B4D"/>
                </a:solidFill>
                <a:latin typeface="Calibri" pitchFamily="34" charset="0"/>
                <a:ea typeface="Calibri" pitchFamily="34" charset="-122"/>
                <a:cs typeface="Calibri" pitchFamily="34" charset="-120"/>
              </a:rPr>
              <a:t>Track spend, spot trends and forecast the month.</a:t>
            </a:r>
            <a:endParaRPr lang="en-US" sz="1150"/>
          </a:p>
        </p:txBody>
      </p:sp>
      <p:sp>
        <p:nvSpPr>
          <p:cNvPr id="14" name="card">
            <a:extLst>
              <a:ext uri="{C183D7F6-B498-43B3-948B-1728B52AA6E4}">
                <adec:decorative xmlns:adec="http://schemas.microsoft.com/office/drawing/2017/decorative" val="1"/>
              </a:ext>
            </a:extLst>
          </p:cNvPr>
          <p:cNvSpPr/>
          <p:nvPr/>
        </p:nvSpPr>
        <p:spPr>
          <a:xfrm>
            <a:off x="4901184" y="1508760"/>
            <a:ext cx="1947672" cy="2331720"/>
          </a:xfrm>
          <a:prstGeom prst="roundRect">
            <a:avLst>
              <a:gd name="adj" fmla="val 431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5" name="icon tile">
            <a:extLst>
              <a:ext uri="{C183D7F6-B498-43B3-948B-1728B52AA6E4}">
                <adec:decorative xmlns:adec="http://schemas.microsoft.com/office/drawing/2017/decorative" val="1"/>
              </a:ext>
            </a:extLst>
          </p:cNvPr>
          <p:cNvSpPr/>
          <p:nvPr/>
        </p:nvSpPr>
        <p:spPr>
          <a:xfrm>
            <a:off x="5463540" y="1746504"/>
            <a:ext cx="822960" cy="822960"/>
          </a:xfrm>
          <a:prstGeom prst="roundRect">
            <a:avLst>
              <a:gd name="adj" fmla="val 15556"/>
            </a:avLst>
          </a:prstGeom>
          <a:solidFill>
            <a:srgbClr val="E2F3EE"/>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6" name="Image 2" descr="coins icon"/>
          <p:cNvPicPr>
            <a:picLocks noChangeAspect="1"/>
          </p:cNvPicPr>
          <p:nvPr/>
        </p:nvPicPr>
        <p:blipFill>
          <a:blip r:embed="rId5"/>
          <a:stretch>
            <a:fillRect/>
          </a:stretch>
        </p:blipFill>
        <p:spPr>
          <a:xfrm>
            <a:off x="5586984" y="1869948"/>
            <a:ext cx="576072" cy="576072"/>
          </a:xfrm>
          <a:prstGeom prst="rect">
            <a:avLst/>
          </a:prstGeom>
        </p:spPr>
      </p:pic>
      <p:sp>
        <p:nvSpPr>
          <p:cNvPr id="17" name="Text 12"/>
          <p:cNvSpPr/>
          <p:nvPr/>
        </p:nvSpPr>
        <p:spPr>
          <a:xfrm>
            <a:off x="4901184" y="2679192"/>
            <a:ext cx="1947672" cy="384048"/>
          </a:xfrm>
          <a:prstGeom prst="rect">
            <a:avLst/>
          </a:prstGeom>
          <a:noFill/>
          <a:ln/>
        </p:spPr>
        <p:txBody>
          <a:bodyPr wrap="square" lIns="0" tIns="0" rIns="0" bIns="0" rtlCol="0" anchor="ctr"/>
          <a:lstStyle/>
          <a:p>
            <a:pPr marL="0" indent="0" algn="ctr">
              <a:buNone/>
            </a:pPr>
            <a:r>
              <a:rPr lang="en-US" sz="1350" b="1">
                <a:solidFill>
                  <a:srgbClr val="2FA98A"/>
                </a:solidFill>
                <a:latin typeface="Trebuchet MS" pitchFamily="34" charset="0"/>
                <a:ea typeface="Trebuchet MS" pitchFamily="34" charset="-122"/>
                <a:cs typeface="Trebuchet MS" pitchFamily="34" charset="-120"/>
              </a:rPr>
              <a:t>Budgets &amp; Alerts</a:t>
            </a:r>
            <a:endParaRPr lang="en-US" sz="1350"/>
          </a:p>
        </p:txBody>
      </p:sp>
      <p:sp>
        <p:nvSpPr>
          <p:cNvPr id="18" name="Text 13"/>
          <p:cNvSpPr/>
          <p:nvPr/>
        </p:nvSpPr>
        <p:spPr>
          <a:xfrm>
            <a:off x="4901184" y="3099816"/>
            <a:ext cx="1947672" cy="640080"/>
          </a:xfrm>
          <a:prstGeom prst="rect">
            <a:avLst/>
          </a:prstGeom>
          <a:noFill/>
          <a:ln/>
        </p:spPr>
        <p:txBody>
          <a:bodyPr wrap="square" lIns="0" tIns="0" rIns="0" bIns="0" rtlCol="0" anchor="t"/>
          <a:lstStyle/>
          <a:p>
            <a:pPr marL="0" indent="0" algn="ctr">
              <a:lnSpc>
                <a:spcPts val="1400"/>
              </a:lnSpc>
              <a:buNone/>
            </a:pPr>
            <a:r>
              <a:rPr lang="en-US" sz="1150">
                <a:solidFill>
                  <a:srgbClr val="2A3B4D"/>
                </a:solidFill>
                <a:latin typeface="Calibri" pitchFamily="34" charset="0"/>
                <a:ea typeface="Calibri" pitchFamily="34" charset="-122"/>
                <a:cs typeface="Calibri" pitchFamily="34" charset="-120"/>
              </a:rPr>
              <a:t>Set a limit and get alerted before overspending.</a:t>
            </a:r>
            <a:endParaRPr lang="en-US" sz="1150"/>
          </a:p>
        </p:txBody>
      </p:sp>
      <p:sp>
        <p:nvSpPr>
          <p:cNvPr id="20" name="card">
            <a:extLst>
              <a:ext uri="{C183D7F6-B498-43B3-948B-1728B52AA6E4}">
                <adec:decorative xmlns:adec="http://schemas.microsoft.com/office/drawing/2017/decorative" val="1"/>
              </a:ext>
            </a:extLst>
          </p:cNvPr>
          <p:cNvSpPr/>
          <p:nvPr/>
        </p:nvSpPr>
        <p:spPr>
          <a:xfrm>
            <a:off x="7068312" y="1508760"/>
            <a:ext cx="1947672" cy="2331720"/>
          </a:xfrm>
          <a:prstGeom prst="roundRect">
            <a:avLst>
              <a:gd name="adj" fmla="val 4314"/>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1" name="icon tile">
            <a:extLst>
              <a:ext uri="{C183D7F6-B498-43B3-948B-1728B52AA6E4}">
                <adec:decorative xmlns:adec="http://schemas.microsoft.com/office/drawing/2017/decorative" val="1"/>
              </a:ext>
            </a:extLst>
          </p:cNvPr>
          <p:cNvSpPr/>
          <p:nvPr/>
        </p:nvSpPr>
        <p:spPr>
          <a:xfrm>
            <a:off x="7630668" y="1746504"/>
            <a:ext cx="822960" cy="822960"/>
          </a:xfrm>
          <a:prstGeom prst="roundRect">
            <a:avLst>
              <a:gd name="adj" fmla="val 15556"/>
            </a:avLst>
          </a:prstGeom>
          <a:solidFill>
            <a:srgbClr val="FAEFD8"/>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2" name="Image 3" descr="calc icon"/>
          <p:cNvPicPr>
            <a:picLocks noChangeAspect="1"/>
          </p:cNvPicPr>
          <p:nvPr/>
        </p:nvPicPr>
        <p:blipFill>
          <a:blip r:embed="rId3"/>
          <a:stretch>
            <a:fillRect/>
          </a:stretch>
        </p:blipFill>
        <p:spPr>
          <a:xfrm>
            <a:off x="7784097" y="1869948"/>
            <a:ext cx="516102" cy="576072"/>
          </a:xfrm>
          <a:prstGeom prst="rect">
            <a:avLst/>
          </a:prstGeom>
        </p:spPr>
      </p:pic>
      <p:sp>
        <p:nvSpPr>
          <p:cNvPr id="23" name="Text 16"/>
          <p:cNvSpPr/>
          <p:nvPr/>
        </p:nvSpPr>
        <p:spPr>
          <a:xfrm>
            <a:off x="7068312" y="2679192"/>
            <a:ext cx="1947672" cy="384048"/>
          </a:xfrm>
          <a:prstGeom prst="rect">
            <a:avLst/>
          </a:prstGeom>
          <a:noFill/>
          <a:ln/>
        </p:spPr>
        <p:txBody>
          <a:bodyPr wrap="square" lIns="0" tIns="0" rIns="0" bIns="0" rtlCol="0" anchor="ctr"/>
          <a:lstStyle/>
          <a:p>
            <a:pPr marL="0" indent="0" algn="ctr">
              <a:buNone/>
            </a:pPr>
            <a:r>
              <a:rPr lang="en-US" sz="1350" b="1">
                <a:solidFill>
                  <a:srgbClr val="E4A031"/>
                </a:solidFill>
                <a:latin typeface="Trebuchet MS" pitchFamily="34" charset="0"/>
                <a:ea typeface="Trebuchet MS" pitchFamily="34" charset="-122"/>
                <a:cs typeface="Trebuchet MS" pitchFamily="34" charset="-120"/>
              </a:rPr>
              <a:t>TCO Calculator</a:t>
            </a:r>
            <a:endParaRPr lang="en-US" sz="1350"/>
          </a:p>
        </p:txBody>
      </p:sp>
      <p:sp>
        <p:nvSpPr>
          <p:cNvPr id="24" name="Text 17"/>
          <p:cNvSpPr/>
          <p:nvPr/>
        </p:nvSpPr>
        <p:spPr>
          <a:xfrm>
            <a:off x="7068312" y="3099816"/>
            <a:ext cx="1947672" cy="640080"/>
          </a:xfrm>
          <a:prstGeom prst="rect">
            <a:avLst/>
          </a:prstGeom>
          <a:noFill/>
          <a:ln/>
        </p:spPr>
        <p:txBody>
          <a:bodyPr wrap="square" lIns="0" tIns="0" rIns="0" bIns="0" rtlCol="0" anchor="t"/>
          <a:lstStyle/>
          <a:p>
            <a:pPr marL="0" indent="0" algn="ctr">
              <a:lnSpc>
                <a:spcPts val="1400"/>
              </a:lnSpc>
              <a:buNone/>
            </a:pPr>
            <a:r>
              <a:rPr lang="en-US" sz="1150">
                <a:solidFill>
                  <a:srgbClr val="2A3B4D"/>
                </a:solidFill>
                <a:latin typeface="Calibri" pitchFamily="34" charset="0"/>
                <a:ea typeface="Calibri" pitchFamily="34" charset="-122"/>
                <a:cs typeface="Calibri" pitchFamily="34" charset="-120"/>
              </a:rPr>
              <a:t>Compare cloud vs. on-premises total cost of ownership.</a:t>
            </a:r>
            <a:endParaRPr lang="en-US" sz="1150"/>
          </a:p>
        </p:txBody>
      </p:sp>
      <p:sp>
        <p:nvSpPr>
          <p:cNvPr id="19" name="Text 14"/>
          <p:cNvSpPr/>
          <p:nvPr/>
        </p:nvSpPr>
        <p:spPr>
          <a:xfrm>
            <a:off x="658368" y="4069080"/>
            <a:ext cx="7827264" cy="457200"/>
          </a:xfrm>
          <a:prstGeom prst="rect">
            <a:avLst/>
          </a:prstGeom>
          <a:noFill/>
          <a:ln/>
        </p:spPr>
        <p:txBody>
          <a:bodyPr wrap="square" lIns="0" tIns="0" rIns="0" bIns="0" rtlCol="0" anchor="ctr"/>
          <a:lstStyle/>
          <a:p>
            <a:pPr marL="0" indent="0" algn="ctr">
              <a:buNone/>
            </a:pPr>
            <a:r>
              <a:rPr lang="en-US" sz="1250" b="1" dirty="0">
                <a:solidFill>
                  <a:srgbClr val="EF6F58"/>
                </a:solidFill>
                <a:latin typeface="Calibri" pitchFamily="34" charset="0"/>
                <a:ea typeface="Calibri" pitchFamily="34" charset="-122"/>
                <a:cs typeface="Calibri" pitchFamily="34" charset="-120"/>
              </a:rPr>
              <a:t>Tip   </a:t>
            </a:r>
            <a:r>
              <a:rPr lang="en-US" sz="1250" i="1" dirty="0">
                <a:solidFill>
                  <a:srgbClr val="6E8298"/>
                </a:solidFill>
                <a:latin typeface="Calibri" pitchFamily="34" charset="0"/>
                <a:ea typeface="Calibri" pitchFamily="34" charset="-122"/>
                <a:cs typeface="Calibri" pitchFamily="34" charset="-120"/>
              </a:rPr>
              <a:t>add tags to resources so you can see exactly which project or team a cost belongs to.</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1371600"/>
            <a:ext cx="2194560" cy="2194560"/>
          </a:xfrm>
          <a:prstGeom prst="rect">
            <a:avLst/>
          </a:prstGeom>
          <a:noFill/>
          <a:ln/>
        </p:spPr>
        <p:txBody>
          <a:bodyPr wrap="square" lIns="0" tIns="0" rIns="0" bIns="0" rtlCol="0" anchor="ctr"/>
          <a:lstStyle/>
          <a:p>
            <a:pPr marL="0" indent="0" algn="l">
              <a:buNone/>
            </a:pPr>
            <a:r>
              <a:rPr lang="en-US" sz="15000" b="1" dirty="0">
                <a:solidFill>
                  <a:srgbClr val="54C6A8"/>
                </a:solidFill>
                <a:latin typeface="Trebuchet MS" pitchFamily="34" charset="0"/>
                <a:ea typeface="Trebuchet MS" pitchFamily="34" charset="-122"/>
                <a:cs typeface="Trebuchet MS" pitchFamily="34" charset="-120"/>
              </a:rPr>
              <a:t>05</a:t>
            </a:r>
            <a:endParaRPr lang="en-US" sz="15000" dirty="0"/>
          </a:p>
        </p:txBody>
      </p:sp>
      <p:sp>
        <p:nvSpPr>
          <p:cNvPr id="3" name="icon tile">
            <a:extLst>
              <a:ext uri="{C183D7F6-B498-43B3-948B-1728B52AA6E4}">
                <adec:decorative xmlns:adec="http://schemas.microsoft.com/office/drawing/2017/decorative" val="1"/>
              </a:ext>
            </a:extLst>
          </p:cNvPr>
          <p:cNvSpPr/>
          <p:nvPr/>
        </p:nvSpPr>
        <p:spPr>
          <a:xfrm>
            <a:off x="7360920" y="685800"/>
            <a:ext cx="1097280" cy="1097280"/>
          </a:xfrm>
          <a:prstGeom prst="roundRect">
            <a:avLst>
              <a:gd name="adj" fmla="val 116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4" name="Image 0" descr="portal icon"/>
          <p:cNvPicPr>
            <a:picLocks noChangeAspect="1"/>
          </p:cNvPicPr>
          <p:nvPr/>
        </p:nvPicPr>
        <p:blipFill>
          <a:blip r:embed="rId3"/>
          <a:stretch>
            <a:fillRect/>
          </a:stretch>
        </p:blipFill>
        <p:spPr>
          <a:xfrm>
            <a:off x="7525512" y="930209"/>
            <a:ext cx="768096" cy="608462"/>
          </a:xfrm>
          <a:prstGeom prst="rect">
            <a:avLst/>
          </a:prstGeom>
        </p:spPr>
      </p:pic>
      <p:sp>
        <p:nvSpPr>
          <p:cNvPr id="5" name="Text 2"/>
          <p:cNvSpPr/>
          <p:nvPr/>
        </p:nvSpPr>
        <p:spPr>
          <a:xfrm>
            <a:off x="1755648" y="1572768"/>
            <a:ext cx="5486400" cy="274320"/>
          </a:xfrm>
          <a:prstGeom prst="rect">
            <a:avLst/>
          </a:prstGeom>
          <a:noFill/>
          <a:ln/>
        </p:spPr>
        <p:txBody>
          <a:bodyPr wrap="square" lIns="0" tIns="0" rIns="0" bIns="0" rtlCol="0" anchor="ctr"/>
          <a:lstStyle/>
          <a:p>
            <a:pPr marL="0" indent="0">
              <a:buNone/>
            </a:pPr>
            <a:r>
              <a:rPr lang="en-US" sz="1300" b="1" kern="0" spc="300" dirty="0">
                <a:solidFill>
                  <a:srgbClr val="54C6A8"/>
                </a:solidFill>
                <a:latin typeface="Trebuchet MS" pitchFamily="34" charset="0"/>
                <a:ea typeface="Trebuchet MS" pitchFamily="34" charset="-122"/>
                <a:cs typeface="Trebuchet MS" pitchFamily="34" charset="-120"/>
              </a:rPr>
              <a:t>PART 05</a:t>
            </a:r>
            <a:endParaRPr lang="en-US" sz="1300" dirty="0"/>
          </a:p>
        </p:txBody>
      </p:sp>
      <p:sp>
        <p:nvSpPr>
          <p:cNvPr id="6" name="Text 0"/>
          <p:cNvSpPr>
            <a:spLocks noGrp="1"/>
          </p:cNvSpPr>
          <p:nvPr>
            <p:ph type="title" idx="100" hasCustomPrompt="1"/>
          </p:nvPr>
        </p:nvSpPr>
        <p:spPr>
          <a:xfrm>
            <a:off x="1737360" y="1965960"/>
            <a:ext cx="6766560" cy="914400"/>
          </a:xfrm>
          <a:prstGeom prst="rect">
            <a:avLst/>
          </a:prstGeom>
          <a:noFill/>
          <a:ln/>
        </p:spPr>
        <p:txBody>
          <a:bodyPr wrap="square" lIns="0" tIns="0" rIns="0" bIns="0" rtlCol="0"/>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Hands-On: The Azure Portal</a:t>
            </a:r>
            <a:endParaRPr lang="en-US" sz="3400" dirty="0"/>
          </a:p>
        </p:txBody>
      </p:sp>
      <p:sp>
        <p:nvSpPr>
          <p:cNvPr id="7" name="chip">
            <a:extLst>
              <a:ext uri="{C183D7F6-B498-43B3-948B-1728B52AA6E4}">
                <adec:decorative xmlns:adec="http://schemas.microsoft.com/office/drawing/2017/decorative" val="1"/>
              </a:ext>
            </a:extLst>
          </p:cNvPr>
          <p:cNvSpPr/>
          <p:nvPr/>
        </p:nvSpPr>
        <p:spPr>
          <a:xfrm>
            <a:off x="1755648" y="3063240"/>
            <a:ext cx="2282342"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8" name="Text 5"/>
          <p:cNvSpPr/>
          <p:nvPr/>
        </p:nvSpPr>
        <p:spPr>
          <a:xfrm>
            <a:off x="1755648" y="3063240"/>
            <a:ext cx="2282342"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Where everything lives</a:t>
            </a:r>
            <a:endParaRPr lang="en-US" sz="1200" dirty="0"/>
          </a:p>
        </p:txBody>
      </p:sp>
      <p:sp>
        <p:nvSpPr>
          <p:cNvPr id="9" name="chip">
            <a:extLst>
              <a:ext uri="{C183D7F6-B498-43B3-948B-1728B52AA6E4}">
                <adec:decorative xmlns:adec="http://schemas.microsoft.com/office/drawing/2017/decorative" val="1"/>
              </a:ext>
            </a:extLst>
          </p:cNvPr>
          <p:cNvSpPr/>
          <p:nvPr/>
        </p:nvSpPr>
        <p:spPr>
          <a:xfrm>
            <a:off x="4239158" y="3063240"/>
            <a:ext cx="1207008"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10" name="Text 7"/>
          <p:cNvSpPr/>
          <p:nvPr/>
        </p:nvSpPr>
        <p:spPr>
          <a:xfrm>
            <a:off x="4239158" y="3063240"/>
            <a:ext cx="1207008"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Navigation</a:t>
            </a:r>
            <a:endParaRPr lang="en-US" sz="1200" dirty="0"/>
          </a:p>
        </p:txBody>
      </p:sp>
      <p:sp>
        <p:nvSpPr>
          <p:cNvPr id="11" name="chip">
            <a:extLst>
              <a:ext uri="{C183D7F6-B498-43B3-948B-1728B52AA6E4}">
                <adec:decorative xmlns:adec="http://schemas.microsoft.com/office/drawing/2017/decorative" val="1"/>
              </a:ext>
            </a:extLst>
          </p:cNvPr>
          <p:cNvSpPr/>
          <p:nvPr/>
        </p:nvSpPr>
        <p:spPr>
          <a:xfrm>
            <a:off x="5647334" y="3063240"/>
            <a:ext cx="1117397" cy="402336"/>
          </a:xfrm>
          <a:prstGeom prst="roundRect">
            <a:avLst>
              <a:gd name="adj" fmla="val 50000"/>
            </a:avLst>
          </a:prstGeom>
          <a:solidFill>
            <a:srgbClr val="FFFFFF">
              <a:alpha val="14000"/>
            </a:srgbClr>
          </a:solidFill>
          <a:ln w="12700">
            <a:solidFill>
              <a:srgbClr val="FFFFFF"/>
            </a:solidFill>
            <a:prstDash val="solid"/>
          </a:ln>
        </p:spPr>
        <p:txBody>
          <a:bodyPr/>
          <a:lstStyle/>
          <a:p>
            <a:endParaRPr lang="en-HU"/>
          </a:p>
        </p:txBody>
      </p:sp>
      <p:sp>
        <p:nvSpPr>
          <p:cNvPr id="12" name="Text 9"/>
          <p:cNvSpPr/>
          <p:nvPr/>
        </p:nvSpPr>
        <p:spPr>
          <a:xfrm>
            <a:off x="5647334" y="3063240"/>
            <a:ext cx="1117397"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Key areas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AZURE PORTAL NAVIGATION</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A quick tour of the Portal</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417320"/>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icon tile">
            <a:extLst>
              <a:ext uri="{C183D7F6-B498-43B3-948B-1728B52AA6E4}">
                <adec:decorative xmlns:adec="http://schemas.microsoft.com/office/drawing/2017/decorative" val="1"/>
              </a:ext>
            </a:extLst>
          </p:cNvPr>
          <p:cNvSpPr/>
          <p:nvPr/>
        </p:nvSpPr>
        <p:spPr>
          <a:xfrm>
            <a:off x="713232" y="1581912"/>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portal icon"/>
          <p:cNvPicPr>
            <a:picLocks noChangeAspect="1"/>
          </p:cNvPicPr>
          <p:nvPr/>
        </p:nvPicPr>
        <p:blipFill>
          <a:blip r:embed="rId3"/>
          <a:stretch>
            <a:fillRect/>
          </a:stretch>
        </p:blipFill>
        <p:spPr>
          <a:xfrm>
            <a:off x="798271" y="1708190"/>
            <a:ext cx="396850" cy="314372"/>
          </a:xfrm>
          <a:prstGeom prst="rect">
            <a:avLst/>
          </a:prstGeom>
        </p:spPr>
      </p:pic>
      <p:sp>
        <p:nvSpPr>
          <p:cNvPr id="7" name="Text 4"/>
          <p:cNvSpPr/>
          <p:nvPr/>
        </p:nvSpPr>
        <p:spPr>
          <a:xfrm>
            <a:off x="1408176" y="1563624"/>
            <a:ext cx="1655064" cy="365760"/>
          </a:xfrm>
          <a:prstGeom prst="rect">
            <a:avLst/>
          </a:prstGeom>
          <a:noFill/>
          <a:ln/>
        </p:spPr>
        <p:txBody>
          <a:bodyPr wrap="square" lIns="0" tIns="0" rIns="0" bIns="0" rtlCol="0" anchor="ctr"/>
          <a:lstStyle/>
          <a:p>
            <a:pPr marL="0" indent="0">
              <a:buNone/>
            </a:pPr>
            <a:r>
              <a:rPr lang="en-US" sz="1350" b="1" dirty="0">
                <a:solidFill>
                  <a:srgbClr val="1E5386"/>
                </a:solidFill>
                <a:latin typeface="Trebuchet MS" pitchFamily="34" charset="0"/>
                <a:ea typeface="Trebuchet MS" pitchFamily="34" charset="-122"/>
                <a:cs typeface="Trebuchet MS" pitchFamily="34" charset="-120"/>
              </a:rPr>
              <a:t>Global search</a:t>
            </a:r>
            <a:endParaRPr lang="en-US" sz="1350" dirty="0"/>
          </a:p>
        </p:txBody>
      </p:sp>
      <p:sp>
        <p:nvSpPr>
          <p:cNvPr id="8" name="Text 5"/>
          <p:cNvSpPr/>
          <p:nvPr/>
        </p:nvSpPr>
        <p:spPr>
          <a:xfrm>
            <a:off x="731520" y="2075688"/>
            <a:ext cx="2304288" cy="54864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Jump straight to any service or resource by name.</a:t>
            </a:r>
            <a:endParaRPr lang="en-US" sz="1150" dirty="0"/>
          </a:p>
        </p:txBody>
      </p:sp>
      <p:sp>
        <p:nvSpPr>
          <p:cNvPr id="9" name="card">
            <a:extLst>
              <a:ext uri="{C183D7F6-B498-43B3-948B-1728B52AA6E4}">
                <adec:decorative xmlns:adec="http://schemas.microsoft.com/office/drawing/2017/decorative" val="1"/>
              </a:ext>
            </a:extLst>
          </p:cNvPr>
          <p:cNvSpPr/>
          <p:nvPr/>
        </p:nvSpPr>
        <p:spPr>
          <a:xfrm>
            <a:off x="3401568" y="1417320"/>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0" name="icon tile">
            <a:extLst>
              <a:ext uri="{C183D7F6-B498-43B3-948B-1728B52AA6E4}">
                <adec:decorative xmlns:adec="http://schemas.microsoft.com/office/drawing/2017/decorative" val="1"/>
              </a:ext>
            </a:extLst>
          </p:cNvPr>
          <p:cNvSpPr/>
          <p:nvPr/>
        </p:nvSpPr>
        <p:spPr>
          <a:xfrm>
            <a:off x="3547872" y="1581912"/>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1" name="Image 1" descr="hierarchy icon"/>
          <p:cNvPicPr>
            <a:picLocks noChangeAspect="1"/>
          </p:cNvPicPr>
          <p:nvPr/>
        </p:nvPicPr>
        <p:blipFill>
          <a:blip r:embed="rId4"/>
          <a:stretch>
            <a:fillRect/>
          </a:stretch>
        </p:blipFill>
        <p:spPr>
          <a:xfrm>
            <a:off x="3632911" y="1666951"/>
            <a:ext cx="396850" cy="396850"/>
          </a:xfrm>
          <a:prstGeom prst="rect">
            <a:avLst/>
          </a:prstGeom>
        </p:spPr>
      </p:pic>
      <p:sp>
        <p:nvSpPr>
          <p:cNvPr id="12" name="Text 8"/>
          <p:cNvSpPr/>
          <p:nvPr/>
        </p:nvSpPr>
        <p:spPr>
          <a:xfrm>
            <a:off x="4242816" y="1563624"/>
            <a:ext cx="1655064" cy="365760"/>
          </a:xfrm>
          <a:prstGeom prst="rect">
            <a:avLst/>
          </a:prstGeom>
          <a:noFill/>
          <a:ln/>
        </p:spPr>
        <p:txBody>
          <a:bodyPr wrap="square" lIns="0" tIns="0" rIns="0" bIns="0" rtlCol="0" anchor="ctr"/>
          <a:lstStyle/>
          <a:p>
            <a:pPr marL="0" indent="0">
              <a:buNone/>
            </a:pPr>
            <a:r>
              <a:rPr lang="en-US" sz="1350" b="1" dirty="0">
                <a:solidFill>
                  <a:srgbClr val="1E5386"/>
                </a:solidFill>
                <a:latin typeface="Trebuchet MS" pitchFamily="34" charset="0"/>
                <a:ea typeface="Trebuchet MS" pitchFamily="34" charset="-122"/>
                <a:cs typeface="Trebuchet MS" pitchFamily="34" charset="-120"/>
              </a:rPr>
              <a:t>Home &amp; Dashboard</a:t>
            </a:r>
            <a:endParaRPr lang="en-US" sz="1350" dirty="0"/>
          </a:p>
        </p:txBody>
      </p:sp>
      <p:sp>
        <p:nvSpPr>
          <p:cNvPr id="13" name="Text 9"/>
          <p:cNvSpPr/>
          <p:nvPr/>
        </p:nvSpPr>
        <p:spPr>
          <a:xfrm>
            <a:off x="3566160" y="2075688"/>
            <a:ext cx="2304288" cy="54864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Recent items, quick-create and pinned tiles.</a:t>
            </a:r>
            <a:endParaRPr lang="en-US" sz="1150" dirty="0"/>
          </a:p>
        </p:txBody>
      </p:sp>
      <p:sp>
        <p:nvSpPr>
          <p:cNvPr id="14" name="card">
            <a:extLst>
              <a:ext uri="{C183D7F6-B498-43B3-948B-1728B52AA6E4}">
                <adec:decorative xmlns:adec="http://schemas.microsoft.com/office/drawing/2017/decorative" val="1"/>
              </a:ext>
            </a:extLst>
          </p:cNvPr>
          <p:cNvSpPr/>
          <p:nvPr/>
        </p:nvSpPr>
        <p:spPr>
          <a:xfrm>
            <a:off x="6236208" y="1417320"/>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5" name="icon tile">
            <a:extLst>
              <a:ext uri="{C183D7F6-B498-43B3-948B-1728B52AA6E4}">
                <adec:decorative xmlns:adec="http://schemas.microsoft.com/office/drawing/2017/decorative" val="1"/>
              </a:ext>
            </a:extLst>
          </p:cNvPr>
          <p:cNvSpPr/>
          <p:nvPr/>
        </p:nvSpPr>
        <p:spPr>
          <a:xfrm>
            <a:off x="6382512" y="1581912"/>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16" name="Image 2" descr="layers icon"/>
          <p:cNvPicPr>
            <a:picLocks noChangeAspect="1"/>
          </p:cNvPicPr>
          <p:nvPr/>
        </p:nvPicPr>
        <p:blipFill>
          <a:blip r:embed="rId5"/>
          <a:stretch>
            <a:fillRect/>
          </a:stretch>
        </p:blipFill>
        <p:spPr>
          <a:xfrm>
            <a:off x="6467551" y="1666951"/>
            <a:ext cx="396850" cy="396850"/>
          </a:xfrm>
          <a:prstGeom prst="rect">
            <a:avLst/>
          </a:prstGeom>
        </p:spPr>
      </p:pic>
      <p:sp>
        <p:nvSpPr>
          <p:cNvPr id="17" name="Text 12"/>
          <p:cNvSpPr/>
          <p:nvPr/>
        </p:nvSpPr>
        <p:spPr>
          <a:xfrm>
            <a:off x="7077456" y="1563624"/>
            <a:ext cx="1655064" cy="365760"/>
          </a:xfrm>
          <a:prstGeom prst="rect">
            <a:avLst/>
          </a:prstGeom>
          <a:noFill/>
          <a:ln/>
        </p:spPr>
        <p:txBody>
          <a:bodyPr wrap="square" lIns="0" tIns="0" rIns="0" bIns="0" rtlCol="0" anchor="ctr"/>
          <a:lstStyle/>
          <a:p>
            <a:pPr marL="0" indent="0">
              <a:buNone/>
            </a:pPr>
            <a:r>
              <a:rPr lang="en-US" sz="1350" b="1" dirty="0">
                <a:solidFill>
                  <a:srgbClr val="1E5386"/>
                </a:solidFill>
                <a:latin typeface="Trebuchet MS" pitchFamily="34" charset="0"/>
                <a:ea typeface="Trebuchet MS" pitchFamily="34" charset="-122"/>
                <a:cs typeface="Trebuchet MS" pitchFamily="34" charset="-120"/>
              </a:rPr>
              <a:t>All services</a:t>
            </a:r>
            <a:endParaRPr lang="en-US" sz="1350" dirty="0"/>
          </a:p>
        </p:txBody>
      </p:sp>
      <p:sp>
        <p:nvSpPr>
          <p:cNvPr id="18" name="Text 13"/>
          <p:cNvSpPr/>
          <p:nvPr/>
        </p:nvSpPr>
        <p:spPr>
          <a:xfrm>
            <a:off x="6400800" y="2075688"/>
            <a:ext cx="2304288" cy="54864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Browse the full catalog from the left menu.</a:t>
            </a:r>
            <a:endParaRPr lang="en-US" sz="1150" dirty="0"/>
          </a:p>
        </p:txBody>
      </p:sp>
      <p:sp>
        <p:nvSpPr>
          <p:cNvPr id="19" name="card">
            <a:extLst>
              <a:ext uri="{C183D7F6-B498-43B3-948B-1728B52AA6E4}">
                <adec:decorative xmlns:adec="http://schemas.microsoft.com/office/drawing/2017/decorative" val="1"/>
              </a:ext>
            </a:extLst>
          </p:cNvPr>
          <p:cNvSpPr/>
          <p:nvPr/>
        </p:nvSpPr>
        <p:spPr>
          <a:xfrm>
            <a:off x="566928" y="2898648"/>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0" name="icon tile">
            <a:extLst>
              <a:ext uri="{C183D7F6-B498-43B3-948B-1728B52AA6E4}">
                <adec:decorative xmlns:adec="http://schemas.microsoft.com/office/drawing/2017/decorative" val="1"/>
              </a:ext>
            </a:extLst>
          </p:cNvPr>
          <p:cNvSpPr/>
          <p:nvPr/>
        </p:nvSpPr>
        <p:spPr>
          <a:xfrm>
            <a:off x="713232" y="3063240"/>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1" name="Image 3" descr="folder icon"/>
          <p:cNvPicPr>
            <a:picLocks noChangeAspect="1"/>
          </p:cNvPicPr>
          <p:nvPr/>
        </p:nvPicPr>
        <p:blipFill>
          <a:blip r:embed="rId6"/>
          <a:stretch>
            <a:fillRect/>
          </a:stretch>
        </p:blipFill>
        <p:spPr>
          <a:xfrm>
            <a:off x="798271" y="3148279"/>
            <a:ext cx="396850" cy="396850"/>
          </a:xfrm>
          <a:prstGeom prst="rect">
            <a:avLst/>
          </a:prstGeom>
        </p:spPr>
      </p:pic>
      <p:sp>
        <p:nvSpPr>
          <p:cNvPr id="22" name="Text 16"/>
          <p:cNvSpPr/>
          <p:nvPr/>
        </p:nvSpPr>
        <p:spPr>
          <a:xfrm>
            <a:off x="1408176" y="3044952"/>
            <a:ext cx="1655064" cy="365760"/>
          </a:xfrm>
          <a:prstGeom prst="rect">
            <a:avLst/>
          </a:prstGeom>
          <a:noFill/>
          <a:ln/>
        </p:spPr>
        <p:txBody>
          <a:bodyPr wrap="square" lIns="0" tIns="0" rIns="0" bIns="0" rtlCol="0" anchor="ctr"/>
          <a:lstStyle/>
          <a:p>
            <a:pPr marL="0" indent="0">
              <a:buNone/>
            </a:pPr>
            <a:r>
              <a:rPr lang="en-US" sz="1350" b="1" dirty="0">
                <a:solidFill>
                  <a:srgbClr val="1E5386"/>
                </a:solidFill>
                <a:latin typeface="Trebuchet MS" pitchFamily="34" charset="0"/>
                <a:ea typeface="Trebuchet MS" pitchFamily="34" charset="-122"/>
                <a:cs typeface="Trebuchet MS" pitchFamily="34" charset="-120"/>
              </a:rPr>
              <a:t>Resource groups</a:t>
            </a:r>
            <a:endParaRPr lang="en-US" sz="1350" dirty="0"/>
          </a:p>
        </p:txBody>
      </p:sp>
      <p:sp>
        <p:nvSpPr>
          <p:cNvPr id="23" name="Text 17"/>
          <p:cNvSpPr/>
          <p:nvPr/>
        </p:nvSpPr>
        <p:spPr>
          <a:xfrm>
            <a:off x="731520" y="3557016"/>
            <a:ext cx="2304288" cy="54864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See everything that belongs to one project.</a:t>
            </a:r>
            <a:endParaRPr lang="en-US" sz="1150" dirty="0"/>
          </a:p>
        </p:txBody>
      </p:sp>
      <p:sp>
        <p:nvSpPr>
          <p:cNvPr id="24" name="card">
            <a:extLst>
              <a:ext uri="{C183D7F6-B498-43B3-948B-1728B52AA6E4}">
                <adec:decorative xmlns:adec="http://schemas.microsoft.com/office/drawing/2017/decorative" val="1"/>
              </a:ext>
            </a:extLst>
          </p:cNvPr>
          <p:cNvSpPr/>
          <p:nvPr/>
        </p:nvSpPr>
        <p:spPr>
          <a:xfrm>
            <a:off x="3401568" y="2898648"/>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5" name="icon tile">
            <a:extLst>
              <a:ext uri="{C183D7F6-B498-43B3-948B-1728B52AA6E4}">
                <adec:decorative xmlns:adec="http://schemas.microsoft.com/office/drawing/2017/decorative" val="1"/>
              </a:ext>
            </a:extLst>
          </p:cNvPr>
          <p:cNvSpPr/>
          <p:nvPr/>
        </p:nvSpPr>
        <p:spPr>
          <a:xfrm>
            <a:off x="3547872" y="3063240"/>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26" name="Image 4" descr="costmgmt icon"/>
          <p:cNvPicPr>
            <a:picLocks noChangeAspect="1"/>
          </p:cNvPicPr>
          <p:nvPr/>
        </p:nvPicPr>
        <p:blipFill>
          <a:blip r:embed="rId7"/>
          <a:stretch>
            <a:fillRect/>
          </a:stretch>
        </p:blipFill>
        <p:spPr>
          <a:xfrm>
            <a:off x="3632911" y="3197478"/>
            <a:ext cx="396850" cy="298453"/>
          </a:xfrm>
          <a:prstGeom prst="rect">
            <a:avLst/>
          </a:prstGeom>
        </p:spPr>
      </p:pic>
      <p:sp>
        <p:nvSpPr>
          <p:cNvPr id="27" name="Text 20"/>
          <p:cNvSpPr/>
          <p:nvPr/>
        </p:nvSpPr>
        <p:spPr>
          <a:xfrm>
            <a:off x="4242816" y="3044952"/>
            <a:ext cx="1655064" cy="365760"/>
          </a:xfrm>
          <a:prstGeom prst="rect">
            <a:avLst/>
          </a:prstGeom>
          <a:noFill/>
          <a:ln/>
        </p:spPr>
        <p:txBody>
          <a:bodyPr wrap="square" lIns="0" tIns="0" rIns="0" bIns="0" rtlCol="0" anchor="ctr"/>
          <a:lstStyle/>
          <a:p>
            <a:pPr marL="0" indent="0">
              <a:buNone/>
            </a:pPr>
            <a:r>
              <a:rPr lang="en-US" sz="1350" b="1" dirty="0">
                <a:solidFill>
                  <a:srgbClr val="1E5386"/>
                </a:solidFill>
                <a:latin typeface="Trebuchet MS" pitchFamily="34" charset="0"/>
                <a:ea typeface="Trebuchet MS" pitchFamily="34" charset="-122"/>
                <a:cs typeface="Trebuchet MS" pitchFamily="34" charset="-120"/>
              </a:rPr>
              <a:t>Cost Management</a:t>
            </a:r>
            <a:endParaRPr lang="en-US" sz="1350" dirty="0"/>
          </a:p>
        </p:txBody>
      </p:sp>
      <p:sp>
        <p:nvSpPr>
          <p:cNvPr id="28" name="Text 21"/>
          <p:cNvSpPr/>
          <p:nvPr/>
        </p:nvSpPr>
        <p:spPr>
          <a:xfrm>
            <a:off x="3566160" y="3557016"/>
            <a:ext cx="2304288" cy="54864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Track spend and budgets in real time.</a:t>
            </a:r>
            <a:endParaRPr lang="en-US" sz="1150" dirty="0"/>
          </a:p>
        </p:txBody>
      </p:sp>
      <p:sp>
        <p:nvSpPr>
          <p:cNvPr id="29" name="card">
            <a:extLst>
              <a:ext uri="{C183D7F6-B498-43B3-948B-1728B52AA6E4}">
                <adec:decorative xmlns:adec="http://schemas.microsoft.com/office/drawing/2017/decorative" val="1"/>
              </a:ext>
            </a:extLst>
          </p:cNvPr>
          <p:cNvSpPr/>
          <p:nvPr/>
        </p:nvSpPr>
        <p:spPr>
          <a:xfrm>
            <a:off x="6236208" y="2898648"/>
            <a:ext cx="2615184" cy="1298448"/>
          </a:xfrm>
          <a:prstGeom prst="roundRect">
            <a:avLst>
              <a:gd name="adj" fmla="val 77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30" name="icon tile">
            <a:extLst>
              <a:ext uri="{C183D7F6-B498-43B3-948B-1728B52AA6E4}">
                <adec:decorative xmlns:adec="http://schemas.microsoft.com/office/drawing/2017/decorative" val="1"/>
              </a:ext>
            </a:extLst>
          </p:cNvPr>
          <p:cNvSpPr/>
          <p:nvPr/>
        </p:nvSpPr>
        <p:spPr>
          <a:xfrm>
            <a:off x="6382512" y="3063240"/>
            <a:ext cx="566928" cy="566928"/>
          </a:xfrm>
          <a:prstGeom prst="roundRect">
            <a:avLst>
              <a:gd name="adj" fmla="val 22000"/>
            </a:avLst>
          </a:prstGeom>
          <a:solidFill>
            <a:srgbClr val="E6F1FB"/>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31" name="Image 5" descr="vm icon"/>
          <p:cNvPicPr>
            <a:picLocks noChangeAspect="1"/>
          </p:cNvPicPr>
          <p:nvPr/>
        </p:nvPicPr>
        <p:blipFill>
          <a:blip r:embed="rId8"/>
          <a:stretch>
            <a:fillRect/>
          </a:stretch>
        </p:blipFill>
        <p:spPr>
          <a:xfrm>
            <a:off x="6467551" y="3186384"/>
            <a:ext cx="396850" cy="320641"/>
          </a:xfrm>
          <a:prstGeom prst="rect">
            <a:avLst/>
          </a:prstGeom>
        </p:spPr>
      </p:pic>
      <p:sp>
        <p:nvSpPr>
          <p:cNvPr id="32" name="Text 24"/>
          <p:cNvSpPr/>
          <p:nvPr/>
        </p:nvSpPr>
        <p:spPr>
          <a:xfrm>
            <a:off x="7077456" y="3044952"/>
            <a:ext cx="1655064" cy="365760"/>
          </a:xfrm>
          <a:prstGeom prst="rect">
            <a:avLst/>
          </a:prstGeom>
          <a:noFill/>
          <a:ln/>
        </p:spPr>
        <p:txBody>
          <a:bodyPr wrap="square" lIns="0" tIns="0" rIns="0" bIns="0" rtlCol="0" anchor="ctr"/>
          <a:lstStyle/>
          <a:p>
            <a:pPr marL="0" indent="0">
              <a:buNone/>
            </a:pPr>
            <a:r>
              <a:rPr lang="en-US" sz="1350" b="1" dirty="0">
                <a:solidFill>
                  <a:srgbClr val="1E5386"/>
                </a:solidFill>
                <a:latin typeface="Trebuchet MS" pitchFamily="34" charset="0"/>
                <a:ea typeface="Trebuchet MS" pitchFamily="34" charset="-122"/>
                <a:cs typeface="Trebuchet MS" pitchFamily="34" charset="-120"/>
              </a:rPr>
              <a:t>Cloud Shell</a:t>
            </a:r>
            <a:endParaRPr lang="en-US" sz="1350" dirty="0"/>
          </a:p>
        </p:txBody>
      </p:sp>
      <p:sp>
        <p:nvSpPr>
          <p:cNvPr id="33" name="Text 25"/>
          <p:cNvSpPr/>
          <p:nvPr/>
        </p:nvSpPr>
        <p:spPr>
          <a:xfrm>
            <a:off x="6400800" y="3557016"/>
            <a:ext cx="2304288" cy="54864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Run commands right inside the browser.</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1371600"/>
            <a:ext cx="1188720" cy="2194560"/>
          </a:xfrm>
          <a:prstGeom prst="rect">
            <a:avLst/>
          </a:prstGeom>
          <a:noFill/>
          <a:ln/>
        </p:spPr>
        <p:txBody>
          <a:bodyPr wrap="square" lIns="0" tIns="0" rIns="0" bIns="0" rtlCol="0" anchor="ctr"/>
          <a:lstStyle/>
          <a:p>
            <a:pPr marL="0" indent="0" algn="l">
              <a:buNone/>
            </a:pPr>
            <a:r>
              <a:rPr lang="en-US" sz="14000" b="1" dirty="0">
                <a:solidFill>
                  <a:srgbClr val="F0B34E"/>
                </a:solidFill>
                <a:latin typeface="Trebuchet MS" pitchFamily="34" charset="0"/>
                <a:ea typeface="Trebuchet MS" pitchFamily="34" charset="-122"/>
                <a:cs typeface="Trebuchet MS" pitchFamily="34" charset="-120"/>
              </a:rPr>
              <a:t>?</a:t>
            </a:r>
            <a:endParaRPr lang="en-US" sz="14000" dirty="0"/>
          </a:p>
        </p:txBody>
      </p:sp>
      <p:sp>
        <p:nvSpPr>
          <p:cNvPr id="3" name="icon tile">
            <a:extLst>
              <a:ext uri="{C183D7F6-B498-43B3-948B-1728B52AA6E4}">
                <adec:decorative xmlns:adec="http://schemas.microsoft.com/office/drawing/2017/decorative" val="1"/>
              </a:ext>
            </a:extLst>
          </p:cNvPr>
          <p:cNvSpPr/>
          <p:nvPr/>
        </p:nvSpPr>
        <p:spPr>
          <a:xfrm>
            <a:off x="7360920" y="685800"/>
            <a:ext cx="1097280" cy="1097280"/>
          </a:xfrm>
          <a:prstGeom prst="roundRect">
            <a:avLst>
              <a:gd name="adj" fmla="val 11667"/>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4" name="Image 0" descr="recap icon"/>
          <p:cNvPicPr>
            <a:picLocks noChangeAspect="1"/>
          </p:cNvPicPr>
          <p:nvPr/>
        </p:nvPicPr>
        <p:blipFill>
          <a:blip r:embed="rId3"/>
          <a:stretch>
            <a:fillRect/>
          </a:stretch>
        </p:blipFill>
        <p:spPr>
          <a:xfrm>
            <a:off x="7589211" y="850392"/>
            <a:ext cx="640698" cy="768096"/>
          </a:xfrm>
          <a:prstGeom prst="rect">
            <a:avLst/>
          </a:prstGeom>
        </p:spPr>
      </p:pic>
      <p:sp>
        <p:nvSpPr>
          <p:cNvPr id="5" name="Text 2">
            <a:extLst>
              <a:ext uri="{C183D7F6-B498-43B3-948B-1728B52AA6E4}">
                <adec:decorative xmlns:adec="http://schemas.microsoft.com/office/drawing/2017/decorative" val="1"/>
              </a:ext>
            </a:extLst>
          </p:cNvPr>
          <p:cNvSpPr/>
          <p:nvPr/>
        </p:nvSpPr>
        <p:spPr>
          <a:xfrm>
            <a:off x="1755648" y="1572768"/>
            <a:ext cx="5486400" cy="274320"/>
          </a:xfrm>
          <a:prstGeom prst="rect">
            <a:avLst/>
          </a:prstGeom>
          <a:noFill/>
          <a:ln/>
        </p:spPr>
        <p:txBody>
          <a:bodyPr wrap="square" lIns="0" tIns="0" rIns="0" bIns="0" rtlCol="0" anchor="ctr"/>
          <a:lstStyle/>
          <a:p>
            <a:pPr marL="0" indent="0">
              <a:buNone/>
            </a:pPr>
            <a:r>
              <a:rPr lang="en-US" sz="1300" b="1" kern="0" spc="300" dirty="0">
                <a:solidFill>
                  <a:srgbClr val="F0B34E"/>
                </a:solidFill>
                <a:latin typeface="Trebuchet MS" pitchFamily="34" charset="0"/>
                <a:ea typeface="Trebuchet MS" pitchFamily="34" charset="-122"/>
                <a:cs typeface="Trebuchet MS" pitchFamily="34" charset="-120"/>
              </a:rPr>
              <a:t>QUICK QUIZ</a:t>
            </a:r>
            <a:endParaRPr lang="en-US" sz="1300" dirty="0"/>
          </a:p>
        </p:txBody>
      </p:sp>
      <p:sp>
        <p:nvSpPr>
          <p:cNvPr id="6" name="Text 0"/>
          <p:cNvSpPr>
            <a:spLocks noGrp="1"/>
          </p:cNvSpPr>
          <p:nvPr>
            <p:ph type="title" idx="100" hasCustomPrompt="1"/>
          </p:nvPr>
        </p:nvSpPr>
        <p:spPr>
          <a:xfrm>
            <a:off x="1737360" y="1965960"/>
            <a:ext cx="6766560" cy="914400"/>
          </a:xfrm>
          <a:prstGeom prst="rect">
            <a:avLst/>
          </a:prstGeom>
          <a:noFill/>
          <a:ln/>
        </p:spPr>
        <p:txBody>
          <a:bodyPr wrap="square" lIns="0" tIns="0" rIns="0" bIns="0" rtlCol="0"/>
          <a:lstStyle/>
          <a:p>
            <a:pPr marL="0" indent="0" algn="l">
              <a:buNone/>
            </a:pPr>
            <a:r>
              <a:rPr lang="en-US" sz="3400" b="1" dirty="0">
                <a:solidFill>
                  <a:srgbClr val="FFFFFF"/>
                </a:solidFill>
                <a:latin typeface="Trebuchet MS" pitchFamily="34" charset="0"/>
                <a:ea typeface="Trebuchet MS" pitchFamily="34" charset="-122"/>
                <a:cs typeface="Trebuchet MS" pitchFamily="34" charset="-120"/>
              </a:rPr>
              <a:t>Test yourself</a:t>
            </a:r>
            <a:endParaRPr lang="en-US" sz="3400" dirty="0"/>
          </a:p>
        </p:txBody>
      </p:sp>
      <p:sp>
        <p:nvSpPr>
          <p:cNvPr id="7" name="Text 4">
            <a:extLst>
              <a:ext uri="{C183D7F6-B498-43B3-948B-1728B52AA6E4}">
                <adec:decorative xmlns:adec="http://schemas.microsoft.com/office/drawing/2017/decorative" val="1"/>
              </a:ext>
            </a:extLst>
          </p:cNvPr>
          <p:cNvSpPr/>
          <p:nvPr/>
        </p:nvSpPr>
        <p:spPr>
          <a:xfrm>
            <a:off x="1755648" y="3017520"/>
            <a:ext cx="5669280" cy="548640"/>
          </a:xfrm>
          <a:prstGeom prst="rect">
            <a:avLst/>
          </a:prstGeom>
          <a:noFill/>
          <a:ln/>
        </p:spPr>
        <p:txBody>
          <a:bodyPr wrap="square" lIns="0" tIns="0" rIns="0" bIns="0" rtlCol="0" anchor="ctr"/>
          <a:lstStyle/>
          <a:p>
            <a:pPr marL="0" indent="0">
              <a:lnSpc>
                <a:spcPts val="1800"/>
              </a:lnSpc>
              <a:buNone/>
            </a:pPr>
            <a:r>
              <a:rPr lang="en-US" sz="1400" i="1" dirty="0">
                <a:solidFill>
                  <a:srgbClr val="CFE3F5"/>
                </a:solidFill>
                <a:latin typeface="Calibri" pitchFamily="34" charset="0"/>
                <a:ea typeface="Calibri" pitchFamily="34" charset="-122"/>
                <a:cs typeface="Calibri" pitchFamily="34" charset="-120"/>
              </a:rPr>
              <a:t>Six quick questions to sum up Week 1 — we'll review the answers together at the end.</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QUICK QUIZ</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Questions 1 &amp; 2</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325880"/>
            <a:ext cx="8010144" cy="1691640"/>
          </a:xfrm>
          <a:prstGeom prst="roundRect">
            <a:avLst>
              <a:gd name="adj" fmla="val 59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q badge">
            <a:extLst>
              <a:ext uri="{C183D7F6-B498-43B3-948B-1728B52AA6E4}">
                <adec:decorative xmlns:adec="http://schemas.microsoft.com/office/drawing/2017/decorative" val="1"/>
              </a:ext>
            </a:extLst>
          </p:cNvPr>
          <p:cNvSpPr/>
          <p:nvPr/>
        </p:nvSpPr>
        <p:spPr>
          <a:xfrm>
            <a:off x="786384" y="1527048"/>
            <a:ext cx="530352" cy="530352"/>
          </a:xfrm>
          <a:prstGeom prst="ellipse">
            <a:avLst/>
          </a:prstGeom>
          <a:solidFill>
            <a:srgbClr val="EF6F58"/>
          </a:solidFill>
          <a:ln/>
        </p:spPr>
        <p:txBody>
          <a:bodyPr/>
          <a:lstStyle/>
          <a:p>
            <a:endParaRPr lang="en-HU"/>
          </a:p>
        </p:txBody>
      </p:sp>
      <p:sp>
        <p:nvSpPr>
          <p:cNvPr id="6" name="Text 4"/>
          <p:cNvSpPr/>
          <p:nvPr/>
        </p:nvSpPr>
        <p:spPr>
          <a:xfrm>
            <a:off x="786384" y="1527048"/>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Q1</a:t>
            </a:r>
            <a:endParaRPr lang="en-US" sz="1500" dirty="0"/>
          </a:p>
        </p:txBody>
      </p:sp>
      <p:sp>
        <p:nvSpPr>
          <p:cNvPr id="7" name="Text 5"/>
          <p:cNvSpPr/>
          <p:nvPr/>
        </p:nvSpPr>
        <p:spPr>
          <a:xfrm>
            <a:off x="1481328" y="1472184"/>
            <a:ext cx="6912864" cy="548640"/>
          </a:xfrm>
          <a:prstGeom prst="rect">
            <a:avLst/>
          </a:prstGeom>
          <a:noFill/>
          <a:ln/>
        </p:spPr>
        <p:txBody>
          <a:bodyPr wrap="square" lIns="0" tIns="0" rIns="0" bIns="0" rtlCol="0" anchor="ctr"/>
          <a:lstStyle/>
          <a:p>
            <a:pPr marL="0" indent="0">
              <a:lnSpc>
                <a:spcPts val="1600"/>
              </a:lnSpc>
              <a:buNone/>
            </a:pPr>
            <a:r>
              <a:rPr lang="en-US" sz="1450" b="1" dirty="0">
                <a:solidFill>
                  <a:srgbClr val="1E5386"/>
                </a:solidFill>
                <a:latin typeface="Trebuchet MS" pitchFamily="34" charset="0"/>
                <a:ea typeface="Trebuchet MS" pitchFamily="34" charset="-122"/>
                <a:cs typeface="Trebuchet MS" pitchFamily="34" charset="-120"/>
              </a:rPr>
              <a:t>What best describes cloud computing?</a:t>
            </a:r>
            <a:endParaRPr lang="en-US" sz="1450" dirty="0"/>
          </a:p>
        </p:txBody>
      </p:sp>
      <p:sp>
        <p:nvSpPr>
          <p:cNvPr id="8" name="option">
            <a:extLst>
              <a:ext uri="{C183D7F6-B498-43B3-948B-1728B52AA6E4}">
                <adec:decorative xmlns:adec="http://schemas.microsoft.com/office/drawing/2017/decorative" val="1"/>
              </a:ext>
            </a:extLst>
          </p:cNvPr>
          <p:cNvSpPr/>
          <p:nvPr/>
        </p:nvSpPr>
        <p:spPr>
          <a:xfrm>
            <a:off x="749808" y="207568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9" name="Text 7"/>
          <p:cNvSpPr/>
          <p:nvPr/>
        </p:nvSpPr>
        <p:spPr>
          <a:xfrm>
            <a:off x="896112" y="207568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A   </a:t>
            </a:r>
            <a:r>
              <a:rPr lang="en-US" sz="1150" dirty="0">
                <a:solidFill>
                  <a:srgbClr val="2A3B4D"/>
                </a:solidFill>
                <a:latin typeface="Calibri" pitchFamily="34" charset="0"/>
                <a:ea typeface="Calibri" pitchFamily="34" charset="-122"/>
                <a:cs typeface="Calibri" pitchFamily="34" charset="-120"/>
              </a:rPr>
              <a:t>Owning your own servers</a:t>
            </a:r>
            <a:endParaRPr lang="en-US" sz="1150" dirty="0"/>
          </a:p>
        </p:txBody>
      </p:sp>
      <p:sp>
        <p:nvSpPr>
          <p:cNvPr id="10" name="option">
            <a:extLst>
              <a:ext uri="{C183D7F6-B498-43B3-948B-1728B52AA6E4}">
                <adec:decorative xmlns:adec="http://schemas.microsoft.com/office/drawing/2017/decorative" val="1"/>
              </a:ext>
            </a:extLst>
          </p:cNvPr>
          <p:cNvSpPr/>
          <p:nvPr/>
        </p:nvSpPr>
        <p:spPr>
          <a:xfrm>
            <a:off x="4663440" y="207568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11" name="Text 9"/>
          <p:cNvSpPr/>
          <p:nvPr/>
        </p:nvSpPr>
        <p:spPr>
          <a:xfrm>
            <a:off x="4809744" y="207568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B   </a:t>
            </a:r>
            <a:r>
              <a:rPr lang="en-US" sz="1150" dirty="0">
                <a:solidFill>
                  <a:srgbClr val="2A3B4D"/>
                </a:solidFill>
                <a:latin typeface="Calibri" pitchFamily="34" charset="0"/>
                <a:ea typeface="Calibri" pitchFamily="34" charset="-122"/>
                <a:cs typeface="Calibri" pitchFamily="34" charset="-120"/>
              </a:rPr>
              <a:t>Renting computing, pay per use</a:t>
            </a:r>
            <a:endParaRPr lang="en-US" sz="1150" dirty="0"/>
          </a:p>
        </p:txBody>
      </p:sp>
      <p:sp>
        <p:nvSpPr>
          <p:cNvPr id="12" name="option">
            <a:extLst>
              <a:ext uri="{C183D7F6-B498-43B3-948B-1728B52AA6E4}">
                <adec:decorative xmlns:adec="http://schemas.microsoft.com/office/drawing/2017/decorative" val="1"/>
              </a:ext>
            </a:extLst>
          </p:cNvPr>
          <p:cNvSpPr/>
          <p:nvPr/>
        </p:nvSpPr>
        <p:spPr>
          <a:xfrm>
            <a:off x="749808" y="254203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13" name="Text 11"/>
          <p:cNvSpPr/>
          <p:nvPr/>
        </p:nvSpPr>
        <p:spPr>
          <a:xfrm>
            <a:off x="896112" y="254203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C   </a:t>
            </a:r>
            <a:r>
              <a:rPr lang="en-US" sz="1150" dirty="0">
                <a:solidFill>
                  <a:srgbClr val="2A3B4D"/>
                </a:solidFill>
                <a:latin typeface="Calibri" pitchFamily="34" charset="0"/>
                <a:ea typeface="Calibri" pitchFamily="34" charset="-122"/>
                <a:cs typeface="Calibri" pitchFamily="34" charset="-120"/>
              </a:rPr>
              <a:t>A programming language</a:t>
            </a:r>
            <a:endParaRPr lang="en-US" sz="1150" dirty="0"/>
          </a:p>
        </p:txBody>
      </p:sp>
      <p:sp>
        <p:nvSpPr>
          <p:cNvPr id="14" name="option">
            <a:extLst>
              <a:ext uri="{C183D7F6-B498-43B3-948B-1728B52AA6E4}">
                <adec:decorative xmlns:adec="http://schemas.microsoft.com/office/drawing/2017/decorative" val="1"/>
              </a:ext>
            </a:extLst>
          </p:cNvPr>
          <p:cNvSpPr/>
          <p:nvPr/>
        </p:nvSpPr>
        <p:spPr>
          <a:xfrm>
            <a:off x="4663440" y="254203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15" name="Text 13"/>
          <p:cNvSpPr/>
          <p:nvPr/>
        </p:nvSpPr>
        <p:spPr>
          <a:xfrm>
            <a:off x="4809744" y="254203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D   </a:t>
            </a:r>
            <a:r>
              <a:rPr lang="en-US" sz="1150" dirty="0">
                <a:solidFill>
                  <a:srgbClr val="2A3B4D"/>
                </a:solidFill>
                <a:latin typeface="Calibri" pitchFamily="34" charset="0"/>
                <a:ea typeface="Calibri" pitchFamily="34" charset="-122"/>
                <a:cs typeface="Calibri" pitchFamily="34" charset="-120"/>
              </a:rPr>
              <a:t>A kind of database</a:t>
            </a:r>
            <a:endParaRPr lang="en-US" sz="1150" dirty="0"/>
          </a:p>
        </p:txBody>
      </p:sp>
      <p:sp>
        <p:nvSpPr>
          <p:cNvPr id="16" name="card">
            <a:extLst>
              <a:ext uri="{C183D7F6-B498-43B3-948B-1728B52AA6E4}">
                <adec:decorative xmlns:adec="http://schemas.microsoft.com/office/drawing/2017/decorative" val="1"/>
              </a:ext>
            </a:extLst>
          </p:cNvPr>
          <p:cNvSpPr/>
          <p:nvPr/>
        </p:nvSpPr>
        <p:spPr>
          <a:xfrm>
            <a:off x="566928" y="3200400"/>
            <a:ext cx="8010144" cy="1691640"/>
          </a:xfrm>
          <a:prstGeom prst="roundRect">
            <a:avLst>
              <a:gd name="adj" fmla="val 59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7" name="q badge">
            <a:extLst>
              <a:ext uri="{C183D7F6-B498-43B3-948B-1728B52AA6E4}">
                <adec:decorative xmlns:adec="http://schemas.microsoft.com/office/drawing/2017/decorative" val="1"/>
              </a:ext>
            </a:extLst>
          </p:cNvPr>
          <p:cNvSpPr/>
          <p:nvPr/>
        </p:nvSpPr>
        <p:spPr>
          <a:xfrm>
            <a:off x="786384" y="3401568"/>
            <a:ext cx="530352" cy="530352"/>
          </a:xfrm>
          <a:prstGeom prst="ellipse">
            <a:avLst/>
          </a:prstGeom>
          <a:solidFill>
            <a:srgbClr val="EF6F58"/>
          </a:solidFill>
          <a:ln/>
        </p:spPr>
        <p:txBody>
          <a:bodyPr/>
          <a:lstStyle/>
          <a:p>
            <a:endParaRPr lang="en-HU"/>
          </a:p>
        </p:txBody>
      </p:sp>
      <p:sp>
        <p:nvSpPr>
          <p:cNvPr id="18" name="Text 16"/>
          <p:cNvSpPr/>
          <p:nvPr/>
        </p:nvSpPr>
        <p:spPr>
          <a:xfrm>
            <a:off x="786384" y="3401568"/>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Q2</a:t>
            </a:r>
            <a:endParaRPr lang="en-US" sz="1500" dirty="0"/>
          </a:p>
        </p:txBody>
      </p:sp>
      <p:sp>
        <p:nvSpPr>
          <p:cNvPr id="19" name="Text 17"/>
          <p:cNvSpPr/>
          <p:nvPr/>
        </p:nvSpPr>
        <p:spPr>
          <a:xfrm>
            <a:off x="1481328" y="3346704"/>
            <a:ext cx="6912864" cy="548640"/>
          </a:xfrm>
          <a:prstGeom prst="rect">
            <a:avLst/>
          </a:prstGeom>
          <a:noFill/>
          <a:ln/>
        </p:spPr>
        <p:txBody>
          <a:bodyPr wrap="square" lIns="0" tIns="0" rIns="0" bIns="0" rtlCol="0" anchor="ctr"/>
          <a:lstStyle/>
          <a:p>
            <a:pPr marL="0" indent="0">
              <a:lnSpc>
                <a:spcPts val="1600"/>
              </a:lnSpc>
              <a:buNone/>
            </a:pPr>
            <a:r>
              <a:rPr lang="en-US" sz="1450" b="1" dirty="0">
                <a:solidFill>
                  <a:srgbClr val="1E5386"/>
                </a:solidFill>
                <a:latin typeface="Trebuchet MS" pitchFamily="34" charset="0"/>
                <a:ea typeface="Trebuchet MS" pitchFamily="34" charset="-122"/>
                <a:cs typeface="Trebuchet MS" pitchFamily="34" charset="-120"/>
              </a:rPr>
              <a:t>Which model links on-premises and public cloud?</a:t>
            </a:r>
            <a:endParaRPr lang="en-US" sz="1450" dirty="0"/>
          </a:p>
        </p:txBody>
      </p:sp>
      <p:sp>
        <p:nvSpPr>
          <p:cNvPr id="20" name="option">
            <a:extLst>
              <a:ext uri="{C183D7F6-B498-43B3-948B-1728B52AA6E4}">
                <adec:decorative xmlns:adec="http://schemas.microsoft.com/office/drawing/2017/decorative" val="1"/>
              </a:ext>
            </a:extLst>
          </p:cNvPr>
          <p:cNvSpPr/>
          <p:nvPr/>
        </p:nvSpPr>
        <p:spPr>
          <a:xfrm>
            <a:off x="749808" y="395020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1" name="Text 19"/>
          <p:cNvSpPr/>
          <p:nvPr/>
        </p:nvSpPr>
        <p:spPr>
          <a:xfrm>
            <a:off x="896112" y="395020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A   </a:t>
            </a:r>
            <a:r>
              <a:rPr lang="en-US" sz="1150" dirty="0">
                <a:solidFill>
                  <a:srgbClr val="2A3B4D"/>
                </a:solidFill>
                <a:latin typeface="Calibri" pitchFamily="34" charset="0"/>
                <a:ea typeface="Calibri" pitchFamily="34" charset="-122"/>
                <a:cs typeface="Calibri" pitchFamily="34" charset="-120"/>
              </a:rPr>
              <a:t>Public</a:t>
            </a:r>
            <a:endParaRPr lang="en-US" sz="1150" dirty="0"/>
          </a:p>
        </p:txBody>
      </p:sp>
      <p:sp>
        <p:nvSpPr>
          <p:cNvPr id="22" name="option">
            <a:extLst>
              <a:ext uri="{C183D7F6-B498-43B3-948B-1728B52AA6E4}">
                <adec:decorative xmlns:adec="http://schemas.microsoft.com/office/drawing/2017/decorative" val="1"/>
              </a:ext>
            </a:extLst>
          </p:cNvPr>
          <p:cNvSpPr/>
          <p:nvPr/>
        </p:nvSpPr>
        <p:spPr>
          <a:xfrm>
            <a:off x="4663440" y="395020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3" name="Text 21"/>
          <p:cNvSpPr/>
          <p:nvPr/>
        </p:nvSpPr>
        <p:spPr>
          <a:xfrm>
            <a:off x="4809744" y="395020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B   </a:t>
            </a:r>
            <a:r>
              <a:rPr lang="en-US" sz="1150" dirty="0">
                <a:solidFill>
                  <a:srgbClr val="2A3B4D"/>
                </a:solidFill>
                <a:latin typeface="Calibri" pitchFamily="34" charset="0"/>
                <a:ea typeface="Calibri" pitchFamily="34" charset="-122"/>
                <a:cs typeface="Calibri" pitchFamily="34" charset="-120"/>
              </a:rPr>
              <a:t>Private</a:t>
            </a:r>
            <a:endParaRPr lang="en-US" sz="1150" dirty="0"/>
          </a:p>
        </p:txBody>
      </p:sp>
      <p:sp>
        <p:nvSpPr>
          <p:cNvPr id="24" name="option">
            <a:extLst>
              <a:ext uri="{C183D7F6-B498-43B3-948B-1728B52AA6E4}">
                <adec:decorative xmlns:adec="http://schemas.microsoft.com/office/drawing/2017/decorative" val="1"/>
              </a:ext>
            </a:extLst>
          </p:cNvPr>
          <p:cNvSpPr/>
          <p:nvPr/>
        </p:nvSpPr>
        <p:spPr>
          <a:xfrm>
            <a:off x="749808" y="441655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5" name="Text 23"/>
          <p:cNvSpPr/>
          <p:nvPr/>
        </p:nvSpPr>
        <p:spPr>
          <a:xfrm>
            <a:off x="896112" y="441655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C   </a:t>
            </a:r>
            <a:r>
              <a:rPr lang="en-US" sz="1150" dirty="0">
                <a:solidFill>
                  <a:srgbClr val="2A3B4D"/>
                </a:solidFill>
                <a:latin typeface="Calibri" pitchFamily="34" charset="0"/>
                <a:ea typeface="Calibri" pitchFamily="34" charset="-122"/>
                <a:cs typeface="Calibri" pitchFamily="34" charset="-120"/>
              </a:rPr>
              <a:t>Hybrid</a:t>
            </a:r>
            <a:endParaRPr lang="en-US" sz="1150" dirty="0"/>
          </a:p>
        </p:txBody>
      </p:sp>
      <p:sp>
        <p:nvSpPr>
          <p:cNvPr id="26" name="option">
            <a:extLst>
              <a:ext uri="{C183D7F6-B498-43B3-948B-1728B52AA6E4}">
                <adec:decorative xmlns:adec="http://schemas.microsoft.com/office/drawing/2017/decorative" val="1"/>
              </a:ext>
            </a:extLst>
          </p:cNvPr>
          <p:cNvSpPr/>
          <p:nvPr/>
        </p:nvSpPr>
        <p:spPr>
          <a:xfrm>
            <a:off x="4663440" y="441655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7" name="Text 25"/>
          <p:cNvSpPr/>
          <p:nvPr/>
        </p:nvSpPr>
        <p:spPr>
          <a:xfrm>
            <a:off x="4809744" y="441655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D   </a:t>
            </a:r>
            <a:r>
              <a:rPr lang="en-US" sz="1150" dirty="0">
                <a:solidFill>
                  <a:srgbClr val="2A3B4D"/>
                </a:solidFill>
                <a:latin typeface="Calibri" pitchFamily="34" charset="0"/>
                <a:ea typeface="Calibri" pitchFamily="34" charset="-122"/>
                <a:cs typeface="Calibri" pitchFamily="34" charset="-120"/>
              </a:rPr>
              <a:t>Multi-cloud</a:t>
            </a:r>
            <a:endParaRPr lang="en-US" sz="11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QUICK QUIZ</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Questions 3 &amp; 4</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325880"/>
            <a:ext cx="8010144" cy="1691640"/>
          </a:xfrm>
          <a:prstGeom prst="roundRect">
            <a:avLst>
              <a:gd name="adj" fmla="val 59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q badge">
            <a:extLst>
              <a:ext uri="{C183D7F6-B498-43B3-948B-1728B52AA6E4}">
                <adec:decorative xmlns:adec="http://schemas.microsoft.com/office/drawing/2017/decorative" val="1"/>
              </a:ext>
            </a:extLst>
          </p:cNvPr>
          <p:cNvSpPr/>
          <p:nvPr/>
        </p:nvSpPr>
        <p:spPr>
          <a:xfrm>
            <a:off x="786384" y="1527048"/>
            <a:ext cx="530352" cy="530352"/>
          </a:xfrm>
          <a:prstGeom prst="ellipse">
            <a:avLst/>
          </a:prstGeom>
          <a:solidFill>
            <a:srgbClr val="EF6F58"/>
          </a:solidFill>
          <a:ln/>
        </p:spPr>
        <p:txBody>
          <a:bodyPr/>
          <a:lstStyle/>
          <a:p>
            <a:endParaRPr lang="en-HU"/>
          </a:p>
        </p:txBody>
      </p:sp>
      <p:sp>
        <p:nvSpPr>
          <p:cNvPr id="6" name="Text 4"/>
          <p:cNvSpPr/>
          <p:nvPr/>
        </p:nvSpPr>
        <p:spPr>
          <a:xfrm>
            <a:off x="786384" y="1527048"/>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Q3</a:t>
            </a:r>
            <a:endParaRPr lang="en-US" sz="1500" dirty="0"/>
          </a:p>
        </p:txBody>
      </p:sp>
      <p:sp>
        <p:nvSpPr>
          <p:cNvPr id="7" name="Text 5"/>
          <p:cNvSpPr/>
          <p:nvPr/>
        </p:nvSpPr>
        <p:spPr>
          <a:xfrm>
            <a:off x="1481328" y="1472184"/>
            <a:ext cx="6912864" cy="548640"/>
          </a:xfrm>
          <a:prstGeom prst="rect">
            <a:avLst/>
          </a:prstGeom>
          <a:noFill/>
          <a:ln/>
        </p:spPr>
        <p:txBody>
          <a:bodyPr wrap="square" lIns="0" tIns="0" rIns="0" bIns="0" rtlCol="0" anchor="ctr"/>
          <a:lstStyle/>
          <a:p>
            <a:pPr marL="0" indent="0">
              <a:lnSpc>
                <a:spcPts val="1600"/>
              </a:lnSpc>
              <a:buNone/>
            </a:pPr>
            <a:r>
              <a:rPr lang="en-US" sz="1450" b="1" dirty="0">
                <a:solidFill>
                  <a:srgbClr val="1E5386"/>
                </a:solidFill>
                <a:latin typeface="Trebuchet MS" pitchFamily="34" charset="0"/>
                <a:ea typeface="Trebuchet MS" pitchFamily="34" charset="-122"/>
                <a:cs typeface="Trebuchet MS" pitchFamily="34" charset="-120"/>
              </a:rPr>
              <a:t>A resource group is essentially...</a:t>
            </a:r>
            <a:endParaRPr lang="en-US" sz="1450" dirty="0"/>
          </a:p>
        </p:txBody>
      </p:sp>
      <p:sp>
        <p:nvSpPr>
          <p:cNvPr id="8" name="option">
            <a:extLst>
              <a:ext uri="{C183D7F6-B498-43B3-948B-1728B52AA6E4}">
                <adec:decorative xmlns:adec="http://schemas.microsoft.com/office/drawing/2017/decorative" val="1"/>
              </a:ext>
            </a:extLst>
          </p:cNvPr>
          <p:cNvSpPr/>
          <p:nvPr/>
        </p:nvSpPr>
        <p:spPr>
          <a:xfrm>
            <a:off x="749808" y="207568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9" name="Text 7"/>
          <p:cNvSpPr/>
          <p:nvPr/>
        </p:nvSpPr>
        <p:spPr>
          <a:xfrm>
            <a:off x="896112" y="207568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A   </a:t>
            </a:r>
            <a:r>
              <a:rPr lang="en-US" sz="1150" dirty="0">
                <a:solidFill>
                  <a:srgbClr val="2A3B4D"/>
                </a:solidFill>
                <a:latin typeface="Calibri" pitchFamily="34" charset="0"/>
                <a:ea typeface="Calibri" pitchFamily="34" charset="-122"/>
                <a:cs typeface="Calibri" pitchFamily="34" charset="-120"/>
              </a:rPr>
              <a:t>A billing account</a:t>
            </a:r>
            <a:endParaRPr lang="en-US" sz="1150" dirty="0"/>
          </a:p>
        </p:txBody>
      </p:sp>
      <p:sp>
        <p:nvSpPr>
          <p:cNvPr id="10" name="option">
            <a:extLst>
              <a:ext uri="{C183D7F6-B498-43B3-948B-1728B52AA6E4}">
                <adec:decorative xmlns:adec="http://schemas.microsoft.com/office/drawing/2017/decorative" val="1"/>
              </a:ext>
            </a:extLst>
          </p:cNvPr>
          <p:cNvSpPr/>
          <p:nvPr/>
        </p:nvSpPr>
        <p:spPr>
          <a:xfrm>
            <a:off x="4663440" y="207568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11" name="Text 9"/>
          <p:cNvSpPr/>
          <p:nvPr/>
        </p:nvSpPr>
        <p:spPr>
          <a:xfrm>
            <a:off x="4809744" y="207568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B   </a:t>
            </a:r>
            <a:r>
              <a:rPr lang="en-US" sz="1150" dirty="0">
                <a:solidFill>
                  <a:srgbClr val="2A3B4D"/>
                </a:solidFill>
                <a:latin typeface="Calibri" pitchFamily="34" charset="0"/>
                <a:ea typeface="Calibri" pitchFamily="34" charset="-122"/>
                <a:cs typeface="Calibri" pitchFamily="34" charset="-120"/>
              </a:rPr>
              <a:t>A folder for related resources</a:t>
            </a:r>
            <a:endParaRPr lang="en-US" sz="1150" dirty="0"/>
          </a:p>
        </p:txBody>
      </p:sp>
      <p:sp>
        <p:nvSpPr>
          <p:cNvPr id="12" name="option">
            <a:extLst>
              <a:ext uri="{C183D7F6-B498-43B3-948B-1728B52AA6E4}">
                <adec:decorative xmlns:adec="http://schemas.microsoft.com/office/drawing/2017/decorative" val="1"/>
              </a:ext>
            </a:extLst>
          </p:cNvPr>
          <p:cNvSpPr/>
          <p:nvPr/>
        </p:nvSpPr>
        <p:spPr>
          <a:xfrm>
            <a:off x="749808" y="254203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13" name="Text 11"/>
          <p:cNvSpPr/>
          <p:nvPr/>
        </p:nvSpPr>
        <p:spPr>
          <a:xfrm>
            <a:off x="896112" y="254203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C   </a:t>
            </a:r>
            <a:r>
              <a:rPr lang="en-US" sz="1150" dirty="0">
                <a:solidFill>
                  <a:srgbClr val="2A3B4D"/>
                </a:solidFill>
                <a:latin typeface="Calibri" pitchFamily="34" charset="0"/>
                <a:ea typeface="Calibri" pitchFamily="34" charset="-122"/>
                <a:cs typeface="Calibri" pitchFamily="34" charset="-120"/>
              </a:rPr>
              <a:t>A virtual machine</a:t>
            </a:r>
            <a:endParaRPr lang="en-US" sz="1150" dirty="0"/>
          </a:p>
        </p:txBody>
      </p:sp>
      <p:sp>
        <p:nvSpPr>
          <p:cNvPr id="14" name="option">
            <a:extLst>
              <a:ext uri="{C183D7F6-B498-43B3-948B-1728B52AA6E4}">
                <adec:decorative xmlns:adec="http://schemas.microsoft.com/office/drawing/2017/decorative" val="1"/>
              </a:ext>
            </a:extLst>
          </p:cNvPr>
          <p:cNvSpPr/>
          <p:nvPr/>
        </p:nvSpPr>
        <p:spPr>
          <a:xfrm>
            <a:off x="4663440" y="254203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15" name="Text 13"/>
          <p:cNvSpPr/>
          <p:nvPr/>
        </p:nvSpPr>
        <p:spPr>
          <a:xfrm>
            <a:off x="4809744" y="254203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D   </a:t>
            </a:r>
            <a:r>
              <a:rPr lang="en-US" sz="1150" dirty="0">
                <a:solidFill>
                  <a:srgbClr val="2A3B4D"/>
                </a:solidFill>
                <a:latin typeface="Calibri" pitchFamily="34" charset="0"/>
                <a:ea typeface="Calibri" pitchFamily="34" charset="-122"/>
                <a:cs typeface="Calibri" pitchFamily="34" charset="-120"/>
              </a:rPr>
              <a:t>A datacenter</a:t>
            </a:r>
            <a:endParaRPr lang="en-US" sz="1150" dirty="0"/>
          </a:p>
        </p:txBody>
      </p:sp>
      <p:sp>
        <p:nvSpPr>
          <p:cNvPr id="16" name="card">
            <a:extLst>
              <a:ext uri="{C183D7F6-B498-43B3-948B-1728B52AA6E4}">
                <adec:decorative xmlns:adec="http://schemas.microsoft.com/office/drawing/2017/decorative" val="1"/>
              </a:ext>
            </a:extLst>
          </p:cNvPr>
          <p:cNvSpPr/>
          <p:nvPr/>
        </p:nvSpPr>
        <p:spPr>
          <a:xfrm>
            <a:off x="566928" y="3200400"/>
            <a:ext cx="8010144" cy="1691640"/>
          </a:xfrm>
          <a:prstGeom prst="roundRect">
            <a:avLst>
              <a:gd name="adj" fmla="val 59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7" name="q badge">
            <a:extLst>
              <a:ext uri="{C183D7F6-B498-43B3-948B-1728B52AA6E4}">
                <adec:decorative xmlns:adec="http://schemas.microsoft.com/office/drawing/2017/decorative" val="1"/>
              </a:ext>
            </a:extLst>
          </p:cNvPr>
          <p:cNvSpPr/>
          <p:nvPr/>
        </p:nvSpPr>
        <p:spPr>
          <a:xfrm>
            <a:off x="786384" y="3401568"/>
            <a:ext cx="530352" cy="530352"/>
          </a:xfrm>
          <a:prstGeom prst="ellipse">
            <a:avLst/>
          </a:prstGeom>
          <a:solidFill>
            <a:srgbClr val="EF6F58"/>
          </a:solidFill>
          <a:ln/>
        </p:spPr>
        <p:txBody>
          <a:bodyPr/>
          <a:lstStyle/>
          <a:p>
            <a:endParaRPr lang="en-HU"/>
          </a:p>
        </p:txBody>
      </p:sp>
      <p:sp>
        <p:nvSpPr>
          <p:cNvPr id="18" name="Text 16"/>
          <p:cNvSpPr/>
          <p:nvPr/>
        </p:nvSpPr>
        <p:spPr>
          <a:xfrm>
            <a:off x="786384" y="3401568"/>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Q4</a:t>
            </a:r>
            <a:endParaRPr lang="en-US" sz="1500" dirty="0"/>
          </a:p>
        </p:txBody>
      </p:sp>
      <p:sp>
        <p:nvSpPr>
          <p:cNvPr id="19" name="Text 17"/>
          <p:cNvSpPr/>
          <p:nvPr/>
        </p:nvSpPr>
        <p:spPr>
          <a:xfrm>
            <a:off x="1481328" y="3346704"/>
            <a:ext cx="6912864" cy="548640"/>
          </a:xfrm>
          <a:prstGeom prst="rect">
            <a:avLst/>
          </a:prstGeom>
          <a:noFill/>
          <a:ln/>
        </p:spPr>
        <p:txBody>
          <a:bodyPr wrap="square" lIns="0" tIns="0" rIns="0" bIns="0" rtlCol="0" anchor="ctr"/>
          <a:lstStyle/>
          <a:p>
            <a:pPr marL="0" indent="0">
              <a:lnSpc>
                <a:spcPts val="1600"/>
              </a:lnSpc>
              <a:buNone/>
            </a:pPr>
            <a:r>
              <a:rPr lang="en-US" sz="1450" b="1" dirty="0">
                <a:solidFill>
                  <a:srgbClr val="1E5386"/>
                </a:solidFill>
                <a:latin typeface="Trebuchet MS" pitchFamily="34" charset="0"/>
                <a:ea typeface="Trebuchet MS" pitchFamily="34" charset="-122"/>
                <a:cs typeface="Trebuchet MS" pitchFamily="34" charset="-120"/>
              </a:rPr>
              <a:t>Availability Zones mainly provide...</a:t>
            </a:r>
            <a:endParaRPr lang="en-US" sz="1450" dirty="0"/>
          </a:p>
        </p:txBody>
      </p:sp>
      <p:sp>
        <p:nvSpPr>
          <p:cNvPr id="20" name="option">
            <a:extLst>
              <a:ext uri="{C183D7F6-B498-43B3-948B-1728B52AA6E4}">
                <adec:decorative xmlns:adec="http://schemas.microsoft.com/office/drawing/2017/decorative" val="1"/>
              </a:ext>
            </a:extLst>
          </p:cNvPr>
          <p:cNvSpPr/>
          <p:nvPr/>
        </p:nvSpPr>
        <p:spPr>
          <a:xfrm>
            <a:off x="749808" y="395020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1" name="Text 19"/>
          <p:cNvSpPr/>
          <p:nvPr/>
        </p:nvSpPr>
        <p:spPr>
          <a:xfrm>
            <a:off x="896112" y="395020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A   </a:t>
            </a:r>
            <a:r>
              <a:rPr lang="en-US" sz="1150" dirty="0">
                <a:solidFill>
                  <a:srgbClr val="2A3B4D"/>
                </a:solidFill>
                <a:latin typeface="Calibri" pitchFamily="34" charset="0"/>
                <a:ea typeface="Calibri" pitchFamily="34" charset="-122"/>
                <a:cs typeface="Calibri" pitchFamily="34" charset="-120"/>
              </a:rPr>
              <a:t>Cheaper storage</a:t>
            </a:r>
            <a:endParaRPr lang="en-US" sz="1150" dirty="0"/>
          </a:p>
        </p:txBody>
      </p:sp>
      <p:sp>
        <p:nvSpPr>
          <p:cNvPr id="22" name="option">
            <a:extLst>
              <a:ext uri="{C183D7F6-B498-43B3-948B-1728B52AA6E4}">
                <adec:decorative xmlns:adec="http://schemas.microsoft.com/office/drawing/2017/decorative" val="1"/>
              </a:ext>
            </a:extLst>
          </p:cNvPr>
          <p:cNvSpPr/>
          <p:nvPr/>
        </p:nvSpPr>
        <p:spPr>
          <a:xfrm>
            <a:off x="4663440" y="395020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3" name="Text 21"/>
          <p:cNvSpPr/>
          <p:nvPr/>
        </p:nvSpPr>
        <p:spPr>
          <a:xfrm>
            <a:off x="4809744" y="395020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B   </a:t>
            </a:r>
            <a:r>
              <a:rPr lang="en-US" sz="1150" dirty="0">
                <a:solidFill>
                  <a:srgbClr val="2A3B4D"/>
                </a:solidFill>
                <a:latin typeface="Calibri" pitchFamily="34" charset="0"/>
                <a:ea typeface="Calibri" pitchFamily="34" charset="-122"/>
                <a:cs typeface="Calibri" pitchFamily="34" charset="-120"/>
              </a:rPr>
              <a:t>Faster code</a:t>
            </a:r>
            <a:endParaRPr lang="en-US" sz="1150" dirty="0"/>
          </a:p>
        </p:txBody>
      </p:sp>
      <p:sp>
        <p:nvSpPr>
          <p:cNvPr id="24" name="option">
            <a:extLst>
              <a:ext uri="{C183D7F6-B498-43B3-948B-1728B52AA6E4}">
                <adec:decorative xmlns:adec="http://schemas.microsoft.com/office/drawing/2017/decorative" val="1"/>
              </a:ext>
            </a:extLst>
          </p:cNvPr>
          <p:cNvSpPr/>
          <p:nvPr/>
        </p:nvSpPr>
        <p:spPr>
          <a:xfrm>
            <a:off x="749808" y="441655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5" name="Text 23"/>
          <p:cNvSpPr/>
          <p:nvPr/>
        </p:nvSpPr>
        <p:spPr>
          <a:xfrm>
            <a:off x="896112" y="441655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C   </a:t>
            </a:r>
            <a:r>
              <a:rPr lang="en-US" sz="1150" dirty="0">
                <a:solidFill>
                  <a:srgbClr val="2A3B4D"/>
                </a:solidFill>
                <a:latin typeface="Calibri" pitchFamily="34" charset="0"/>
                <a:ea typeface="Calibri" pitchFamily="34" charset="-122"/>
                <a:cs typeface="Calibri" pitchFamily="34" charset="-120"/>
              </a:rPr>
              <a:t>Resilience via separate datacenters</a:t>
            </a:r>
            <a:endParaRPr lang="en-US" sz="1150" dirty="0"/>
          </a:p>
        </p:txBody>
      </p:sp>
      <p:sp>
        <p:nvSpPr>
          <p:cNvPr id="26" name="option">
            <a:extLst>
              <a:ext uri="{C183D7F6-B498-43B3-948B-1728B52AA6E4}">
                <adec:decorative xmlns:adec="http://schemas.microsoft.com/office/drawing/2017/decorative" val="1"/>
              </a:ext>
            </a:extLst>
          </p:cNvPr>
          <p:cNvSpPr/>
          <p:nvPr/>
        </p:nvSpPr>
        <p:spPr>
          <a:xfrm>
            <a:off x="4663440" y="441655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7" name="Text 25"/>
          <p:cNvSpPr/>
          <p:nvPr/>
        </p:nvSpPr>
        <p:spPr>
          <a:xfrm>
            <a:off x="4809744" y="441655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D   </a:t>
            </a:r>
            <a:r>
              <a:rPr lang="en-US" sz="1150" dirty="0">
                <a:solidFill>
                  <a:srgbClr val="2A3B4D"/>
                </a:solidFill>
                <a:latin typeface="Calibri" pitchFamily="34" charset="0"/>
                <a:ea typeface="Calibri" pitchFamily="34" charset="-122"/>
                <a:cs typeface="Calibri" pitchFamily="34" charset="-120"/>
              </a:rPr>
              <a:t>More regions</a:t>
            </a:r>
            <a:endParaRPr lang="en-US" sz="11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QUICK QUIZ</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Questions 5 &amp; 6</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325880"/>
            <a:ext cx="8010144" cy="1691640"/>
          </a:xfrm>
          <a:prstGeom prst="roundRect">
            <a:avLst>
              <a:gd name="adj" fmla="val 59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q badge">
            <a:extLst>
              <a:ext uri="{C183D7F6-B498-43B3-948B-1728B52AA6E4}">
                <adec:decorative xmlns:adec="http://schemas.microsoft.com/office/drawing/2017/decorative" val="1"/>
              </a:ext>
            </a:extLst>
          </p:cNvPr>
          <p:cNvSpPr/>
          <p:nvPr/>
        </p:nvSpPr>
        <p:spPr>
          <a:xfrm>
            <a:off x="786384" y="1527048"/>
            <a:ext cx="530352" cy="530352"/>
          </a:xfrm>
          <a:prstGeom prst="ellipse">
            <a:avLst/>
          </a:prstGeom>
          <a:solidFill>
            <a:srgbClr val="EF6F58"/>
          </a:solidFill>
          <a:ln/>
        </p:spPr>
        <p:txBody>
          <a:bodyPr/>
          <a:lstStyle/>
          <a:p>
            <a:endParaRPr lang="en-HU"/>
          </a:p>
        </p:txBody>
      </p:sp>
      <p:sp>
        <p:nvSpPr>
          <p:cNvPr id="6" name="Text 4"/>
          <p:cNvSpPr/>
          <p:nvPr/>
        </p:nvSpPr>
        <p:spPr>
          <a:xfrm>
            <a:off x="786384" y="1527048"/>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Q5</a:t>
            </a:r>
            <a:endParaRPr lang="en-US" sz="1500" dirty="0"/>
          </a:p>
        </p:txBody>
      </p:sp>
      <p:sp>
        <p:nvSpPr>
          <p:cNvPr id="7" name="Text 5"/>
          <p:cNvSpPr/>
          <p:nvPr/>
        </p:nvSpPr>
        <p:spPr>
          <a:xfrm>
            <a:off x="1481328" y="1472184"/>
            <a:ext cx="6912864" cy="548640"/>
          </a:xfrm>
          <a:prstGeom prst="rect">
            <a:avLst/>
          </a:prstGeom>
          <a:noFill/>
          <a:ln/>
        </p:spPr>
        <p:txBody>
          <a:bodyPr wrap="square" lIns="0" tIns="0" rIns="0" bIns="0" rtlCol="0" anchor="ctr"/>
          <a:lstStyle/>
          <a:p>
            <a:pPr marL="0" indent="0">
              <a:lnSpc>
                <a:spcPts val="1600"/>
              </a:lnSpc>
              <a:buNone/>
            </a:pPr>
            <a:r>
              <a:rPr lang="en-US" sz="1450" b="1" dirty="0">
                <a:solidFill>
                  <a:srgbClr val="1E5386"/>
                </a:solidFill>
                <a:latin typeface="Trebuchet MS" pitchFamily="34" charset="0"/>
                <a:ea typeface="Trebuchet MS" pitchFamily="34" charset="-122"/>
                <a:cs typeface="Trebuchet MS" pitchFamily="34" charset="-120"/>
              </a:rPr>
              <a:t>Which runs only when triggered, billed per run?</a:t>
            </a:r>
            <a:endParaRPr lang="en-US" sz="1450" dirty="0"/>
          </a:p>
        </p:txBody>
      </p:sp>
      <p:sp>
        <p:nvSpPr>
          <p:cNvPr id="8" name="option">
            <a:extLst>
              <a:ext uri="{C183D7F6-B498-43B3-948B-1728B52AA6E4}">
                <adec:decorative xmlns:adec="http://schemas.microsoft.com/office/drawing/2017/decorative" val="1"/>
              </a:ext>
            </a:extLst>
          </p:cNvPr>
          <p:cNvSpPr/>
          <p:nvPr/>
        </p:nvSpPr>
        <p:spPr>
          <a:xfrm>
            <a:off x="749808" y="207568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9" name="Text 7"/>
          <p:cNvSpPr/>
          <p:nvPr/>
        </p:nvSpPr>
        <p:spPr>
          <a:xfrm>
            <a:off x="896112" y="207568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A   </a:t>
            </a:r>
            <a:r>
              <a:rPr lang="en-US" sz="1150" dirty="0">
                <a:solidFill>
                  <a:srgbClr val="2A3B4D"/>
                </a:solidFill>
                <a:latin typeface="Calibri" pitchFamily="34" charset="0"/>
                <a:ea typeface="Calibri" pitchFamily="34" charset="-122"/>
                <a:cs typeface="Calibri" pitchFamily="34" charset="-120"/>
              </a:rPr>
              <a:t>Virtual Machines</a:t>
            </a:r>
            <a:endParaRPr lang="en-US" sz="1150" dirty="0"/>
          </a:p>
        </p:txBody>
      </p:sp>
      <p:sp>
        <p:nvSpPr>
          <p:cNvPr id="10" name="option">
            <a:extLst>
              <a:ext uri="{C183D7F6-B498-43B3-948B-1728B52AA6E4}">
                <adec:decorative xmlns:adec="http://schemas.microsoft.com/office/drawing/2017/decorative" val="1"/>
              </a:ext>
            </a:extLst>
          </p:cNvPr>
          <p:cNvSpPr/>
          <p:nvPr/>
        </p:nvSpPr>
        <p:spPr>
          <a:xfrm>
            <a:off x="4663440" y="207568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11" name="Text 9"/>
          <p:cNvSpPr/>
          <p:nvPr/>
        </p:nvSpPr>
        <p:spPr>
          <a:xfrm>
            <a:off x="4809744" y="207568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B   </a:t>
            </a:r>
            <a:r>
              <a:rPr lang="en-US" sz="1150" dirty="0">
                <a:solidFill>
                  <a:srgbClr val="2A3B4D"/>
                </a:solidFill>
                <a:latin typeface="Calibri" pitchFamily="34" charset="0"/>
                <a:ea typeface="Calibri" pitchFamily="34" charset="-122"/>
                <a:cs typeface="Calibri" pitchFamily="34" charset="-120"/>
              </a:rPr>
              <a:t>App Service</a:t>
            </a:r>
            <a:endParaRPr lang="en-US" sz="1150" dirty="0"/>
          </a:p>
        </p:txBody>
      </p:sp>
      <p:sp>
        <p:nvSpPr>
          <p:cNvPr id="12" name="option">
            <a:extLst>
              <a:ext uri="{C183D7F6-B498-43B3-948B-1728B52AA6E4}">
                <adec:decorative xmlns:adec="http://schemas.microsoft.com/office/drawing/2017/decorative" val="1"/>
              </a:ext>
            </a:extLst>
          </p:cNvPr>
          <p:cNvSpPr/>
          <p:nvPr/>
        </p:nvSpPr>
        <p:spPr>
          <a:xfrm>
            <a:off x="749808" y="254203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13" name="Text 11"/>
          <p:cNvSpPr/>
          <p:nvPr/>
        </p:nvSpPr>
        <p:spPr>
          <a:xfrm>
            <a:off x="896112" y="254203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C   </a:t>
            </a:r>
            <a:r>
              <a:rPr lang="en-US" sz="1150" dirty="0">
                <a:solidFill>
                  <a:srgbClr val="2A3B4D"/>
                </a:solidFill>
                <a:latin typeface="Calibri" pitchFamily="34" charset="0"/>
                <a:ea typeface="Calibri" pitchFamily="34" charset="-122"/>
                <a:cs typeface="Calibri" pitchFamily="34" charset="-120"/>
              </a:rPr>
              <a:t>Containers</a:t>
            </a:r>
            <a:endParaRPr lang="en-US" sz="1150" dirty="0"/>
          </a:p>
        </p:txBody>
      </p:sp>
      <p:sp>
        <p:nvSpPr>
          <p:cNvPr id="14" name="option">
            <a:extLst>
              <a:ext uri="{C183D7F6-B498-43B3-948B-1728B52AA6E4}">
                <adec:decorative xmlns:adec="http://schemas.microsoft.com/office/drawing/2017/decorative" val="1"/>
              </a:ext>
            </a:extLst>
          </p:cNvPr>
          <p:cNvSpPr/>
          <p:nvPr/>
        </p:nvSpPr>
        <p:spPr>
          <a:xfrm>
            <a:off x="4663440" y="254203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15" name="Text 13"/>
          <p:cNvSpPr/>
          <p:nvPr/>
        </p:nvSpPr>
        <p:spPr>
          <a:xfrm>
            <a:off x="4809744" y="254203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D   </a:t>
            </a:r>
            <a:r>
              <a:rPr lang="en-US" sz="1150" dirty="0">
                <a:solidFill>
                  <a:srgbClr val="2A3B4D"/>
                </a:solidFill>
                <a:latin typeface="Calibri" pitchFamily="34" charset="0"/>
                <a:ea typeface="Calibri" pitchFamily="34" charset="-122"/>
                <a:cs typeface="Calibri" pitchFamily="34" charset="-120"/>
              </a:rPr>
              <a:t>Azure Functions</a:t>
            </a:r>
            <a:endParaRPr lang="en-US" sz="1150" dirty="0"/>
          </a:p>
        </p:txBody>
      </p:sp>
      <p:sp>
        <p:nvSpPr>
          <p:cNvPr id="16" name="card">
            <a:extLst>
              <a:ext uri="{C183D7F6-B498-43B3-948B-1728B52AA6E4}">
                <adec:decorative xmlns:adec="http://schemas.microsoft.com/office/drawing/2017/decorative" val="1"/>
              </a:ext>
            </a:extLst>
          </p:cNvPr>
          <p:cNvSpPr/>
          <p:nvPr/>
        </p:nvSpPr>
        <p:spPr>
          <a:xfrm>
            <a:off x="566928" y="3200400"/>
            <a:ext cx="8010144" cy="1691640"/>
          </a:xfrm>
          <a:prstGeom prst="roundRect">
            <a:avLst>
              <a:gd name="adj" fmla="val 5946"/>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7" name="q badge">
            <a:extLst>
              <a:ext uri="{C183D7F6-B498-43B3-948B-1728B52AA6E4}">
                <adec:decorative xmlns:adec="http://schemas.microsoft.com/office/drawing/2017/decorative" val="1"/>
              </a:ext>
            </a:extLst>
          </p:cNvPr>
          <p:cNvSpPr/>
          <p:nvPr/>
        </p:nvSpPr>
        <p:spPr>
          <a:xfrm>
            <a:off x="786384" y="3401568"/>
            <a:ext cx="530352" cy="530352"/>
          </a:xfrm>
          <a:prstGeom prst="ellipse">
            <a:avLst/>
          </a:prstGeom>
          <a:solidFill>
            <a:srgbClr val="EF6F58"/>
          </a:solidFill>
          <a:ln/>
        </p:spPr>
        <p:txBody>
          <a:bodyPr/>
          <a:lstStyle/>
          <a:p>
            <a:endParaRPr lang="en-HU"/>
          </a:p>
        </p:txBody>
      </p:sp>
      <p:sp>
        <p:nvSpPr>
          <p:cNvPr id="18" name="Text 16"/>
          <p:cNvSpPr/>
          <p:nvPr/>
        </p:nvSpPr>
        <p:spPr>
          <a:xfrm>
            <a:off x="786384" y="3401568"/>
            <a:ext cx="530352" cy="530352"/>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Q6</a:t>
            </a:r>
            <a:endParaRPr lang="en-US" sz="1500" dirty="0"/>
          </a:p>
        </p:txBody>
      </p:sp>
      <p:sp>
        <p:nvSpPr>
          <p:cNvPr id="19" name="Text 17"/>
          <p:cNvSpPr/>
          <p:nvPr/>
        </p:nvSpPr>
        <p:spPr>
          <a:xfrm>
            <a:off x="1481328" y="3346704"/>
            <a:ext cx="6912864" cy="548640"/>
          </a:xfrm>
          <a:prstGeom prst="rect">
            <a:avLst/>
          </a:prstGeom>
          <a:noFill/>
          <a:ln/>
        </p:spPr>
        <p:txBody>
          <a:bodyPr wrap="square" lIns="0" tIns="0" rIns="0" bIns="0" rtlCol="0" anchor="ctr"/>
          <a:lstStyle/>
          <a:p>
            <a:pPr marL="0" indent="0">
              <a:lnSpc>
                <a:spcPts val="1600"/>
              </a:lnSpc>
              <a:buNone/>
            </a:pPr>
            <a:r>
              <a:rPr lang="en-US" sz="1450" b="1" dirty="0">
                <a:solidFill>
                  <a:srgbClr val="1E5386"/>
                </a:solidFill>
                <a:latin typeface="Trebuchet MS" pitchFamily="34" charset="0"/>
                <a:ea typeface="Trebuchet MS" pitchFamily="34" charset="-122"/>
                <a:cs typeface="Trebuchet MS" pitchFamily="34" charset="-120"/>
              </a:rPr>
              <a:t>Reserved Instances mainly give you...</a:t>
            </a:r>
            <a:endParaRPr lang="en-US" sz="1450" dirty="0"/>
          </a:p>
        </p:txBody>
      </p:sp>
      <p:sp>
        <p:nvSpPr>
          <p:cNvPr id="20" name="option">
            <a:extLst>
              <a:ext uri="{C183D7F6-B498-43B3-948B-1728B52AA6E4}">
                <adec:decorative xmlns:adec="http://schemas.microsoft.com/office/drawing/2017/decorative" val="1"/>
              </a:ext>
            </a:extLst>
          </p:cNvPr>
          <p:cNvSpPr/>
          <p:nvPr/>
        </p:nvSpPr>
        <p:spPr>
          <a:xfrm>
            <a:off x="749808" y="395020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1" name="Text 19"/>
          <p:cNvSpPr/>
          <p:nvPr/>
        </p:nvSpPr>
        <p:spPr>
          <a:xfrm>
            <a:off x="896112" y="395020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A   </a:t>
            </a:r>
            <a:r>
              <a:rPr lang="en-US" sz="1150" dirty="0">
                <a:solidFill>
                  <a:srgbClr val="2A3B4D"/>
                </a:solidFill>
                <a:latin typeface="Calibri" pitchFamily="34" charset="0"/>
                <a:ea typeface="Calibri" pitchFamily="34" charset="-122"/>
                <a:cs typeface="Calibri" pitchFamily="34" charset="-120"/>
              </a:rPr>
              <a:t>More flexibility</a:t>
            </a:r>
            <a:endParaRPr lang="en-US" sz="1150" dirty="0"/>
          </a:p>
        </p:txBody>
      </p:sp>
      <p:sp>
        <p:nvSpPr>
          <p:cNvPr id="22" name="option">
            <a:extLst>
              <a:ext uri="{C183D7F6-B498-43B3-948B-1728B52AA6E4}">
                <adec:decorative xmlns:adec="http://schemas.microsoft.com/office/drawing/2017/decorative" val="1"/>
              </a:ext>
            </a:extLst>
          </p:cNvPr>
          <p:cNvSpPr/>
          <p:nvPr/>
        </p:nvSpPr>
        <p:spPr>
          <a:xfrm>
            <a:off x="4663440" y="3950208"/>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3" name="Text 21"/>
          <p:cNvSpPr/>
          <p:nvPr/>
        </p:nvSpPr>
        <p:spPr>
          <a:xfrm>
            <a:off x="4809744" y="3950208"/>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B   </a:t>
            </a:r>
            <a:r>
              <a:rPr lang="en-US" sz="1150" dirty="0">
                <a:solidFill>
                  <a:srgbClr val="2A3B4D"/>
                </a:solidFill>
                <a:latin typeface="Calibri" pitchFamily="34" charset="0"/>
                <a:ea typeface="Calibri" pitchFamily="34" charset="-122"/>
                <a:cs typeface="Calibri" pitchFamily="34" charset="-120"/>
              </a:rPr>
              <a:t>Lower cost for steady workloads</a:t>
            </a:r>
            <a:endParaRPr lang="en-US" sz="1150" dirty="0"/>
          </a:p>
        </p:txBody>
      </p:sp>
      <p:sp>
        <p:nvSpPr>
          <p:cNvPr id="24" name="option">
            <a:extLst>
              <a:ext uri="{C183D7F6-B498-43B3-948B-1728B52AA6E4}">
                <adec:decorative xmlns:adec="http://schemas.microsoft.com/office/drawing/2017/decorative" val="1"/>
              </a:ext>
            </a:extLst>
          </p:cNvPr>
          <p:cNvSpPr/>
          <p:nvPr/>
        </p:nvSpPr>
        <p:spPr>
          <a:xfrm>
            <a:off x="749808" y="441655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5" name="Text 23"/>
          <p:cNvSpPr/>
          <p:nvPr/>
        </p:nvSpPr>
        <p:spPr>
          <a:xfrm>
            <a:off x="896112" y="441655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C   </a:t>
            </a:r>
            <a:r>
              <a:rPr lang="en-US" sz="1150" dirty="0">
                <a:solidFill>
                  <a:srgbClr val="2A3B4D"/>
                </a:solidFill>
                <a:latin typeface="Calibri" pitchFamily="34" charset="0"/>
                <a:ea typeface="Calibri" pitchFamily="34" charset="-122"/>
                <a:cs typeface="Calibri" pitchFamily="34" charset="-120"/>
              </a:rPr>
              <a:t>No commitment</a:t>
            </a:r>
            <a:endParaRPr lang="en-US" sz="1150" dirty="0"/>
          </a:p>
        </p:txBody>
      </p:sp>
      <p:sp>
        <p:nvSpPr>
          <p:cNvPr id="26" name="option">
            <a:extLst>
              <a:ext uri="{C183D7F6-B498-43B3-948B-1728B52AA6E4}">
                <adec:decorative xmlns:adec="http://schemas.microsoft.com/office/drawing/2017/decorative" val="1"/>
              </a:ext>
            </a:extLst>
          </p:cNvPr>
          <p:cNvSpPr/>
          <p:nvPr/>
        </p:nvSpPr>
        <p:spPr>
          <a:xfrm>
            <a:off x="4663440" y="4416552"/>
            <a:ext cx="3730752" cy="411480"/>
          </a:xfrm>
          <a:prstGeom prst="roundRect">
            <a:avLst>
              <a:gd name="adj" fmla="val 20000"/>
            </a:avLst>
          </a:prstGeom>
          <a:solidFill>
            <a:srgbClr val="E6F1FB"/>
          </a:solidFill>
          <a:ln w="12700">
            <a:solidFill>
              <a:srgbClr val="CFE1F0"/>
            </a:solidFill>
            <a:prstDash val="solid"/>
          </a:ln>
        </p:spPr>
        <p:txBody>
          <a:bodyPr/>
          <a:lstStyle/>
          <a:p>
            <a:endParaRPr lang="en-HU"/>
          </a:p>
        </p:txBody>
      </p:sp>
      <p:sp>
        <p:nvSpPr>
          <p:cNvPr id="27" name="Text 25"/>
          <p:cNvSpPr/>
          <p:nvPr/>
        </p:nvSpPr>
        <p:spPr>
          <a:xfrm>
            <a:off x="4809744" y="4416552"/>
            <a:ext cx="3456432" cy="411480"/>
          </a:xfrm>
          <a:prstGeom prst="rect">
            <a:avLst/>
          </a:prstGeom>
          <a:noFill/>
          <a:ln/>
        </p:spPr>
        <p:txBody>
          <a:bodyPr wrap="square" lIns="0" tIns="0" rIns="0" bIns="0" rtlCol="0" anchor="ctr"/>
          <a:lstStyle/>
          <a:p>
            <a:pPr marL="0" indent="0">
              <a:buNone/>
            </a:pPr>
            <a:r>
              <a:rPr lang="en-US" sz="1150" b="1" dirty="0">
                <a:solidFill>
                  <a:srgbClr val="2E7CC4"/>
                </a:solidFill>
                <a:latin typeface="Calibri" pitchFamily="34" charset="0"/>
                <a:ea typeface="Calibri" pitchFamily="34" charset="-122"/>
                <a:cs typeface="Calibri" pitchFamily="34" charset="-120"/>
              </a:rPr>
              <a:t>D   </a:t>
            </a:r>
            <a:r>
              <a:rPr lang="en-US" sz="1150" dirty="0">
                <a:solidFill>
                  <a:srgbClr val="2A3B4D"/>
                </a:solidFill>
                <a:latin typeface="Calibri" pitchFamily="34" charset="0"/>
                <a:ea typeface="Calibri" pitchFamily="34" charset="-122"/>
                <a:cs typeface="Calibri" pitchFamily="34" charset="-120"/>
              </a:rPr>
              <a:t>Unlimited scale</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EF6F58"/>
                </a:solidFill>
                <a:latin typeface="Trebuchet MS" pitchFamily="34" charset="0"/>
                <a:ea typeface="Trebuchet MS" pitchFamily="34" charset="-122"/>
                <a:cs typeface="Trebuchet MS" pitchFamily="34" charset="-120"/>
              </a:rPr>
              <a:t>QUICK QUIZ</a:t>
            </a:r>
            <a:endParaRPr lang="en-US" sz="1250" dirty="0"/>
          </a:p>
        </p:txBody>
      </p:sp>
      <p:sp>
        <p:nvSpPr>
          <p:cNvPr id="3" name="Text 0"/>
          <p:cNvSpPr>
            <a:spLocks noGrp="1"/>
          </p:cNvSpPr>
          <p:nvPr>
            <p:ph type="title" idx="100" hasCustomPrompt="1"/>
          </p:nvPr>
        </p:nvSpPr>
        <p:spPr>
          <a:xfrm>
            <a:off x="548640" y="530352"/>
            <a:ext cx="7589520" cy="658368"/>
          </a:xfrm>
          <a:prstGeom prst="rect">
            <a:avLst/>
          </a:prstGeom>
          <a:noFill/>
          <a:ln/>
        </p:spPr>
        <p:txBody>
          <a:bodyPr wrap="square" lIns="0" tIns="0" rIns="0" bIns="0" rtlCol="0" anchor="ctr"/>
          <a:lstStyle/>
          <a:p>
            <a:pPr marL="0" indent="0" algn="l">
              <a:buNone/>
            </a:pPr>
            <a:r>
              <a:rPr lang="en-US" sz="3000" b="1" dirty="0">
                <a:solidFill>
                  <a:srgbClr val="1E5386"/>
                </a:solidFill>
                <a:latin typeface="Trebuchet MS" pitchFamily="34" charset="0"/>
                <a:ea typeface="Trebuchet MS" pitchFamily="34" charset="-122"/>
                <a:cs typeface="Trebuchet MS" pitchFamily="34" charset="-120"/>
              </a:rPr>
              <a:t>Answer key</a:t>
            </a:r>
            <a:endParaRPr lang="en-US" sz="3000" dirty="0"/>
          </a:p>
        </p:txBody>
      </p:sp>
      <p:sp>
        <p:nvSpPr>
          <p:cNvPr id="4" name="card">
            <a:extLst>
              <a:ext uri="{C183D7F6-B498-43B3-948B-1728B52AA6E4}">
                <adec:decorative xmlns:adec="http://schemas.microsoft.com/office/drawing/2017/decorative" val="1"/>
              </a:ext>
            </a:extLst>
          </p:cNvPr>
          <p:cNvSpPr/>
          <p:nvPr/>
        </p:nvSpPr>
        <p:spPr>
          <a:xfrm>
            <a:off x="566928" y="1371600"/>
            <a:ext cx="3895344" cy="914400"/>
          </a:xfrm>
          <a:prstGeom prst="roundRect">
            <a:avLst>
              <a:gd name="adj" fmla="val 1100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5" name="answer badge">
            <a:extLst>
              <a:ext uri="{C183D7F6-B498-43B3-948B-1728B52AA6E4}">
                <adec:decorative xmlns:adec="http://schemas.microsoft.com/office/drawing/2017/decorative" val="1"/>
              </a:ext>
            </a:extLst>
          </p:cNvPr>
          <p:cNvSpPr/>
          <p:nvPr/>
        </p:nvSpPr>
        <p:spPr>
          <a:xfrm>
            <a:off x="749808" y="1591056"/>
            <a:ext cx="475488" cy="475488"/>
          </a:xfrm>
          <a:prstGeom prst="ellipse">
            <a:avLst/>
          </a:prstGeom>
          <a:solidFill>
            <a:srgbClr val="2FA98A"/>
          </a:solidFill>
          <a:ln/>
        </p:spPr>
        <p:txBody>
          <a:bodyPr/>
          <a:lstStyle/>
          <a:p>
            <a:endParaRPr lang="en-HU"/>
          </a:p>
        </p:txBody>
      </p:sp>
      <p:sp>
        <p:nvSpPr>
          <p:cNvPr id="6" name="Text 4"/>
          <p:cNvSpPr/>
          <p:nvPr/>
        </p:nvSpPr>
        <p:spPr>
          <a:xfrm>
            <a:off x="749808" y="1591056"/>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B</a:t>
            </a:r>
            <a:endParaRPr lang="en-US" sz="1700" dirty="0"/>
          </a:p>
        </p:txBody>
      </p:sp>
      <p:sp>
        <p:nvSpPr>
          <p:cNvPr id="7" name="Text 5"/>
          <p:cNvSpPr/>
          <p:nvPr/>
        </p:nvSpPr>
        <p:spPr>
          <a:xfrm>
            <a:off x="1371600" y="1508760"/>
            <a:ext cx="2935224" cy="256032"/>
          </a:xfrm>
          <a:prstGeom prst="rect">
            <a:avLst/>
          </a:prstGeom>
          <a:noFill/>
          <a:ln/>
        </p:spPr>
        <p:txBody>
          <a:bodyPr wrap="square" lIns="0" tIns="0" rIns="0" bIns="0" rtlCol="0" anchor="ctr"/>
          <a:lstStyle/>
          <a:p>
            <a:pPr marL="0" indent="0">
              <a:buNone/>
            </a:pPr>
            <a:r>
              <a:rPr lang="en-US" sz="1150" b="1" dirty="0">
                <a:solidFill>
                  <a:srgbClr val="1E5386"/>
                </a:solidFill>
                <a:latin typeface="Trebuchet MS" pitchFamily="34" charset="0"/>
                <a:ea typeface="Trebuchet MS" pitchFamily="34" charset="-122"/>
                <a:cs typeface="Trebuchet MS" pitchFamily="34" charset="-120"/>
              </a:rPr>
              <a:t>Q1  ·  correct answer B</a:t>
            </a:r>
            <a:endParaRPr lang="en-US" sz="1150" dirty="0"/>
          </a:p>
        </p:txBody>
      </p:sp>
      <p:sp>
        <p:nvSpPr>
          <p:cNvPr id="8" name="Text 6"/>
          <p:cNvSpPr/>
          <p:nvPr/>
        </p:nvSpPr>
        <p:spPr>
          <a:xfrm>
            <a:off x="1371600" y="1773936"/>
            <a:ext cx="2935224" cy="45720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Cloud is rented computing — you pay for what you use.</a:t>
            </a:r>
            <a:endParaRPr lang="en-US" sz="1150" dirty="0"/>
          </a:p>
        </p:txBody>
      </p:sp>
      <p:sp>
        <p:nvSpPr>
          <p:cNvPr id="9" name="card">
            <a:extLst>
              <a:ext uri="{C183D7F6-B498-43B3-948B-1728B52AA6E4}">
                <adec:decorative xmlns:adec="http://schemas.microsoft.com/office/drawing/2017/decorative" val="1"/>
              </a:ext>
            </a:extLst>
          </p:cNvPr>
          <p:cNvSpPr/>
          <p:nvPr/>
        </p:nvSpPr>
        <p:spPr>
          <a:xfrm>
            <a:off x="4681728" y="1371600"/>
            <a:ext cx="3895344" cy="914400"/>
          </a:xfrm>
          <a:prstGeom prst="roundRect">
            <a:avLst>
              <a:gd name="adj" fmla="val 1100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0" name="answer badge">
            <a:extLst>
              <a:ext uri="{C183D7F6-B498-43B3-948B-1728B52AA6E4}">
                <adec:decorative xmlns:adec="http://schemas.microsoft.com/office/drawing/2017/decorative" val="1"/>
              </a:ext>
            </a:extLst>
          </p:cNvPr>
          <p:cNvSpPr/>
          <p:nvPr/>
        </p:nvSpPr>
        <p:spPr>
          <a:xfrm>
            <a:off x="4864608" y="1591056"/>
            <a:ext cx="475488" cy="475488"/>
          </a:xfrm>
          <a:prstGeom prst="ellipse">
            <a:avLst/>
          </a:prstGeom>
          <a:solidFill>
            <a:srgbClr val="2FA98A"/>
          </a:solidFill>
          <a:ln/>
        </p:spPr>
        <p:txBody>
          <a:bodyPr/>
          <a:lstStyle/>
          <a:p>
            <a:endParaRPr lang="en-HU"/>
          </a:p>
        </p:txBody>
      </p:sp>
      <p:sp>
        <p:nvSpPr>
          <p:cNvPr id="11" name="Text 9"/>
          <p:cNvSpPr/>
          <p:nvPr/>
        </p:nvSpPr>
        <p:spPr>
          <a:xfrm>
            <a:off x="4864608" y="1591056"/>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C</a:t>
            </a:r>
            <a:endParaRPr lang="en-US" sz="1700" dirty="0"/>
          </a:p>
        </p:txBody>
      </p:sp>
      <p:sp>
        <p:nvSpPr>
          <p:cNvPr id="12" name="Text 10"/>
          <p:cNvSpPr/>
          <p:nvPr/>
        </p:nvSpPr>
        <p:spPr>
          <a:xfrm>
            <a:off x="5486400" y="1508760"/>
            <a:ext cx="2935224" cy="256032"/>
          </a:xfrm>
          <a:prstGeom prst="rect">
            <a:avLst/>
          </a:prstGeom>
          <a:noFill/>
          <a:ln/>
        </p:spPr>
        <p:txBody>
          <a:bodyPr wrap="square" lIns="0" tIns="0" rIns="0" bIns="0" rtlCol="0" anchor="ctr"/>
          <a:lstStyle/>
          <a:p>
            <a:pPr marL="0" indent="0">
              <a:buNone/>
            </a:pPr>
            <a:r>
              <a:rPr lang="en-US" sz="1150" b="1" dirty="0">
                <a:solidFill>
                  <a:srgbClr val="1E5386"/>
                </a:solidFill>
                <a:latin typeface="Trebuchet MS" pitchFamily="34" charset="0"/>
                <a:ea typeface="Trebuchet MS" pitchFamily="34" charset="-122"/>
                <a:cs typeface="Trebuchet MS" pitchFamily="34" charset="-120"/>
              </a:rPr>
              <a:t>Q2  ·  correct answer C</a:t>
            </a:r>
            <a:endParaRPr lang="en-US" sz="1150" dirty="0"/>
          </a:p>
        </p:txBody>
      </p:sp>
      <p:sp>
        <p:nvSpPr>
          <p:cNvPr id="13" name="Text 11"/>
          <p:cNvSpPr/>
          <p:nvPr/>
        </p:nvSpPr>
        <p:spPr>
          <a:xfrm>
            <a:off x="5486400" y="1773936"/>
            <a:ext cx="2935224" cy="45720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Hybrid connects private and public cloud.</a:t>
            </a:r>
            <a:endParaRPr lang="en-US" sz="1150" dirty="0"/>
          </a:p>
        </p:txBody>
      </p:sp>
      <p:sp>
        <p:nvSpPr>
          <p:cNvPr id="14" name="card">
            <a:extLst>
              <a:ext uri="{C183D7F6-B498-43B3-948B-1728B52AA6E4}">
                <adec:decorative xmlns:adec="http://schemas.microsoft.com/office/drawing/2017/decorative" val="1"/>
              </a:ext>
            </a:extLst>
          </p:cNvPr>
          <p:cNvSpPr/>
          <p:nvPr/>
        </p:nvSpPr>
        <p:spPr>
          <a:xfrm>
            <a:off x="566928" y="2468880"/>
            <a:ext cx="3895344" cy="914400"/>
          </a:xfrm>
          <a:prstGeom prst="roundRect">
            <a:avLst>
              <a:gd name="adj" fmla="val 1100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15" name="answer badge">
            <a:extLst>
              <a:ext uri="{C183D7F6-B498-43B3-948B-1728B52AA6E4}">
                <adec:decorative xmlns:adec="http://schemas.microsoft.com/office/drawing/2017/decorative" val="1"/>
              </a:ext>
            </a:extLst>
          </p:cNvPr>
          <p:cNvSpPr/>
          <p:nvPr/>
        </p:nvSpPr>
        <p:spPr>
          <a:xfrm>
            <a:off x="749808" y="2688336"/>
            <a:ext cx="475488" cy="475488"/>
          </a:xfrm>
          <a:prstGeom prst="ellipse">
            <a:avLst/>
          </a:prstGeom>
          <a:solidFill>
            <a:srgbClr val="2FA98A"/>
          </a:solidFill>
          <a:ln/>
        </p:spPr>
        <p:txBody>
          <a:bodyPr/>
          <a:lstStyle/>
          <a:p>
            <a:endParaRPr lang="en-HU"/>
          </a:p>
        </p:txBody>
      </p:sp>
      <p:sp>
        <p:nvSpPr>
          <p:cNvPr id="16" name="Text 14"/>
          <p:cNvSpPr/>
          <p:nvPr/>
        </p:nvSpPr>
        <p:spPr>
          <a:xfrm>
            <a:off x="749808" y="2688336"/>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B</a:t>
            </a:r>
            <a:endParaRPr lang="en-US" sz="1700" dirty="0"/>
          </a:p>
        </p:txBody>
      </p:sp>
      <p:sp>
        <p:nvSpPr>
          <p:cNvPr id="17" name="Text 15"/>
          <p:cNvSpPr/>
          <p:nvPr/>
        </p:nvSpPr>
        <p:spPr>
          <a:xfrm>
            <a:off x="1371600" y="2606040"/>
            <a:ext cx="2935224" cy="256032"/>
          </a:xfrm>
          <a:prstGeom prst="rect">
            <a:avLst/>
          </a:prstGeom>
          <a:noFill/>
          <a:ln/>
        </p:spPr>
        <p:txBody>
          <a:bodyPr wrap="square" lIns="0" tIns="0" rIns="0" bIns="0" rtlCol="0" anchor="ctr"/>
          <a:lstStyle/>
          <a:p>
            <a:pPr marL="0" indent="0">
              <a:buNone/>
            </a:pPr>
            <a:r>
              <a:rPr lang="en-US" sz="1150" b="1" dirty="0">
                <a:solidFill>
                  <a:srgbClr val="1E5386"/>
                </a:solidFill>
                <a:latin typeface="Trebuchet MS" pitchFamily="34" charset="0"/>
                <a:ea typeface="Trebuchet MS" pitchFamily="34" charset="-122"/>
                <a:cs typeface="Trebuchet MS" pitchFamily="34" charset="-120"/>
              </a:rPr>
              <a:t>Q3  ·  correct answer B</a:t>
            </a:r>
            <a:endParaRPr lang="en-US" sz="1150" dirty="0"/>
          </a:p>
        </p:txBody>
      </p:sp>
      <p:sp>
        <p:nvSpPr>
          <p:cNvPr id="18" name="Text 16"/>
          <p:cNvSpPr/>
          <p:nvPr/>
        </p:nvSpPr>
        <p:spPr>
          <a:xfrm>
            <a:off x="1371600" y="2871216"/>
            <a:ext cx="2935224" cy="45720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A resource group groups related resources, like a folder.</a:t>
            </a:r>
            <a:endParaRPr lang="en-US" sz="1150" dirty="0"/>
          </a:p>
        </p:txBody>
      </p:sp>
      <p:sp>
        <p:nvSpPr>
          <p:cNvPr id="19" name="card">
            <a:extLst>
              <a:ext uri="{C183D7F6-B498-43B3-948B-1728B52AA6E4}">
                <adec:decorative xmlns:adec="http://schemas.microsoft.com/office/drawing/2017/decorative" val="1"/>
              </a:ext>
            </a:extLst>
          </p:cNvPr>
          <p:cNvSpPr/>
          <p:nvPr/>
        </p:nvSpPr>
        <p:spPr>
          <a:xfrm>
            <a:off x="4681728" y="2468880"/>
            <a:ext cx="3895344" cy="914400"/>
          </a:xfrm>
          <a:prstGeom prst="roundRect">
            <a:avLst>
              <a:gd name="adj" fmla="val 1100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0" name="answer badge">
            <a:extLst>
              <a:ext uri="{C183D7F6-B498-43B3-948B-1728B52AA6E4}">
                <adec:decorative xmlns:adec="http://schemas.microsoft.com/office/drawing/2017/decorative" val="1"/>
              </a:ext>
            </a:extLst>
          </p:cNvPr>
          <p:cNvSpPr/>
          <p:nvPr/>
        </p:nvSpPr>
        <p:spPr>
          <a:xfrm>
            <a:off x="4864608" y="2688336"/>
            <a:ext cx="475488" cy="475488"/>
          </a:xfrm>
          <a:prstGeom prst="ellipse">
            <a:avLst/>
          </a:prstGeom>
          <a:solidFill>
            <a:srgbClr val="2FA98A"/>
          </a:solidFill>
          <a:ln/>
        </p:spPr>
        <p:txBody>
          <a:bodyPr/>
          <a:lstStyle/>
          <a:p>
            <a:endParaRPr lang="en-HU"/>
          </a:p>
        </p:txBody>
      </p:sp>
      <p:sp>
        <p:nvSpPr>
          <p:cNvPr id="21" name="Text 19"/>
          <p:cNvSpPr/>
          <p:nvPr/>
        </p:nvSpPr>
        <p:spPr>
          <a:xfrm>
            <a:off x="4864608" y="2688336"/>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C</a:t>
            </a:r>
            <a:endParaRPr lang="en-US" sz="1700" dirty="0"/>
          </a:p>
        </p:txBody>
      </p:sp>
      <p:sp>
        <p:nvSpPr>
          <p:cNvPr id="22" name="Text 20"/>
          <p:cNvSpPr/>
          <p:nvPr/>
        </p:nvSpPr>
        <p:spPr>
          <a:xfrm>
            <a:off x="5486400" y="2606040"/>
            <a:ext cx="2935224" cy="256032"/>
          </a:xfrm>
          <a:prstGeom prst="rect">
            <a:avLst/>
          </a:prstGeom>
          <a:noFill/>
          <a:ln/>
        </p:spPr>
        <p:txBody>
          <a:bodyPr wrap="square" lIns="0" tIns="0" rIns="0" bIns="0" rtlCol="0" anchor="ctr"/>
          <a:lstStyle/>
          <a:p>
            <a:pPr marL="0" indent="0">
              <a:buNone/>
            </a:pPr>
            <a:r>
              <a:rPr lang="en-US" sz="1150" b="1" dirty="0">
                <a:solidFill>
                  <a:srgbClr val="1E5386"/>
                </a:solidFill>
                <a:latin typeface="Trebuchet MS" pitchFamily="34" charset="0"/>
                <a:ea typeface="Trebuchet MS" pitchFamily="34" charset="-122"/>
                <a:cs typeface="Trebuchet MS" pitchFamily="34" charset="-120"/>
              </a:rPr>
              <a:t>Q4  ·  correct answer C</a:t>
            </a:r>
            <a:endParaRPr lang="en-US" sz="1150" dirty="0"/>
          </a:p>
        </p:txBody>
      </p:sp>
      <p:sp>
        <p:nvSpPr>
          <p:cNvPr id="23" name="Text 21"/>
          <p:cNvSpPr/>
          <p:nvPr/>
        </p:nvSpPr>
        <p:spPr>
          <a:xfrm>
            <a:off x="5486400" y="2871216"/>
            <a:ext cx="2935224" cy="45720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Separate datacenters keep you running through an outage.</a:t>
            </a:r>
            <a:endParaRPr lang="en-US" sz="1150" dirty="0"/>
          </a:p>
        </p:txBody>
      </p:sp>
      <p:sp>
        <p:nvSpPr>
          <p:cNvPr id="24" name="card">
            <a:extLst>
              <a:ext uri="{C183D7F6-B498-43B3-948B-1728B52AA6E4}">
                <adec:decorative xmlns:adec="http://schemas.microsoft.com/office/drawing/2017/decorative" val="1"/>
              </a:ext>
            </a:extLst>
          </p:cNvPr>
          <p:cNvSpPr/>
          <p:nvPr/>
        </p:nvSpPr>
        <p:spPr>
          <a:xfrm>
            <a:off x="566928" y="3566160"/>
            <a:ext cx="3895344" cy="914400"/>
          </a:xfrm>
          <a:prstGeom prst="roundRect">
            <a:avLst>
              <a:gd name="adj" fmla="val 1100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25" name="answer badge">
            <a:extLst>
              <a:ext uri="{C183D7F6-B498-43B3-948B-1728B52AA6E4}">
                <adec:decorative xmlns:adec="http://schemas.microsoft.com/office/drawing/2017/decorative" val="1"/>
              </a:ext>
            </a:extLst>
          </p:cNvPr>
          <p:cNvSpPr/>
          <p:nvPr/>
        </p:nvSpPr>
        <p:spPr>
          <a:xfrm>
            <a:off x="749808" y="3785616"/>
            <a:ext cx="475488" cy="475488"/>
          </a:xfrm>
          <a:prstGeom prst="ellipse">
            <a:avLst/>
          </a:prstGeom>
          <a:solidFill>
            <a:srgbClr val="2FA98A"/>
          </a:solidFill>
          <a:ln/>
        </p:spPr>
        <p:txBody>
          <a:bodyPr/>
          <a:lstStyle/>
          <a:p>
            <a:endParaRPr lang="en-HU"/>
          </a:p>
        </p:txBody>
      </p:sp>
      <p:sp>
        <p:nvSpPr>
          <p:cNvPr id="26" name="Text 24"/>
          <p:cNvSpPr/>
          <p:nvPr/>
        </p:nvSpPr>
        <p:spPr>
          <a:xfrm>
            <a:off x="749808" y="3785616"/>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D</a:t>
            </a:r>
            <a:endParaRPr lang="en-US" sz="1700" dirty="0"/>
          </a:p>
        </p:txBody>
      </p:sp>
      <p:sp>
        <p:nvSpPr>
          <p:cNvPr id="27" name="Text 25"/>
          <p:cNvSpPr/>
          <p:nvPr/>
        </p:nvSpPr>
        <p:spPr>
          <a:xfrm>
            <a:off x="1371600" y="3703320"/>
            <a:ext cx="2935224" cy="256032"/>
          </a:xfrm>
          <a:prstGeom prst="rect">
            <a:avLst/>
          </a:prstGeom>
          <a:noFill/>
          <a:ln/>
        </p:spPr>
        <p:txBody>
          <a:bodyPr wrap="square" lIns="0" tIns="0" rIns="0" bIns="0" rtlCol="0" anchor="ctr"/>
          <a:lstStyle/>
          <a:p>
            <a:pPr marL="0" indent="0">
              <a:buNone/>
            </a:pPr>
            <a:r>
              <a:rPr lang="en-US" sz="1150" b="1" dirty="0">
                <a:solidFill>
                  <a:srgbClr val="1E5386"/>
                </a:solidFill>
                <a:latin typeface="Trebuchet MS" pitchFamily="34" charset="0"/>
                <a:ea typeface="Trebuchet MS" pitchFamily="34" charset="-122"/>
                <a:cs typeface="Trebuchet MS" pitchFamily="34" charset="-120"/>
              </a:rPr>
              <a:t>Q5  ·  correct answer D</a:t>
            </a:r>
            <a:endParaRPr lang="en-US" sz="1150" dirty="0"/>
          </a:p>
        </p:txBody>
      </p:sp>
      <p:sp>
        <p:nvSpPr>
          <p:cNvPr id="28" name="Text 26"/>
          <p:cNvSpPr/>
          <p:nvPr/>
        </p:nvSpPr>
        <p:spPr>
          <a:xfrm>
            <a:off x="1371600" y="3968496"/>
            <a:ext cx="2935224" cy="45720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Functions are event-driven and billed per execution.</a:t>
            </a:r>
            <a:endParaRPr lang="en-US" sz="1150" dirty="0"/>
          </a:p>
        </p:txBody>
      </p:sp>
      <p:sp>
        <p:nvSpPr>
          <p:cNvPr id="29" name="card">
            <a:extLst>
              <a:ext uri="{C183D7F6-B498-43B3-948B-1728B52AA6E4}">
                <adec:decorative xmlns:adec="http://schemas.microsoft.com/office/drawing/2017/decorative" val="1"/>
              </a:ext>
            </a:extLst>
          </p:cNvPr>
          <p:cNvSpPr/>
          <p:nvPr/>
        </p:nvSpPr>
        <p:spPr>
          <a:xfrm>
            <a:off x="4681728" y="3566160"/>
            <a:ext cx="3895344" cy="914400"/>
          </a:xfrm>
          <a:prstGeom prst="roundRect">
            <a:avLst>
              <a:gd name="adj" fmla="val 11000"/>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sp>
        <p:nvSpPr>
          <p:cNvPr id="30" name="answer badge">
            <a:extLst>
              <a:ext uri="{C183D7F6-B498-43B3-948B-1728B52AA6E4}">
                <adec:decorative xmlns:adec="http://schemas.microsoft.com/office/drawing/2017/decorative" val="1"/>
              </a:ext>
            </a:extLst>
          </p:cNvPr>
          <p:cNvSpPr/>
          <p:nvPr/>
        </p:nvSpPr>
        <p:spPr>
          <a:xfrm>
            <a:off x="4864608" y="3785616"/>
            <a:ext cx="475488" cy="475488"/>
          </a:xfrm>
          <a:prstGeom prst="ellipse">
            <a:avLst/>
          </a:prstGeom>
          <a:solidFill>
            <a:srgbClr val="2FA98A"/>
          </a:solidFill>
          <a:ln/>
        </p:spPr>
        <p:txBody>
          <a:bodyPr/>
          <a:lstStyle/>
          <a:p>
            <a:endParaRPr lang="en-HU"/>
          </a:p>
        </p:txBody>
      </p:sp>
      <p:sp>
        <p:nvSpPr>
          <p:cNvPr id="31" name="Text 29"/>
          <p:cNvSpPr/>
          <p:nvPr/>
        </p:nvSpPr>
        <p:spPr>
          <a:xfrm>
            <a:off x="4864608" y="3785616"/>
            <a:ext cx="475488"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Trebuchet MS" pitchFamily="34" charset="0"/>
                <a:ea typeface="Trebuchet MS" pitchFamily="34" charset="-122"/>
                <a:cs typeface="Trebuchet MS" pitchFamily="34" charset="-120"/>
              </a:rPr>
              <a:t>B</a:t>
            </a:r>
            <a:endParaRPr lang="en-US" sz="1700" dirty="0"/>
          </a:p>
        </p:txBody>
      </p:sp>
      <p:sp>
        <p:nvSpPr>
          <p:cNvPr id="32" name="Text 30"/>
          <p:cNvSpPr/>
          <p:nvPr/>
        </p:nvSpPr>
        <p:spPr>
          <a:xfrm>
            <a:off x="5486400" y="3703320"/>
            <a:ext cx="2935224" cy="256032"/>
          </a:xfrm>
          <a:prstGeom prst="rect">
            <a:avLst/>
          </a:prstGeom>
          <a:noFill/>
          <a:ln/>
        </p:spPr>
        <p:txBody>
          <a:bodyPr wrap="square" lIns="0" tIns="0" rIns="0" bIns="0" rtlCol="0" anchor="ctr"/>
          <a:lstStyle/>
          <a:p>
            <a:pPr marL="0" indent="0">
              <a:buNone/>
            </a:pPr>
            <a:r>
              <a:rPr lang="en-US" sz="1150" b="1" dirty="0">
                <a:solidFill>
                  <a:srgbClr val="1E5386"/>
                </a:solidFill>
                <a:latin typeface="Trebuchet MS" pitchFamily="34" charset="0"/>
                <a:ea typeface="Trebuchet MS" pitchFamily="34" charset="-122"/>
                <a:cs typeface="Trebuchet MS" pitchFamily="34" charset="-120"/>
              </a:rPr>
              <a:t>Q6  ·  correct answer B</a:t>
            </a:r>
            <a:endParaRPr lang="en-US" sz="1150" dirty="0"/>
          </a:p>
        </p:txBody>
      </p:sp>
      <p:sp>
        <p:nvSpPr>
          <p:cNvPr id="33" name="Text 31"/>
          <p:cNvSpPr/>
          <p:nvPr/>
        </p:nvSpPr>
        <p:spPr>
          <a:xfrm>
            <a:off x="5486400" y="3968496"/>
            <a:ext cx="2935224" cy="457200"/>
          </a:xfrm>
          <a:prstGeom prst="rect">
            <a:avLst/>
          </a:prstGeom>
          <a:noFill/>
          <a:ln/>
        </p:spPr>
        <p:txBody>
          <a:bodyPr wrap="square" lIns="0" tIns="0" rIns="0" bIns="0" rtlCol="0" anchor="t"/>
          <a:lstStyle/>
          <a:p>
            <a:pPr marL="0" indent="0">
              <a:lnSpc>
                <a:spcPts val="1400"/>
              </a:lnSpc>
              <a:buNone/>
            </a:pPr>
            <a:r>
              <a:rPr lang="en-US" sz="1150" dirty="0">
                <a:solidFill>
                  <a:srgbClr val="2A3B4D"/>
                </a:solidFill>
                <a:latin typeface="Calibri" pitchFamily="34" charset="0"/>
                <a:ea typeface="Calibri" pitchFamily="34" charset="-122"/>
                <a:cs typeface="Calibri" pitchFamily="34" charset="-120"/>
              </a:rPr>
              <a:t>Commitment lowers cost for predictable workloads.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274320"/>
            <a:ext cx="7589520" cy="237744"/>
          </a:xfrm>
          <a:prstGeom prst="rect">
            <a:avLst/>
          </a:prstGeom>
          <a:noFill/>
          <a:ln/>
        </p:spPr>
        <p:txBody>
          <a:bodyPr wrap="square" lIns="0" tIns="0" rIns="0" bIns="0" rtlCol="0" anchor="ctr"/>
          <a:lstStyle/>
          <a:p>
            <a:pPr marL="0" indent="0" algn="l">
              <a:buNone/>
            </a:pPr>
            <a:r>
              <a:rPr lang="en-US" sz="1250" b="1" kern="0" spc="200" dirty="0">
                <a:solidFill>
                  <a:srgbClr val="9EC8EC"/>
                </a:solidFill>
                <a:latin typeface="Trebuchet MS" pitchFamily="34" charset="0"/>
                <a:ea typeface="Trebuchet MS" pitchFamily="34" charset="-122"/>
                <a:cs typeface="Trebuchet MS" pitchFamily="34" charset="-120"/>
              </a:rPr>
              <a:t>WEEK 1 WRAP-UP</a:t>
            </a:r>
            <a:endParaRPr lang="en-US" sz="1250" dirty="0"/>
          </a:p>
        </p:txBody>
      </p:sp>
      <p:sp>
        <p:nvSpPr>
          <p:cNvPr id="3" name="Text 1"/>
          <p:cNvSpPr/>
          <p:nvPr/>
        </p:nvSpPr>
        <p:spPr>
          <a:xfrm>
            <a:off x="566928" y="502920"/>
            <a:ext cx="7315200" cy="640080"/>
          </a:xfrm>
          <a:prstGeom prst="rect">
            <a:avLst/>
          </a:prstGeom>
          <a:noFill/>
          <a:ln/>
        </p:spPr>
        <p:txBody>
          <a:bodyPr wrap="square" lIns="0" tIns="0" rIns="0" bIns="0" rtlCol="0" anchor="ctr"/>
          <a:lstStyle/>
          <a:p>
            <a:pPr marL="0" indent="0">
              <a:buNone/>
            </a:pPr>
            <a:r>
              <a:rPr lang="en-US" sz="3000" b="1" dirty="0">
                <a:solidFill>
                  <a:srgbClr val="FFFFFF"/>
                </a:solidFill>
                <a:latin typeface="Trebuchet MS" pitchFamily="34" charset="0"/>
                <a:ea typeface="Trebuchet MS" pitchFamily="34" charset="-122"/>
                <a:cs typeface="Trebuchet MS" pitchFamily="34" charset="-120"/>
              </a:rPr>
              <a:t>Key takeaways</a:t>
            </a:r>
            <a:endParaRPr lang="en-US" sz="3000" dirty="0"/>
          </a:p>
        </p:txBody>
      </p:sp>
      <p:sp>
        <p:nvSpPr>
          <p:cNvPr id="4" name="Text 2"/>
          <p:cNvSpPr/>
          <p:nvPr/>
        </p:nvSpPr>
        <p:spPr>
          <a:xfrm>
            <a:off x="603504" y="1325880"/>
            <a:ext cx="5623560" cy="2468880"/>
          </a:xfrm>
          <a:prstGeom prst="rect">
            <a:avLst/>
          </a:prstGeom>
          <a:noFill/>
          <a:ln/>
        </p:spPr>
        <p:txBody>
          <a:bodyPr wrap="square" lIns="0" tIns="0" rIns="0" bIns="0" rtlCol="0" anchor="t"/>
          <a:lstStyle/>
          <a:p>
            <a:pPr marL="203200" indent="-203200">
              <a:lnSpc>
                <a:spcPts val="1900"/>
              </a:lnSpc>
              <a:spcAft>
                <a:spcPts val="1100"/>
              </a:spcAft>
              <a:buSzPct val="100000"/>
              <a:buChar char="•"/>
            </a:pPr>
            <a:r>
              <a:rPr lang="en-US" sz="1450" dirty="0">
                <a:solidFill>
                  <a:srgbClr val="EAF3FB"/>
                </a:solidFill>
                <a:latin typeface="Calibri" pitchFamily="34" charset="0"/>
                <a:ea typeface="Calibri" pitchFamily="34" charset="-122"/>
                <a:cs typeface="Calibri" pitchFamily="34" charset="-120"/>
              </a:rPr>
              <a:t>The cloud lets you rent computing on demand and pay for what you use.</a:t>
            </a:r>
            <a:endParaRPr lang="en-US" sz="1450" dirty="0"/>
          </a:p>
          <a:p>
            <a:pPr marL="203200" indent="-203200">
              <a:lnSpc>
                <a:spcPts val="1900"/>
              </a:lnSpc>
              <a:spcAft>
                <a:spcPts val="1100"/>
              </a:spcAft>
              <a:buSzPct val="100000"/>
              <a:buChar char="•"/>
            </a:pPr>
            <a:r>
              <a:rPr lang="en-US" sz="1450" dirty="0">
                <a:solidFill>
                  <a:srgbClr val="EAF3FB"/>
                </a:solidFill>
                <a:latin typeface="Calibri" pitchFamily="34" charset="0"/>
                <a:ea typeface="Calibri" pitchFamily="34" charset="-122"/>
                <a:cs typeface="Calibri" pitchFamily="34" charset="-120"/>
              </a:rPr>
              <a:t>Public, private and hybrid each suit different needs and rules.</a:t>
            </a:r>
            <a:endParaRPr lang="en-US" sz="1450" dirty="0"/>
          </a:p>
          <a:p>
            <a:pPr marL="203200" indent="-203200">
              <a:lnSpc>
                <a:spcPts val="1900"/>
              </a:lnSpc>
              <a:spcAft>
                <a:spcPts val="1100"/>
              </a:spcAft>
              <a:buSzPct val="100000"/>
              <a:buChar char="•"/>
            </a:pPr>
            <a:r>
              <a:rPr lang="en-US" sz="1450" dirty="0">
                <a:solidFill>
                  <a:srgbClr val="EAF3FB"/>
                </a:solidFill>
                <a:latin typeface="Calibri" pitchFamily="34" charset="0"/>
                <a:ea typeface="Calibri" pitchFamily="34" charset="-122"/>
                <a:cs typeface="Calibri" pitchFamily="34" charset="-120"/>
              </a:rPr>
              <a:t>Azure nests everything: subscriptions → resource groups → resources, across global regions and zones.</a:t>
            </a:r>
            <a:endParaRPr lang="en-US" sz="1450" dirty="0"/>
          </a:p>
          <a:p>
            <a:pPr marL="203200" indent="-203200">
              <a:lnSpc>
                <a:spcPts val="1900"/>
              </a:lnSpc>
              <a:spcAft>
                <a:spcPts val="1100"/>
              </a:spcAft>
              <a:buSzPct val="100000"/>
              <a:buChar char="•"/>
            </a:pPr>
            <a:r>
              <a:rPr lang="en-US" sz="1450" dirty="0">
                <a:solidFill>
                  <a:srgbClr val="EAF3FB"/>
                </a:solidFill>
                <a:latin typeface="Calibri" pitchFamily="34" charset="0"/>
                <a:ea typeface="Calibri" pitchFamily="34" charset="-122"/>
                <a:cs typeface="Calibri" pitchFamily="34" charset="-120"/>
              </a:rPr>
              <a:t>Match compute to the job, then control costs with the right pricing model and tools.</a:t>
            </a:r>
            <a:endParaRPr lang="en-US" sz="1450" dirty="0"/>
          </a:p>
        </p:txBody>
      </p:sp>
      <p:sp>
        <p:nvSpPr>
          <p:cNvPr id="5" name="icon tile">
            <a:extLst>
              <a:ext uri="{C183D7F6-B498-43B3-948B-1728B52AA6E4}">
                <adec:decorative xmlns:adec="http://schemas.microsoft.com/office/drawing/2017/decorative" val="1"/>
              </a:ext>
            </a:extLst>
          </p:cNvPr>
          <p:cNvSpPr/>
          <p:nvPr/>
        </p:nvSpPr>
        <p:spPr>
          <a:xfrm>
            <a:off x="7040880" y="1371600"/>
            <a:ext cx="1417320" cy="1417320"/>
          </a:xfrm>
          <a:prstGeom prst="roundRect">
            <a:avLst>
              <a:gd name="adj" fmla="val 9032"/>
            </a:avLst>
          </a:prstGeom>
          <a:solidFill>
            <a:srgbClr val="FFFFFF"/>
          </a:solidFill>
          <a:ln w="12700">
            <a:solidFill>
              <a:srgbClr val="CFE1F0"/>
            </a:solidFill>
            <a:prstDash val="solid"/>
          </a:ln>
          <a:effectLst>
            <a:outerShdw blurRad="114300" dist="38100" dir="5400000" algn="bl" rotWithShape="0">
              <a:srgbClr val="8FB2CF">
                <a:alpha val="28000"/>
              </a:srgbClr>
            </a:outerShdw>
          </a:effectLst>
        </p:spPr>
        <p:txBody>
          <a:bodyPr/>
          <a:lstStyle/>
          <a:p>
            <a:endParaRPr lang="en-HU"/>
          </a:p>
        </p:txBody>
      </p:sp>
      <p:pic>
        <p:nvPicPr>
          <p:cNvPr id="6" name="Image 0" descr="recap icon"/>
          <p:cNvPicPr>
            <a:picLocks noChangeAspect="1"/>
          </p:cNvPicPr>
          <p:nvPr/>
        </p:nvPicPr>
        <p:blipFill>
          <a:blip r:embed="rId3"/>
          <a:stretch>
            <a:fillRect/>
          </a:stretch>
        </p:blipFill>
        <p:spPr>
          <a:xfrm>
            <a:off x="7335756" y="1584198"/>
            <a:ext cx="827569" cy="992124"/>
          </a:xfrm>
          <a:prstGeom prst="rect">
            <a:avLst/>
          </a:prstGeom>
        </p:spPr>
      </p:pic>
      <p:sp>
        <p:nvSpPr>
          <p:cNvPr id="7" name="next card">
            <a:extLst>
              <a:ext uri="{C183D7F6-B498-43B3-948B-1728B52AA6E4}">
                <adec:decorative xmlns:adec="http://schemas.microsoft.com/office/drawing/2017/decorative" val="1"/>
              </a:ext>
            </a:extLst>
          </p:cNvPr>
          <p:cNvSpPr/>
          <p:nvPr/>
        </p:nvSpPr>
        <p:spPr>
          <a:xfrm>
            <a:off x="6355080" y="3063240"/>
            <a:ext cx="2331720" cy="1417320"/>
          </a:xfrm>
          <a:prstGeom prst="roundRect">
            <a:avLst>
              <a:gd name="adj" fmla="val 7742"/>
            </a:avLst>
          </a:prstGeom>
          <a:solidFill>
            <a:srgbClr val="EF6F58"/>
          </a:solidFill>
          <a:ln/>
          <a:effectLst>
            <a:outerShdw blurRad="114300" dist="38100" dir="5400000" algn="bl" rotWithShape="0">
              <a:srgbClr val="8FB2CF">
                <a:alpha val="28000"/>
              </a:srgbClr>
            </a:outerShdw>
          </a:effectLst>
        </p:spPr>
        <p:txBody>
          <a:bodyPr/>
          <a:lstStyle/>
          <a:p>
            <a:endParaRPr lang="en-HU"/>
          </a:p>
        </p:txBody>
      </p:sp>
      <p:sp>
        <p:nvSpPr>
          <p:cNvPr id="8" name="Text 5"/>
          <p:cNvSpPr/>
          <p:nvPr/>
        </p:nvSpPr>
        <p:spPr>
          <a:xfrm>
            <a:off x="6537960" y="3218688"/>
            <a:ext cx="2011680" cy="274320"/>
          </a:xfrm>
          <a:prstGeom prst="rect">
            <a:avLst/>
          </a:prstGeom>
          <a:noFill/>
          <a:ln/>
        </p:spPr>
        <p:txBody>
          <a:bodyPr wrap="square" lIns="0" tIns="0" rIns="0" bIns="0" rtlCol="0" anchor="ctr"/>
          <a:lstStyle/>
          <a:p>
            <a:pPr marL="0" indent="0">
              <a:buNone/>
            </a:pPr>
            <a:r>
              <a:rPr lang="en-US" sz="1150" b="1" kern="0" spc="150" dirty="0">
                <a:solidFill>
                  <a:srgbClr val="FFE3DC"/>
                </a:solidFill>
                <a:latin typeface="Trebuchet MS" pitchFamily="34" charset="0"/>
                <a:ea typeface="Trebuchet MS" pitchFamily="34" charset="-122"/>
                <a:cs typeface="Trebuchet MS" pitchFamily="34" charset="-120"/>
              </a:rPr>
              <a:t>NEXT WEEK</a:t>
            </a:r>
            <a:endParaRPr lang="en-US" sz="1150" dirty="0"/>
          </a:p>
        </p:txBody>
      </p:sp>
      <p:sp>
        <p:nvSpPr>
          <p:cNvPr id="9" name="Text 6"/>
          <p:cNvSpPr/>
          <p:nvPr/>
        </p:nvSpPr>
        <p:spPr>
          <a:xfrm>
            <a:off x="6537960" y="3493008"/>
            <a:ext cx="2011680" cy="914400"/>
          </a:xfrm>
          <a:prstGeom prst="rect">
            <a:avLst/>
          </a:prstGeom>
          <a:noFill/>
          <a:ln/>
        </p:spPr>
        <p:txBody>
          <a:bodyPr wrap="square" lIns="0" tIns="0" rIns="0" bIns="0" rtlCol="0" anchor="t"/>
          <a:lstStyle/>
          <a:p>
            <a:pPr marL="0" indent="0">
              <a:lnSpc>
                <a:spcPts val="1600"/>
              </a:lnSpc>
              <a:buNone/>
            </a:pPr>
            <a:r>
              <a:rPr lang="en-US" sz="1300" b="1" dirty="0">
                <a:solidFill>
                  <a:srgbClr val="FFFFFF"/>
                </a:solidFill>
                <a:latin typeface="Calibri" pitchFamily="34" charset="0"/>
                <a:ea typeface="Calibri" pitchFamily="34" charset="-122"/>
                <a:cs typeface="Calibri" pitchFamily="34" charset="-120"/>
              </a:rPr>
              <a:t>Hands-on: create your first resources in the Azure Portal.</a:t>
            </a:r>
            <a:endParaRPr lang="en-US" sz="1300" dirty="0"/>
          </a:p>
        </p:txBody>
      </p:sp>
      <p:sp>
        <p:nvSpPr>
          <p:cNvPr id="11" name="Text 0"/>
          <p:cNvSpPr>
            <a:spLocks noGrp="1"/>
          </p:cNvSpPr>
          <p:nvPr>
            <p:ph type="title" idx="100" hasCustomPrompt="1"/>
          </p:nvPr>
        </p:nvSpPr>
        <p:spPr>
          <a:xfrm>
            <a:off x="1737360" y="1965960"/>
            <a:ext cx="6766560" cy="914400"/>
          </a:xfrm>
          <a:prstGeom prst="rect">
            <a:avLst/>
          </a:prstGeom>
          <a:noFill/>
          <a:ln/>
        </p:spPr>
        <p:txBody>
          <a:bodyPr wrap="square" lIns="0" tIns="0" rIns="0" bIns="0" rtlCol="0"/>
          <a:lstStyle/>
          <a:p>
            <a:pPr marL="0" indent="0">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673</TotalTime>
  <Words>5733</Words>
  <Application>Microsoft Macintosh PowerPoint</Application>
  <PresentationFormat>On-screen Show (16:9)</PresentationFormat>
  <Paragraphs>545</Paragraphs>
  <Slides>34</Slides>
  <Notes>34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Trebuchet MS</vt:lpstr>
      <vt:lpstr>Office Theme</vt:lpstr>
      <vt:lpstr>PowerPoint Presentation</vt:lpstr>
      <vt:lpstr>Your roadmap for the week</vt:lpstr>
      <vt:lpstr>Cloud Foundations</vt:lpstr>
      <vt:lpstr>What is cloud computing?</vt:lpstr>
      <vt:lpstr>Four reasons the cloud wins</vt:lpstr>
      <vt:lpstr>The cloud's built-in advantages</vt:lpstr>
      <vt:lpstr>Three ways to consume the cloud</vt:lpstr>
      <vt:lpstr>Who secures what?</vt:lpstr>
      <vt:lpstr>Who manages what?</vt:lpstr>
      <vt:lpstr>Public, Private &amp; Hybrid Cloud</vt:lpstr>
      <vt:lpstr>Public vs private vs hybrid</vt:lpstr>
      <vt:lpstr>Which model fits the scenario?</vt:lpstr>
      <vt:lpstr>Inside Azure</vt:lpstr>
      <vt:lpstr>How Azure organizes everything</vt:lpstr>
      <vt:lpstr>One level up: Management Groups</vt:lpstr>
      <vt:lpstr>The folders of Azure</vt:lpstr>
      <vt:lpstr>Azure's global footprint</vt:lpstr>
      <vt:lpstr>Two words you'll see on day one</vt:lpstr>
      <vt:lpstr>Why the choice matters</vt:lpstr>
      <vt:lpstr>Region pairs &amp; sovereign regions</vt:lpstr>
      <vt:lpstr>Running &amp; Paying for Workloads</vt:lpstr>
      <vt:lpstr>Four ways to run your code</vt:lpstr>
      <vt:lpstr>A quick rule of thumb</vt:lpstr>
      <vt:lpstr>From CapEx to OpEx</vt:lpstr>
      <vt:lpstr>How you pay for compute</vt:lpstr>
      <vt:lpstr>Tools to keep costs in check</vt:lpstr>
      <vt:lpstr>Hands-On: The Azure Portal</vt:lpstr>
      <vt:lpstr>A quick tour of the Portal</vt:lpstr>
      <vt:lpstr>Test yourself</vt:lpstr>
      <vt:lpstr>Questions 1 &amp; 2</vt:lpstr>
      <vt:lpstr>Questions 3 &amp; 4</vt:lpstr>
      <vt:lpstr>Questions 5 &amp; 6</vt:lpstr>
      <vt:lpstr>Answer key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Laszlo Stomp</dc:creator>
  <cp:lastModifiedBy>Laszlo Stomp</cp:lastModifiedBy>
  <cp:revision>1</cp:revision>
  <dcterms:created xsi:type="dcterms:W3CDTF">2026-07-14T19:24:55Z</dcterms:created>
  <dcterms:modified xsi:type="dcterms:W3CDTF">2026-07-23T21:57:32Z</dcterms:modified>
</cp:coreProperties>
</file>